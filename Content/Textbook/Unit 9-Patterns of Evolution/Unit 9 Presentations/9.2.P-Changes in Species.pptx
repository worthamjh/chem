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
          <p15:clr>
            <a:srgbClr val="A4A3A4"/>
          </p15:clr>
        </p15:guide>
        <p15:guide id="2" pos="2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 orient="horz"/>
        <p:guide pos="25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387125"/>
            <a:ext cx="5608300" cy="4156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0" i="0" lang="en-US" sz="1200">
                <a:solidFill>
                  <a:schemeClr val="dk1"/>
                </a:solidFill>
                <a:latin typeface="Times New Roman"/>
                <a:ea typeface="Times New Roman"/>
                <a:cs typeface="Times New Roman"/>
                <a:sym typeface="Times New Roman"/>
              </a:rPr>
              <a:t>The learning experiences in this unit prepare students for the mastery of</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Performance Expectations</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LS1-2</a:t>
            </a:r>
            <a:r>
              <a:rPr b="0" i="0" lang="en-US" sz="1200">
                <a:solidFill>
                  <a:schemeClr val="dk1"/>
                </a:solidFill>
                <a:latin typeface="Times New Roman"/>
                <a:ea typeface="Times New Roman"/>
                <a:cs typeface="Times New Roman"/>
                <a:sym typeface="Times New Roman"/>
              </a:rPr>
              <a:t> Develop and use a model to illustrate the hierarchical organization of interacting systems that provide specific functions within multicellular organisms.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LS1-3 </a:t>
            </a:r>
            <a:r>
              <a:rPr b="0" i="0" lang="en-US" sz="1200">
                <a:solidFill>
                  <a:schemeClr val="dk1"/>
                </a:solidFill>
                <a:latin typeface="Times New Roman"/>
                <a:ea typeface="Times New Roman"/>
                <a:cs typeface="Times New Roman"/>
                <a:sym typeface="Times New Roman"/>
              </a:rPr>
              <a:t>Plan and conduct an investigation to provide evidence that feedback mechanisms maintain homeostasis.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ETS1-2</a:t>
            </a:r>
            <a:r>
              <a:rPr b="0" i="0" lang="en-US" sz="1200">
                <a:solidFill>
                  <a:schemeClr val="dk1"/>
                </a:solidFill>
                <a:latin typeface="Times New Roman"/>
                <a:ea typeface="Times New Roman"/>
                <a:cs typeface="Times New Roman"/>
                <a:sym typeface="Times New Roman"/>
              </a:rPr>
              <a:t> Design a solution to a complex real-world problem by breaking it down into smaller, more manageable problems that can be solved through engineering.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ETS1-3 </a:t>
            </a:r>
            <a:r>
              <a:rPr b="0" i="0" lang="en-US" sz="1200">
                <a:solidFill>
                  <a:schemeClr val="dk1"/>
                </a:solidFill>
                <a:latin typeface="Times New Roman"/>
                <a:ea typeface="Times New Roman"/>
                <a:cs typeface="Times New Roman"/>
                <a:sym typeface="Times New Roman"/>
              </a:rPr>
              <a:t>Evaluate a solution to a complex real-world problem based on prioritized criteria and trade-offs that account for a range of constraints, including cost, safety, reliability, and aesthetics, as well as possible social, cultural, and environmental impacts.</a:t>
            </a:r>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11" name="Google Shape;111;p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2" name="Google Shape;112;p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1" i="0" lang="en-US" sz="1200">
                <a:solidFill>
                  <a:schemeClr val="dk1"/>
                </a:solidFill>
                <a:latin typeface="Times New Roman"/>
                <a:ea typeface="Times New Roman"/>
                <a:cs typeface="Times New Roman"/>
                <a:sym typeface="Times New Roman"/>
              </a:rPr>
              <a:t>Build on Prior Lessons</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In Lesson 1, students learned about factors that affect genetic variation and evolution of populations. Lesson 2 builds on these concepts as students explore speciation and species expansion and extinction.</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Lesson Objective</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Explore how changes in environmental conditions can lead to the emergence, expansion, or extinction of species.</a:t>
            </a:r>
            <a:endParaRPr/>
          </a:p>
        </p:txBody>
      </p:sp>
      <p:sp>
        <p:nvSpPr>
          <p:cNvPr id="118" name="Google Shape;118;p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9" name="Google Shape;119;p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31" name="Google Shape;131;p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32" name="Google Shape;132;p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46" name="Google Shape;146;p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47" name="Google Shape;147;p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59" name="Google Shape;159;p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60" name="Google Shape;160;p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70" name="Google Shape;170;p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71" name="Google Shape;171;p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83" name="Google Shape;183;p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84" name="Google Shape;184;p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98" name="Google Shape;198;p1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99" name="Google Shape;199;p1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11" name="Google Shape;211;p1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12" name="Google Shape;212;p1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24" name="Google Shape;224;p1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25" name="Google Shape;225;p1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37" name="Google Shape;237;p1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38" name="Google Shape;238;p1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49" name="Google Shape;249;p1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50" name="Google Shape;250;p1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1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60" name="Google Shape;260;p1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61" name="Google Shape;261;p1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74" name="Google Shape;274;p1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75" name="Google Shape;275;p1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1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87" name="Google Shape;287;p1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88" name="Google Shape;288;p1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99" name="Google Shape;299;p1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00" name="Google Shape;300;p1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1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314" name="Google Shape;314;p1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15" name="Google Shape;315;p1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29" name="Google Shape;329;p2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30" name="Google Shape;330;p2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2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40" name="Google Shape;340;p2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41" name="Google Shape;341;p2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2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54" name="Google Shape;354;p2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55" name="Google Shape;355;p2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2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365" name="Google Shape;365;p2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66" name="Google Shape;366;p2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4:notes"/>
          <p:cNvSpPr txBox="1"/>
          <p:nvPr>
            <p:ph idx="1" type="body"/>
          </p:nvPr>
        </p:nvSpPr>
        <p:spPr>
          <a:xfrm>
            <a:off x="701025" y="4387125"/>
            <a:ext cx="5608300" cy="41562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4:notes"/>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00"/>
              <a:buFont typeface="Cambria"/>
              <a:buNone/>
              <a:defRPr>
                <a:solidFill>
                  <a:srgbClr val="F2A90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a:lvl1pPr>
            <a:lvl2pPr indent="-342900" lvl="1" marL="914400" algn="l">
              <a:spcBef>
                <a:spcPts val="0"/>
              </a:spcBef>
              <a:spcAft>
                <a:spcPts val="0"/>
              </a:spcAft>
              <a:buClr>
                <a:schemeClr val="dk1"/>
              </a:buClr>
              <a:buSzPts val="1800"/>
              <a:buChar char="–"/>
              <a:defRPr/>
            </a:lvl2pPr>
            <a:lvl3pPr indent="-342900" lvl="2" marL="1371600" algn="l">
              <a:spcBef>
                <a:spcPts val="0"/>
              </a:spcBef>
              <a:spcAft>
                <a:spcPts val="0"/>
              </a:spcAft>
              <a:buClr>
                <a:schemeClr val="dk1"/>
              </a:buClr>
              <a:buSzPts val="1800"/>
              <a:buChar char="•"/>
              <a:defRPr/>
            </a:lvl3pPr>
            <a:lvl4pPr indent="-342900" lvl="3" marL="1828800" algn="l">
              <a:spcBef>
                <a:spcPts val="0"/>
              </a:spcBef>
              <a:spcAft>
                <a:spcPts val="0"/>
              </a:spcAft>
              <a:buClr>
                <a:schemeClr val="dk1"/>
              </a:buClr>
              <a:buSzPts val="1800"/>
              <a:buChar char="-"/>
              <a:defRPr/>
            </a:lvl4pPr>
            <a:lvl5pPr indent="-342900" lvl="4" marL="2286000" algn="l">
              <a:spcBef>
                <a:spcPts val="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grpSp>
        <p:nvGrpSpPr>
          <p:cNvPr id="17" name="Google Shape;17;p3"/>
          <p:cNvGrpSpPr/>
          <p:nvPr/>
        </p:nvGrpSpPr>
        <p:grpSpPr>
          <a:xfrm>
            <a:off x="457200" y="442000"/>
            <a:ext cx="8235757" cy="5504790"/>
            <a:chOff x="457200" y="442000"/>
            <a:chExt cx="8235757" cy="5504790"/>
          </a:xfrm>
        </p:grpSpPr>
        <p:sp>
          <p:nvSpPr>
            <p:cNvPr id="18" name="Google Shape;18;p3"/>
            <p:cNvSpPr/>
            <p:nvPr/>
          </p:nvSpPr>
          <p:spPr>
            <a:xfrm>
              <a:off x="457200" y="1603390"/>
              <a:ext cx="7251192" cy="4343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19" name="Google Shape;19;p3"/>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20" name="Google Shape;20;p3"/>
          <p:cNvSpPr txBox="1"/>
          <p:nvPr>
            <p:ph type="ctrTitle"/>
          </p:nvPr>
        </p:nvSpPr>
        <p:spPr>
          <a:xfrm>
            <a:off x="706001" y="1662793"/>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706001" y="2305216"/>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22" name="Google Shape;22;p3"/>
          <p:cNvSpPr txBox="1"/>
          <p:nvPr>
            <p:ph idx="2" type="body"/>
          </p:nvPr>
        </p:nvSpPr>
        <p:spPr>
          <a:xfrm>
            <a:off x="706001"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457200" y="1146175"/>
            <a:ext cx="3994150" cy="4525963"/>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 name="Google Shape;26;p4"/>
          <p:cNvSpPr txBox="1"/>
          <p:nvPr>
            <p:ph idx="2" type="body"/>
          </p:nvPr>
        </p:nvSpPr>
        <p:spPr>
          <a:xfrm>
            <a:off x="4692650" y="1146175"/>
            <a:ext cx="3994150" cy="4525963"/>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 name="Google Shape;27;p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rinter-friendly" showMasterSp="0">
  <p:cSld name="Title Slide printer-friendly">
    <p:spTree>
      <p:nvGrpSpPr>
        <p:cNvPr id="28" name="Shape 28"/>
        <p:cNvGrpSpPr/>
        <p:nvPr/>
      </p:nvGrpSpPr>
      <p:grpSpPr>
        <a:xfrm>
          <a:off x="0" y="0"/>
          <a:ext cx="0" cy="0"/>
          <a:chOff x="0" y="0"/>
          <a:chExt cx="0" cy="0"/>
        </a:xfrm>
      </p:grpSpPr>
      <p:grpSp>
        <p:nvGrpSpPr>
          <p:cNvPr id="29" name="Google Shape;29;p5"/>
          <p:cNvGrpSpPr/>
          <p:nvPr/>
        </p:nvGrpSpPr>
        <p:grpSpPr>
          <a:xfrm>
            <a:off x="500784" y="442000"/>
            <a:ext cx="8192173" cy="5456923"/>
            <a:chOff x="500784" y="442000"/>
            <a:chExt cx="8192173" cy="5456923"/>
          </a:xfrm>
        </p:grpSpPr>
        <p:sp>
          <p:nvSpPr>
            <p:cNvPr id="30" name="Google Shape;30;p5"/>
            <p:cNvSpPr/>
            <p:nvPr/>
          </p:nvSpPr>
          <p:spPr>
            <a:xfrm>
              <a:off x="500784" y="1646968"/>
              <a:ext cx="7150604" cy="4251955"/>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31" name="Google Shape;31;p5"/>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32" name="Google Shape;32;p5"/>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subTitle"/>
          </p:nvPr>
        </p:nvSpPr>
        <p:spPr>
          <a:xfrm>
            <a:off x="701675" y="2305339"/>
            <a:ext cx="6400800" cy="1593273"/>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80"/>
              <a:buNone/>
              <a:defRPr b="1" sz="2400">
                <a:solidFill>
                  <a:srgbClr val="F2A900"/>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34" name="Google Shape;34;p5"/>
          <p:cNvSpPr txBox="1"/>
          <p:nvPr>
            <p:ph idx="2"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 Image" showMasterSp="0">
  <p:cSld name="Title Slide w Image">
    <p:spTree>
      <p:nvGrpSpPr>
        <p:cNvPr id="35" name="Shape 35"/>
        <p:cNvGrpSpPr/>
        <p:nvPr/>
      </p:nvGrpSpPr>
      <p:grpSpPr>
        <a:xfrm>
          <a:off x="0" y="0"/>
          <a:ext cx="0" cy="0"/>
          <a:chOff x="0" y="0"/>
          <a:chExt cx="0" cy="0"/>
        </a:xfrm>
      </p:grpSpPr>
      <p:pic>
        <p:nvPicPr>
          <p:cNvPr descr="A5H77N.jpg" id="36" name="Google Shape;36;p6"/>
          <p:cNvPicPr preferRelativeResize="0"/>
          <p:nvPr/>
        </p:nvPicPr>
        <p:blipFill rotWithShape="1">
          <a:blip r:embed="rId2">
            <a:alphaModFix/>
          </a:blip>
          <a:srcRect b="0" l="0" r="0" t="0"/>
          <a:stretch/>
        </p:blipFill>
        <p:spPr>
          <a:xfrm>
            <a:off x="477352" y="1621329"/>
            <a:ext cx="7232339" cy="4305531"/>
          </a:xfrm>
          <a:prstGeom prst="rect">
            <a:avLst/>
          </a:prstGeom>
          <a:noFill/>
          <a:ln>
            <a:noFill/>
          </a:ln>
        </p:spPr>
      </p:pic>
      <p:pic>
        <p:nvPicPr>
          <p:cNvPr descr="HMH_vertical logo.png" id="37" name="Google Shape;37;p6"/>
          <p:cNvPicPr preferRelativeResize="0"/>
          <p:nvPr/>
        </p:nvPicPr>
        <p:blipFill rotWithShape="1">
          <a:blip r:embed="rId3">
            <a:alphaModFix/>
          </a:blip>
          <a:srcRect b="0" l="0" r="0" t="0"/>
          <a:stretch/>
        </p:blipFill>
        <p:spPr>
          <a:xfrm>
            <a:off x="7042912" y="442000"/>
            <a:ext cx="1650045" cy="1039328"/>
          </a:xfrm>
          <a:prstGeom prst="rect">
            <a:avLst/>
          </a:prstGeom>
          <a:noFill/>
          <a:ln>
            <a:noFill/>
          </a:ln>
        </p:spPr>
      </p:pic>
      <p:sp>
        <p:nvSpPr>
          <p:cNvPr id="38" name="Google Shape;38;p6"/>
          <p:cNvSpPr txBox="1"/>
          <p:nvPr>
            <p:ph idx="1"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nvSpPr>
        <p:spPr>
          <a:xfrm>
            <a:off x="8250090" y="2296884"/>
            <a:ext cx="1846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54585A"/>
              </a:solidFill>
              <a:latin typeface="Arial"/>
              <a:ea typeface="Arial"/>
              <a:cs typeface="Arial"/>
              <a:sym typeface="Arial"/>
            </a:endParaRPr>
          </a:p>
        </p:txBody>
      </p:sp>
      <p:sp>
        <p:nvSpPr>
          <p:cNvPr id="40" name="Google Shape;40;p6"/>
          <p:cNvSpPr/>
          <p:nvPr/>
        </p:nvSpPr>
        <p:spPr>
          <a:xfrm>
            <a:off x="111126" y="1754187"/>
            <a:ext cx="7143749" cy="2913061"/>
          </a:xfrm>
          <a:prstGeom prst="rect">
            <a:avLst/>
          </a:prstGeom>
          <a:noFill/>
          <a:ln cap="sq"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41" name="Google Shape;41;p6"/>
          <p:cNvSpPr txBox="1"/>
          <p:nvPr/>
        </p:nvSpPr>
        <p:spPr>
          <a:xfrm>
            <a:off x="730190" y="4435419"/>
            <a:ext cx="4704386" cy="2157599"/>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Select an image that relates to the presentation subject.</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an image that reduces the visibility of the logo.</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more than one image!</a:t>
            </a:r>
            <a:endParaRPr/>
          </a:p>
          <a:p>
            <a:pPr indent="0" lvl="0" marL="0" marR="0" rtl="0" algn="l">
              <a:spcBef>
                <a:spcPts val="0"/>
              </a:spcBef>
              <a:spcAft>
                <a:spcPts val="0"/>
              </a:spcAft>
              <a:buNone/>
            </a:pPr>
            <a:r>
              <a:t/>
            </a:r>
            <a:endParaRPr b="1" sz="1000">
              <a:solidFill>
                <a:srgbClr val="FFFFFF"/>
              </a:solidFill>
              <a:latin typeface="Arial"/>
              <a:ea typeface="Arial"/>
              <a:cs typeface="Arial"/>
              <a:sym typeface="Arial"/>
            </a:endParaRPr>
          </a:p>
          <a:p>
            <a:pPr indent="0" lvl="0" marL="0" marR="0" rtl="0" algn="l">
              <a:spcBef>
                <a:spcPts val="0"/>
              </a:spcBef>
              <a:spcAft>
                <a:spcPts val="0"/>
              </a:spcAft>
              <a:buNone/>
            </a:pPr>
            <a:r>
              <a:rPr b="1" lang="en-US" sz="1000">
                <a:solidFill>
                  <a:srgbClr val="FFFFFF"/>
                </a:solidFill>
                <a:latin typeface="Arial"/>
                <a:ea typeface="Arial"/>
                <a:cs typeface="Arial"/>
                <a:sym typeface="Arial"/>
              </a:rPr>
              <a:t>Changing a photo in the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 your menu bar select “View” &gt; “Master” &gt; “Slide Master”</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Go to the Title Slide Master you wish to change</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Select the image and delete </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Insert new image/photo on page and crop/resize to fit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Once the new image placement is finalized, select “Arrange” &gt; “Send to back”</a:t>
            </a:r>
            <a:endParaRPr sz="1000">
              <a:solidFill>
                <a:srgbClr val="FFFFFF"/>
              </a:solidFill>
              <a:latin typeface="Arial"/>
              <a:ea typeface="Arial"/>
              <a:cs typeface="Arial"/>
              <a:sym typeface="Arial"/>
            </a:endParaRPr>
          </a:p>
          <a:p>
            <a:pPr indent="0" lvl="0" marL="0" marR="0" rtl="0" algn="l">
              <a:spcBef>
                <a:spcPts val="0"/>
              </a:spcBef>
              <a:spcAft>
                <a:spcPts val="0"/>
              </a:spcAft>
              <a:buNone/>
            </a:pPr>
            <a:r>
              <a:t/>
            </a:r>
            <a:endParaRPr b="1" sz="900">
              <a:solidFill>
                <a:srgbClr val="FFFFFF"/>
              </a:solidFill>
              <a:latin typeface="Arial"/>
              <a:ea typeface="Arial"/>
              <a:cs typeface="Arial"/>
              <a:sym typeface="Arial"/>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Delete these instructions before final use.</a:t>
            </a:r>
            <a:endParaRPr b="1" sz="1000">
              <a:solidFill>
                <a:srgbClr val="FFFFFF"/>
              </a:solidFill>
              <a:latin typeface="Arial"/>
              <a:ea typeface="Arial"/>
              <a:cs typeface="Arial"/>
              <a:sym typeface="Arial"/>
            </a:endParaRPr>
          </a:p>
        </p:txBody>
      </p:sp>
      <p:sp>
        <p:nvSpPr>
          <p:cNvPr id="42" name="Google Shape;42;p6"/>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2" type="subTitle"/>
          </p:nvPr>
        </p:nvSpPr>
        <p:spPr>
          <a:xfrm>
            <a:off x="701675" y="2301875"/>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ransparent" showMasterSp="0">
  <p:cSld name="Title Slide Transparent">
    <p:spTree>
      <p:nvGrpSpPr>
        <p:cNvPr id="44" name="Shape 44"/>
        <p:cNvGrpSpPr/>
        <p:nvPr/>
      </p:nvGrpSpPr>
      <p:grpSpPr>
        <a:xfrm>
          <a:off x="0" y="0"/>
          <a:ext cx="0" cy="0"/>
          <a:chOff x="0" y="0"/>
          <a:chExt cx="0" cy="0"/>
        </a:xfrm>
      </p:grpSpPr>
      <p:pic>
        <p:nvPicPr>
          <p:cNvPr descr="tree copy.jpg" id="45" name="Google Shape;45;p7"/>
          <p:cNvPicPr preferRelativeResize="0"/>
          <p:nvPr/>
        </p:nvPicPr>
        <p:blipFill rotWithShape="1">
          <a:blip r:embed="rId2">
            <a:alphaModFix/>
          </a:blip>
          <a:srcRect b="0" l="0" r="0" t="0"/>
          <a:stretch/>
        </p:blipFill>
        <p:spPr>
          <a:xfrm>
            <a:off x="0" y="853431"/>
            <a:ext cx="7302500" cy="6004569"/>
          </a:xfrm>
          <a:prstGeom prst="rect">
            <a:avLst/>
          </a:prstGeom>
          <a:noFill/>
          <a:ln>
            <a:noFill/>
          </a:ln>
        </p:spPr>
      </p:pic>
      <p:grpSp>
        <p:nvGrpSpPr>
          <p:cNvPr id="46" name="Google Shape;46;p7"/>
          <p:cNvGrpSpPr/>
          <p:nvPr/>
        </p:nvGrpSpPr>
        <p:grpSpPr>
          <a:xfrm>
            <a:off x="457200" y="442000"/>
            <a:ext cx="8235757" cy="5504790"/>
            <a:chOff x="457200" y="442000"/>
            <a:chExt cx="8235757" cy="5504790"/>
          </a:xfrm>
        </p:grpSpPr>
        <p:sp>
          <p:nvSpPr>
            <p:cNvPr id="47" name="Google Shape;47;p7"/>
            <p:cNvSpPr/>
            <p:nvPr/>
          </p:nvSpPr>
          <p:spPr>
            <a:xfrm>
              <a:off x="457200" y="1603390"/>
              <a:ext cx="7251192" cy="4343400"/>
            </a:xfrm>
            <a:prstGeom prst="rect">
              <a:avLst/>
            </a:pr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48" name="Google Shape;48;p7"/>
            <p:cNvPicPr preferRelativeResize="0"/>
            <p:nvPr/>
          </p:nvPicPr>
          <p:blipFill rotWithShape="1">
            <a:blip r:embed="rId3">
              <a:alphaModFix/>
            </a:blip>
            <a:srcRect b="0" l="0" r="0" t="0"/>
            <a:stretch/>
          </p:blipFill>
          <p:spPr>
            <a:xfrm>
              <a:off x="7042912" y="442000"/>
              <a:ext cx="1650045" cy="1039328"/>
            </a:xfrm>
            <a:prstGeom prst="rect">
              <a:avLst/>
            </a:prstGeom>
            <a:noFill/>
            <a:ln>
              <a:noFill/>
            </a:ln>
          </p:spPr>
        </p:pic>
      </p:grpSp>
      <p:sp>
        <p:nvSpPr>
          <p:cNvPr id="49" name="Google Shape;49;p7"/>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subTitle"/>
          </p:nvPr>
        </p:nvSpPr>
        <p:spPr>
          <a:xfrm>
            <a:off x="701675" y="2301875"/>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51" name="Google Shape;51;p7"/>
          <p:cNvSpPr txBox="1"/>
          <p:nvPr>
            <p:ph idx="2"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7"/>
          <p:cNvSpPr txBox="1"/>
          <p:nvPr/>
        </p:nvSpPr>
        <p:spPr>
          <a:xfrm>
            <a:off x="730189" y="4435420"/>
            <a:ext cx="4741737" cy="22790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Select an image that relates to the presentation subject.</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an image that reduces the visibility of the logo.</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more than one image!</a:t>
            </a:r>
            <a:endParaRPr/>
          </a:p>
          <a:p>
            <a:pPr indent="0" lvl="0" marL="0" marR="0" rtl="0" algn="l">
              <a:spcBef>
                <a:spcPts val="0"/>
              </a:spcBef>
              <a:spcAft>
                <a:spcPts val="0"/>
              </a:spcAft>
              <a:buNone/>
            </a:pPr>
            <a:r>
              <a:t/>
            </a:r>
            <a:endParaRPr b="1" sz="1000">
              <a:solidFill>
                <a:srgbClr val="FFFFFF"/>
              </a:solidFill>
              <a:latin typeface="Arial"/>
              <a:ea typeface="Arial"/>
              <a:cs typeface="Arial"/>
              <a:sym typeface="Arial"/>
            </a:endParaRPr>
          </a:p>
          <a:p>
            <a:pPr indent="0" lvl="0" marL="0" marR="0" rtl="0" algn="l">
              <a:spcBef>
                <a:spcPts val="0"/>
              </a:spcBef>
              <a:spcAft>
                <a:spcPts val="0"/>
              </a:spcAft>
              <a:buNone/>
            </a:pPr>
            <a:r>
              <a:rPr b="1" lang="en-US" sz="1000">
                <a:solidFill>
                  <a:srgbClr val="FFFFFF"/>
                </a:solidFill>
                <a:latin typeface="Arial"/>
                <a:ea typeface="Arial"/>
                <a:cs typeface="Arial"/>
                <a:sym typeface="Arial"/>
              </a:rPr>
              <a:t>Changing a photo in the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 your menu bar select “View” &gt; “Master” &gt; “Slide Master”</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Go to the Title Slide Master you wish to change</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Select the image and delete </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Insert new image/photo on page and crop/resize to fit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Once the new image placement is finalized, select “Arrange” &gt; “Send to back”</a:t>
            </a:r>
            <a:endParaRPr sz="1000">
              <a:solidFill>
                <a:srgbClr val="FFFFFF"/>
              </a:solidFill>
              <a:latin typeface="Arial"/>
              <a:ea typeface="Arial"/>
              <a:cs typeface="Arial"/>
              <a:sym typeface="Arial"/>
            </a:endParaRPr>
          </a:p>
          <a:p>
            <a:pPr indent="0" lvl="0" marL="0" marR="0" rtl="0" algn="l">
              <a:spcBef>
                <a:spcPts val="0"/>
              </a:spcBef>
              <a:spcAft>
                <a:spcPts val="0"/>
              </a:spcAft>
              <a:buNone/>
            </a:pPr>
            <a:r>
              <a:t/>
            </a:r>
            <a:endParaRPr b="1" sz="900">
              <a:solidFill>
                <a:srgbClr val="FFFFFF"/>
              </a:solidFill>
              <a:latin typeface="Arial"/>
              <a:ea typeface="Arial"/>
              <a:cs typeface="Arial"/>
              <a:sym typeface="Arial"/>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Delete these instructions before final use.</a:t>
            </a:r>
            <a:endParaRPr b="1" sz="1000">
              <a:solidFill>
                <a:srgbClr val="FFFFF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Gray" showMasterSp="0">
  <p:cSld name="Title and Content Gray">
    <p:bg>
      <p:bgPr>
        <a:solidFill>
          <a:schemeClr val="dk1"/>
        </a:solidFill>
      </p:bgPr>
    </p:bg>
    <p:spTree>
      <p:nvGrpSpPr>
        <p:cNvPr id="53" name="Shape 53"/>
        <p:cNvGrpSpPr/>
        <p:nvPr/>
      </p:nvGrpSpPr>
      <p:grpSpPr>
        <a:xfrm>
          <a:off x="0" y="0"/>
          <a:ext cx="0" cy="0"/>
          <a:chOff x="0" y="0"/>
          <a:chExt cx="0" cy="0"/>
        </a:xfrm>
      </p:grpSpPr>
      <p:sp>
        <p:nvSpPr>
          <p:cNvPr id="54" name="Google Shape;54;p8"/>
          <p:cNvSpPr txBox="1"/>
          <p:nvPr>
            <p:ph type="title"/>
          </p:nvPr>
        </p:nvSpPr>
        <p:spPr>
          <a:xfrm>
            <a:off x="457200" y="318213"/>
            <a:ext cx="68580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libri"/>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body"/>
          </p:nvPr>
        </p:nvSpPr>
        <p:spPr>
          <a:xfrm>
            <a:off x="457200" y="1288647"/>
            <a:ext cx="6858000" cy="4662786"/>
          </a:xfrm>
          <a:prstGeom prst="rect">
            <a:avLst/>
          </a:prstGeom>
          <a:noFill/>
          <a:ln>
            <a:noFill/>
          </a:ln>
        </p:spPr>
        <p:txBody>
          <a:bodyPr anchorCtr="0" anchor="t" bIns="45700" lIns="0" spcFirstLastPara="1" rIns="0" wrap="square" tIns="45700">
            <a:noAutofit/>
          </a:bodyPr>
          <a:lstStyle>
            <a:lvl1pPr indent="-228600" lvl="0" marL="457200" algn="l">
              <a:spcBef>
                <a:spcPts val="0"/>
              </a:spcBef>
              <a:spcAft>
                <a:spcPts val="0"/>
              </a:spcAft>
              <a:buClr>
                <a:schemeClr val="lt1"/>
              </a:buClr>
              <a:buSzPts val="2880"/>
              <a:buNone/>
              <a:defRPr sz="2400">
                <a:solidFill>
                  <a:schemeClr val="lt1"/>
                </a:solidFill>
              </a:defRPr>
            </a:lvl1pPr>
            <a:lvl2pPr indent="-228600" lvl="1" marL="914400" algn="l">
              <a:spcBef>
                <a:spcPts val="0"/>
              </a:spcBef>
              <a:spcAft>
                <a:spcPts val="0"/>
              </a:spcAft>
              <a:buClr>
                <a:schemeClr val="lt1"/>
              </a:buClr>
              <a:buSzPts val="2400"/>
              <a:buNone/>
              <a:defRPr sz="2400">
                <a:solidFill>
                  <a:schemeClr val="lt1"/>
                </a:solidFill>
              </a:defRPr>
            </a:lvl2pPr>
            <a:lvl3pPr indent="-228600" lvl="2" marL="1371600" algn="l">
              <a:spcBef>
                <a:spcPts val="0"/>
              </a:spcBef>
              <a:spcAft>
                <a:spcPts val="0"/>
              </a:spcAft>
              <a:buClr>
                <a:schemeClr val="lt1"/>
              </a:buClr>
              <a:buSzPts val="2400"/>
              <a:buNone/>
              <a:defRPr sz="2400">
                <a:solidFill>
                  <a:schemeClr val="lt1"/>
                </a:solidFill>
              </a:defRPr>
            </a:lvl3pPr>
            <a:lvl4pPr indent="-228600" lvl="3" marL="1828800" algn="l">
              <a:spcBef>
                <a:spcPts val="0"/>
              </a:spcBef>
              <a:spcAft>
                <a:spcPts val="0"/>
              </a:spcAft>
              <a:buClr>
                <a:schemeClr val="lt1"/>
              </a:buClr>
              <a:buSzPts val="2400"/>
              <a:buNone/>
              <a:defRPr sz="2400">
                <a:solidFill>
                  <a:schemeClr val="lt1"/>
                </a:solidFill>
              </a:defRPr>
            </a:lvl4pPr>
            <a:lvl5pPr indent="-228600" lvl="4" marL="2286000" algn="l">
              <a:spcBef>
                <a:spcPts val="0"/>
              </a:spcBef>
              <a:spcAft>
                <a:spcPts val="0"/>
              </a:spcAft>
              <a:buClr>
                <a:schemeClr val="lt1"/>
              </a:buClr>
              <a:buSzPts val="2400"/>
              <a:buNone/>
              <a:defRPr sz="2400">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sz="1200">
                <a:solidFill>
                  <a:srgbClr val="FFFFFF"/>
                </a:solidFill>
                <a:latin typeface="Times New Roman"/>
                <a:ea typeface="Times New Roman"/>
                <a:cs typeface="Times New Roman"/>
                <a:sym typeface="Times New Roman"/>
              </a:defRPr>
            </a:lvl1pPr>
            <a:lvl2pPr indent="0" lvl="1" marL="0" algn="l">
              <a:spcBef>
                <a:spcPts val="0"/>
              </a:spcBef>
              <a:spcAft>
                <a:spcPts val="0"/>
              </a:spcAft>
              <a:buNone/>
              <a:defRPr sz="1200">
                <a:solidFill>
                  <a:srgbClr val="FFFFFF"/>
                </a:solidFill>
                <a:latin typeface="Times New Roman"/>
                <a:ea typeface="Times New Roman"/>
                <a:cs typeface="Times New Roman"/>
                <a:sym typeface="Times New Roman"/>
              </a:defRPr>
            </a:lvl2pPr>
            <a:lvl3pPr indent="0" lvl="2" marL="0" algn="l">
              <a:spcBef>
                <a:spcPts val="0"/>
              </a:spcBef>
              <a:spcAft>
                <a:spcPts val="0"/>
              </a:spcAft>
              <a:buNone/>
              <a:defRPr sz="1200">
                <a:solidFill>
                  <a:srgbClr val="FFFFFF"/>
                </a:solidFill>
                <a:latin typeface="Times New Roman"/>
                <a:ea typeface="Times New Roman"/>
                <a:cs typeface="Times New Roman"/>
                <a:sym typeface="Times New Roman"/>
              </a:defRPr>
            </a:lvl3pPr>
            <a:lvl4pPr indent="0" lvl="3" marL="0" algn="l">
              <a:spcBef>
                <a:spcPts val="0"/>
              </a:spcBef>
              <a:spcAft>
                <a:spcPts val="0"/>
              </a:spcAft>
              <a:buNone/>
              <a:defRPr sz="1200">
                <a:solidFill>
                  <a:srgbClr val="FFFFFF"/>
                </a:solidFill>
                <a:latin typeface="Times New Roman"/>
                <a:ea typeface="Times New Roman"/>
                <a:cs typeface="Times New Roman"/>
                <a:sym typeface="Times New Roman"/>
              </a:defRPr>
            </a:lvl4pPr>
            <a:lvl5pPr indent="0" lvl="4" marL="0" algn="l">
              <a:spcBef>
                <a:spcPts val="0"/>
              </a:spcBef>
              <a:spcAft>
                <a:spcPts val="0"/>
              </a:spcAft>
              <a:buNone/>
              <a:defRPr sz="1200">
                <a:solidFill>
                  <a:srgbClr val="FFFFFF"/>
                </a:solidFill>
                <a:latin typeface="Times New Roman"/>
                <a:ea typeface="Times New Roman"/>
                <a:cs typeface="Times New Roman"/>
                <a:sym typeface="Times New Roman"/>
              </a:defRPr>
            </a:lvl5pPr>
            <a:lvl6pPr indent="0" lvl="5" marL="0" algn="l">
              <a:spcBef>
                <a:spcPts val="0"/>
              </a:spcBef>
              <a:spcAft>
                <a:spcPts val="0"/>
              </a:spcAft>
              <a:buNone/>
              <a:defRPr sz="1200">
                <a:solidFill>
                  <a:srgbClr val="FFFFFF"/>
                </a:solidFill>
                <a:latin typeface="Times New Roman"/>
                <a:ea typeface="Times New Roman"/>
                <a:cs typeface="Times New Roman"/>
                <a:sym typeface="Times New Roman"/>
              </a:defRPr>
            </a:lvl6pPr>
            <a:lvl7pPr indent="0" lvl="6" marL="0" algn="l">
              <a:spcBef>
                <a:spcPts val="0"/>
              </a:spcBef>
              <a:spcAft>
                <a:spcPts val="0"/>
              </a:spcAft>
              <a:buNone/>
              <a:defRPr sz="1200">
                <a:solidFill>
                  <a:srgbClr val="FFFFFF"/>
                </a:solidFill>
                <a:latin typeface="Times New Roman"/>
                <a:ea typeface="Times New Roman"/>
                <a:cs typeface="Times New Roman"/>
                <a:sym typeface="Times New Roman"/>
              </a:defRPr>
            </a:lvl7pPr>
            <a:lvl8pPr indent="0" lvl="7" marL="0" algn="l">
              <a:spcBef>
                <a:spcPts val="0"/>
              </a:spcBef>
              <a:spcAft>
                <a:spcPts val="0"/>
              </a:spcAft>
              <a:buNone/>
              <a:defRPr sz="1200">
                <a:solidFill>
                  <a:srgbClr val="FFFFFF"/>
                </a:solidFill>
                <a:latin typeface="Times New Roman"/>
                <a:ea typeface="Times New Roman"/>
                <a:cs typeface="Times New Roman"/>
                <a:sym typeface="Times New Roman"/>
              </a:defRPr>
            </a:lvl8pPr>
            <a:lvl9pPr indent="0" lvl="8" marL="0" algn="l">
              <a:spcBef>
                <a:spcPts val="0"/>
              </a:spcBef>
              <a:spcAft>
                <a:spcPts val="0"/>
              </a:spcAft>
              <a:buNone/>
              <a:defRPr sz="1200">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 w.png" id="57" name="Google Shape;57;p8"/>
          <p:cNvPicPr preferRelativeResize="0"/>
          <p:nvPr/>
        </p:nvPicPr>
        <p:blipFill rotWithShape="1">
          <a:blip r:embed="rId2">
            <a:alphaModFix/>
          </a:blip>
          <a:srcRect b="0" l="0" r="0" t="0"/>
          <a:stretch/>
        </p:blipFill>
        <p:spPr>
          <a:xfrm>
            <a:off x="6818573" y="6398708"/>
            <a:ext cx="1917646" cy="349137"/>
          </a:xfrm>
          <a:prstGeom prst="rect">
            <a:avLst/>
          </a:prstGeom>
          <a:noFill/>
          <a:ln>
            <a:noFill/>
          </a:ln>
        </p:spPr>
      </p:pic>
      <p:sp>
        <p:nvSpPr>
          <p:cNvPr id="58" name="Google Shape;58;p8"/>
          <p:cNvSpPr/>
          <p:nvPr/>
        </p:nvSpPr>
        <p:spPr>
          <a:xfrm>
            <a:off x="0" y="0"/>
            <a:ext cx="6775704" cy="1737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9" name="Google Shape;59;p8"/>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9"/>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2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457200" y="1146175"/>
            <a:ext cx="399415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9"/>
          <p:cNvSpPr txBox="1"/>
          <p:nvPr>
            <p:ph idx="2" type="body"/>
          </p:nvPr>
        </p:nvSpPr>
        <p:spPr>
          <a:xfrm>
            <a:off x="457200" y="1785937"/>
            <a:ext cx="399415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9"/>
          <p:cNvSpPr txBox="1"/>
          <p:nvPr>
            <p:ph idx="3" type="body"/>
          </p:nvPr>
        </p:nvSpPr>
        <p:spPr>
          <a:xfrm>
            <a:off x="4686300" y="1146175"/>
            <a:ext cx="400050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9"/>
          <p:cNvSpPr txBox="1"/>
          <p:nvPr>
            <p:ph idx="4" type="body"/>
          </p:nvPr>
        </p:nvSpPr>
        <p:spPr>
          <a:xfrm>
            <a:off x="4686300" y="1785937"/>
            <a:ext cx="400050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0"/>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Golden" showMasterSp="0">
  <p:cSld name="1_Divider Golden">
    <p:spTree>
      <p:nvGrpSpPr>
        <p:cNvPr id="72" name="Shape 72"/>
        <p:cNvGrpSpPr/>
        <p:nvPr/>
      </p:nvGrpSpPr>
      <p:grpSpPr>
        <a:xfrm>
          <a:off x="0" y="0"/>
          <a:ext cx="0" cy="0"/>
          <a:chOff x="0" y="0"/>
          <a:chExt cx="0" cy="0"/>
        </a:xfrm>
      </p:grpSpPr>
      <p:sp>
        <p:nvSpPr>
          <p:cNvPr id="73" name="Google Shape;73;p12"/>
          <p:cNvSpPr/>
          <p:nvPr/>
        </p:nvSpPr>
        <p:spPr>
          <a:xfrm>
            <a:off x="203505" y="216029"/>
            <a:ext cx="8736990" cy="642594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74" name="Google Shape;74;p12"/>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rinter-friendly" showMasterSp="0">
  <p:cSld name="Divider printer-friendly">
    <p:spTree>
      <p:nvGrpSpPr>
        <p:cNvPr id="76" name="Shape 76"/>
        <p:cNvGrpSpPr/>
        <p:nvPr/>
      </p:nvGrpSpPr>
      <p:grpSpPr>
        <a:xfrm>
          <a:off x="0" y="0"/>
          <a:ext cx="0" cy="0"/>
          <a:chOff x="0" y="0"/>
          <a:chExt cx="0" cy="0"/>
        </a:xfrm>
      </p:grpSpPr>
      <p:sp>
        <p:nvSpPr>
          <p:cNvPr id="77" name="Google Shape;77;p13"/>
          <p:cNvSpPr/>
          <p:nvPr/>
        </p:nvSpPr>
        <p:spPr>
          <a:xfrm>
            <a:off x="254306" y="260482"/>
            <a:ext cx="8645548" cy="6325353"/>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78" name="Google Shape;78;p13"/>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3"/>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80"/>
              <a:buNone/>
              <a:defRPr b="1" sz="2400">
                <a:solidFill>
                  <a:schemeClr val="dk2"/>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Dark Background" showMasterSp="0">
  <p:cSld name="1_Divider Dark Background">
    <p:bg>
      <p:bgPr>
        <a:solidFill>
          <a:schemeClr val="dk1"/>
        </a:solidFill>
      </p:bgPr>
    </p:bg>
    <p:spTree>
      <p:nvGrpSpPr>
        <p:cNvPr id="80" name="Shape 80"/>
        <p:cNvGrpSpPr/>
        <p:nvPr/>
      </p:nvGrpSpPr>
      <p:grpSpPr>
        <a:xfrm>
          <a:off x="0" y="0"/>
          <a:ext cx="0" cy="0"/>
          <a:chOff x="0" y="0"/>
          <a:chExt cx="0" cy="0"/>
        </a:xfrm>
      </p:grpSpPr>
      <p:sp>
        <p:nvSpPr>
          <p:cNvPr id="81" name="Google Shape;81;p14"/>
          <p:cNvSpPr/>
          <p:nvPr/>
        </p:nvSpPr>
        <p:spPr>
          <a:xfrm>
            <a:off x="254306" y="260482"/>
            <a:ext cx="8645548" cy="6325353"/>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82" name="Google Shape;82;p14"/>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80"/>
              <a:buNone/>
              <a:defRPr b="1" sz="2400">
                <a:solidFill>
                  <a:schemeClr val="dk2"/>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urple" showMasterSp="0">
  <p:cSld name="Divider Purple">
    <p:spTree>
      <p:nvGrpSpPr>
        <p:cNvPr id="84" name="Shape 84"/>
        <p:cNvGrpSpPr/>
        <p:nvPr/>
      </p:nvGrpSpPr>
      <p:grpSpPr>
        <a:xfrm>
          <a:off x="0" y="0"/>
          <a:ext cx="0" cy="0"/>
          <a:chOff x="0" y="0"/>
          <a:chExt cx="0" cy="0"/>
        </a:xfrm>
      </p:grpSpPr>
      <p:sp>
        <p:nvSpPr>
          <p:cNvPr id="85" name="Google Shape;85;p15"/>
          <p:cNvSpPr/>
          <p:nvPr/>
        </p:nvSpPr>
        <p:spPr>
          <a:xfrm>
            <a:off x="203505" y="216029"/>
            <a:ext cx="8736990" cy="642594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86" name="Google Shape;86;p15"/>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5"/>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Fuschia" showMasterSp="0">
  <p:cSld name="Divider Fuschia">
    <p:spTree>
      <p:nvGrpSpPr>
        <p:cNvPr id="88" name="Shape 88"/>
        <p:cNvGrpSpPr/>
        <p:nvPr/>
      </p:nvGrpSpPr>
      <p:grpSpPr>
        <a:xfrm>
          <a:off x="0" y="0"/>
          <a:ext cx="0" cy="0"/>
          <a:chOff x="0" y="0"/>
          <a:chExt cx="0" cy="0"/>
        </a:xfrm>
      </p:grpSpPr>
      <p:sp>
        <p:nvSpPr>
          <p:cNvPr id="89" name="Google Shape;89;p16"/>
          <p:cNvSpPr/>
          <p:nvPr/>
        </p:nvSpPr>
        <p:spPr>
          <a:xfrm>
            <a:off x="203505" y="216029"/>
            <a:ext cx="8736990" cy="6425943"/>
          </a:xfrm>
          <a:prstGeom prst="rect">
            <a:avLst/>
          </a:prstGeom>
          <a:solidFill>
            <a:srgbClr val="CE3D9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0" name="Google Shape;90;p16"/>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6"/>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lue" showMasterSp="0">
  <p:cSld name="Divider Blue">
    <p:spTree>
      <p:nvGrpSpPr>
        <p:cNvPr id="92" name="Shape 92"/>
        <p:cNvGrpSpPr/>
        <p:nvPr/>
      </p:nvGrpSpPr>
      <p:grpSpPr>
        <a:xfrm>
          <a:off x="0" y="0"/>
          <a:ext cx="0" cy="0"/>
          <a:chOff x="0" y="0"/>
          <a:chExt cx="0" cy="0"/>
        </a:xfrm>
      </p:grpSpPr>
      <p:sp>
        <p:nvSpPr>
          <p:cNvPr id="93" name="Google Shape;93;p17"/>
          <p:cNvSpPr/>
          <p:nvPr/>
        </p:nvSpPr>
        <p:spPr>
          <a:xfrm>
            <a:off x="203505" y="216029"/>
            <a:ext cx="8736990" cy="6425943"/>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4" name="Google Shape;94;p17"/>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7"/>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Red" showMasterSp="0">
  <p:cSld name="Divider Red">
    <p:spTree>
      <p:nvGrpSpPr>
        <p:cNvPr id="96" name="Shape 96"/>
        <p:cNvGrpSpPr/>
        <p:nvPr/>
      </p:nvGrpSpPr>
      <p:grpSpPr>
        <a:xfrm>
          <a:off x="0" y="0"/>
          <a:ext cx="0" cy="0"/>
          <a:chOff x="0" y="0"/>
          <a:chExt cx="0" cy="0"/>
        </a:xfrm>
      </p:grpSpPr>
      <p:sp>
        <p:nvSpPr>
          <p:cNvPr id="97" name="Google Shape;97;p18"/>
          <p:cNvSpPr/>
          <p:nvPr/>
        </p:nvSpPr>
        <p:spPr>
          <a:xfrm>
            <a:off x="203505" y="216029"/>
            <a:ext cx="8736990" cy="642594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8" name="Google Shape;98;p18"/>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8"/>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Yellow Green" showMasterSp="0">
  <p:cSld name="Divider Yellow Green">
    <p:spTree>
      <p:nvGrpSpPr>
        <p:cNvPr id="100" name="Shape 100"/>
        <p:cNvGrpSpPr/>
        <p:nvPr/>
      </p:nvGrpSpPr>
      <p:grpSpPr>
        <a:xfrm>
          <a:off x="0" y="0"/>
          <a:ext cx="0" cy="0"/>
          <a:chOff x="0" y="0"/>
          <a:chExt cx="0" cy="0"/>
        </a:xfrm>
      </p:grpSpPr>
      <p:sp>
        <p:nvSpPr>
          <p:cNvPr id="101" name="Google Shape;101;p19"/>
          <p:cNvSpPr/>
          <p:nvPr/>
        </p:nvSpPr>
        <p:spPr>
          <a:xfrm>
            <a:off x="203505" y="216029"/>
            <a:ext cx="8736990" cy="6425943"/>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102" name="Google Shape;102;p19"/>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9"/>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ink" showMasterSp="0">
  <p:cSld name="Divider Pink">
    <p:spTree>
      <p:nvGrpSpPr>
        <p:cNvPr id="104" name="Shape 104"/>
        <p:cNvGrpSpPr/>
        <p:nvPr/>
      </p:nvGrpSpPr>
      <p:grpSpPr>
        <a:xfrm>
          <a:off x="0" y="0"/>
          <a:ext cx="0" cy="0"/>
          <a:chOff x="0" y="0"/>
          <a:chExt cx="0" cy="0"/>
        </a:xfrm>
      </p:grpSpPr>
      <p:sp>
        <p:nvSpPr>
          <p:cNvPr id="105" name="Google Shape;105;p20"/>
          <p:cNvSpPr/>
          <p:nvPr/>
        </p:nvSpPr>
        <p:spPr>
          <a:xfrm>
            <a:off x="203505" y="216029"/>
            <a:ext cx="8736990" cy="6425943"/>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106" name="Google Shape;106;p20"/>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20"/>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2.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marR="0" rtl="0" algn="l">
              <a:spcBef>
                <a:spcPts val="0"/>
              </a:spcBef>
              <a:spcAft>
                <a:spcPts val="0"/>
              </a:spcAft>
              <a:buClr>
                <a:schemeClr val="dk1"/>
              </a:buClr>
              <a:buSzPts val="2800"/>
              <a:buFont typeface="Calibri"/>
              <a:buNone/>
              <a:defRPr b="1" i="0" sz="2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381000" lvl="0" marL="457200" marR="0" rtl="0" algn="l">
              <a:spcBef>
                <a:spcPts val="0"/>
              </a:spcBef>
              <a:spcAft>
                <a:spcPts val="0"/>
              </a:spcAft>
              <a:buClr>
                <a:schemeClr val="dk1"/>
              </a:buClr>
              <a:buSzPts val="2400"/>
              <a:buFont typeface="Arial"/>
              <a:buChar char="•"/>
              <a:defRPr b="0" i="0" sz="2000" u="none" cap="none" strike="noStrike">
                <a:solidFill>
                  <a:schemeClr val="dk1"/>
                </a:solidFill>
                <a:latin typeface="Calibri"/>
                <a:ea typeface="Calibri"/>
                <a:cs typeface="Calibri"/>
                <a:sym typeface="Calibri"/>
              </a:defRPr>
            </a:lvl1pPr>
            <a:lvl2pPr indent="-355600" lvl="1" marL="9144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55600" lvl="2" marL="13716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0"/>
              </a:spcBef>
              <a:spcAft>
                <a:spcPts val="0"/>
              </a:spcAft>
              <a:buClr>
                <a:schemeClr val="dk1"/>
              </a:buClr>
              <a:buSzPts val="2000"/>
              <a:buFont typeface="Merriweather San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0"/>
              </a:spcBef>
              <a:spcAft>
                <a:spcPts val="0"/>
              </a:spcAft>
              <a:buClr>
                <a:schemeClr val="dk1"/>
              </a:buClr>
              <a:buSzPts val="2000"/>
              <a:buFont typeface="Merriweather San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marR="0" rtl="0" algn="l">
              <a:spcBef>
                <a:spcPts val="0"/>
              </a:spcBef>
              <a:spcAft>
                <a:spcPts val="0"/>
              </a:spcAft>
              <a:buNone/>
              <a:defRPr b="0" i="0" sz="1200" u="none" cap="none" strike="noStrike">
                <a:solidFill>
                  <a:srgbClr val="54585A"/>
                </a:solidFill>
                <a:latin typeface="Arial"/>
                <a:ea typeface="Arial"/>
                <a:cs typeface="Arial"/>
                <a:sym typeface="Arial"/>
              </a:defRPr>
            </a:lvl1pPr>
            <a:lvl2pPr indent="0" lvl="1" marL="0" marR="0" rtl="0" algn="l">
              <a:spcBef>
                <a:spcPts val="0"/>
              </a:spcBef>
              <a:spcAft>
                <a:spcPts val="0"/>
              </a:spcAft>
              <a:buNone/>
              <a:defRPr b="0" i="0" sz="1200" u="none" cap="none" strike="noStrike">
                <a:solidFill>
                  <a:srgbClr val="54585A"/>
                </a:solidFill>
                <a:latin typeface="Arial"/>
                <a:ea typeface="Arial"/>
                <a:cs typeface="Arial"/>
                <a:sym typeface="Arial"/>
              </a:defRPr>
            </a:lvl2pPr>
            <a:lvl3pPr indent="0" lvl="2" marL="0" marR="0" rtl="0" algn="l">
              <a:spcBef>
                <a:spcPts val="0"/>
              </a:spcBef>
              <a:spcAft>
                <a:spcPts val="0"/>
              </a:spcAft>
              <a:buNone/>
              <a:defRPr b="0" i="0" sz="1200" u="none" cap="none" strike="noStrike">
                <a:solidFill>
                  <a:srgbClr val="54585A"/>
                </a:solidFill>
                <a:latin typeface="Arial"/>
                <a:ea typeface="Arial"/>
                <a:cs typeface="Arial"/>
                <a:sym typeface="Arial"/>
              </a:defRPr>
            </a:lvl3pPr>
            <a:lvl4pPr indent="0" lvl="3" marL="0" marR="0" rtl="0" algn="l">
              <a:spcBef>
                <a:spcPts val="0"/>
              </a:spcBef>
              <a:spcAft>
                <a:spcPts val="0"/>
              </a:spcAft>
              <a:buNone/>
              <a:defRPr b="0" i="0" sz="1200" u="none" cap="none" strike="noStrike">
                <a:solidFill>
                  <a:srgbClr val="54585A"/>
                </a:solidFill>
                <a:latin typeface="Arial"/>
                <a:ea typeface="Arial"/>
                <a:cs typeface="Arial"/>
                <a:sym typeface="Arial"/>
              </a:defRPr>
            </a:lvl4pPr>
            <a:lvl5pPr indent="0" lvl="4" marL="0" marR="0" rtl="0" algn="l">
              <a:spcBef>
                <a:spcPts val="0"/>
              </a:spcBef>
              <a:spcAft>
                <a:spcPts val="0"/>
              </a:spcAft>
              <a:buNone/>
              <a:defRPr b="0" i="0" sz="1200" u="none" cap="none" strike="noStrike">
                <a:solidFill>
                  <a:srgbClr val="54585A"/>
                </a:solidFill>
                <a:latin typeface="Arial"/>
                <a:ea typeface="Arial"/>
                <a:cs typeface="Arial"/>
                <a:sym typeface="Arial"/>
              </a:defRPr>
            </a:lvl5pPr>
            <a:lvl6pPr indent="0" lvl="5" marL="0" marR="0" rtl="0" algn="l">
              <a:spcBef>
                <a:spcPts val="0"/>
              </a:spcBef>
              <a:spcAft>
                <a:spcPts val="0"/>
              </a:spcAft>
              <a:buNone/>
              <a:defRPr b="0" i="0" sz="1200" u="none" cap="none" strike="noStrike">
                <a:solidFill>
                  <a:srgbClr val="54585A"/>
                </a:solidFill>
                <a:latin typeface="Arial"/>
                <a:ea typeface="Arial"/>
                <a:cs typeface="Arial"/>
                <a:sym typeface="Arial"/>
              </a:defRPr>
            </a:lvl6pPr>
            <a:lvl7pPr indent="0" lvl="6" marL="0" marR="0" rtl="0" algn="l">
              <a:spcBef>
                <a:spcPts val="0"/>
              </a:spcBef>
              <a:spcAft>
                <a:spcPts val="0"/>
              </a:spcAft>
              <a:buNone/>
              <a:defRPr b="0" i="0" sz="1200" u="none" cap="none" strike="noStrike">
                <a:solidFill>
                  <a:srgbClr val="54585A"/>
                </a:solidFill>
                <a:latin typeface="Arial"/>
                <a:ea typeface="Arial"/>
                <a:cs typeface="Arial"/>
                <a:sym typeface="Arial"/>
              </a:defRPr>
            </a:lvl7pPr>
            <a:lvl8pPr indent="0" lvl="7" marL="0" marR="0" rtl="0" algn="l">
              <a:spcBef>
                <a:spcPts val="0"/>
              </a:spcBef>
              <a:spcAft>
                <a:spcPts val="0"/>
              </a:spcAft>
              <a:buNone/>
              <a:defRPr b="0" i="0" sz="1200" u="none" cap="none" strike="noStrike">
                <a:solidFill>
                  <a:srgbClr val="54585A"/>
                </a:solidFill>
                <a:latin typeface="Arial"/>
                <a:ea typeface="Arial"/>
                <a:cs typeface="Arial"/>
                <a:sym typeface="Arial"/>
              </a:defRPr>
            </a:lvl8pPr>
            <a:lvl9pPr indent="0" lvl="8" marL="0" marR="0" rtl="0" algn="l">
              <a:spcBef>
                <a:spcPts val="0"/>
              </a:spcBef>
              <a:spcAft>
                <a:spcPts val="0"/>
              </a:spcAft>
              <a:buNone/>
              <a:defRPr b="0" i="0" sz="1200" u="none" cap="none" strike="noStrike">
                <a:solidFill>
                  <a:srgbClr val="54585A"/>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png" id="9" name="Google Shape;9;p1"/>
          <p:cNvPicPr preferRelativeResize="0"/>
          <p:nvPr/>
        </p:nvPicPr>
        <p:blipFill rotWithShape="1">
          <a:blip r:embed="rId1">
            <a:alphaModFix/>
          </a:blip>
          <a:srcRect b="0" l="0" r="0" t="0"/>
          <a:stretch/>
        </p:blipFill>
        <p:spPr>
          <a:xfrm>
            <a:off x="6824799" y="6399660"/>
            <a:ext cx="1912424" cy="348185"/>
          </a:xfrm>
          <a:prstGeom prst="rect">
            <a:avLst/>
          </a:prstGeom>
          <a:noFill/>
          <a:ln>
            <a:noFill/>
          </a:ln>
        </p:spPr>
      </p:pic>
      <p:sp>
        <p:nvSpPr>
          <p:cNvPr id="10" name="Google Shape;10;p1"/>
          <p:cNvSpPr/>
          <p:nvPr/>
        </p:nvSpPr>
        <p:spPr>
          <a:xfrm>
            <a:off x="0" y="0"/>
            <a:ext cx="6775704" cy="1737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1" name="Google Shape;11;p1"/>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hmhco.com/content/science/sciencedimensions/na/gr9-12/ete_biology_9780544535855_/book_pages/OPS/s9ml/glossary.xhtml#key-54ad652280344d87a8eafc1683a8de02" TargetMode="External"/><Relationship Id="rId4" Type="http://schemas.openxmlformats.org/officeDocument/2006/relationships/image" Target="../media/image16.jpg"/><Relationship Id="rId5"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hmhco.com/content/science/sciencedimensions/na/gr9-12/ete_biology_9780544535855_/book_pages/OPS/s9ml/glossary.xhtml#key-speciation" TargetMode="External"/><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jp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idx="1" type="subTitle"/>
          </p:nvPr>
        </p:nvSpPr>
        <p:spPr>
          <a:xfrm>
            <a:off x="600014" y="1867816"/>
            <a:ext cx="6400800" cy="17526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FFFFF"/>
              </a:buClr>
              <a:buSzPts val="3840"/>
              <a:buNone/>
            </a:pPr>
            <a:r>
              <a:rPr lang="en-US" sz="3200">
                <a:latin typeface="Cambria"/>
                <a:ea typeface="Cambria"/>
                <a:cs typeface="Cambria"/>
                <a:sym typeface="Cambria"/>
              </a:rPr>
              <a:t>Biology</a:t>
            </a:r>
            <a:endParaRPr/>
          </a:p>
          <a:p>
            <a:pPr indent="0" lvl="0" marL="0" rtl="0" algn="l">
              <a:spcBef>
                <a:spcPts val="0"/>
              </a:spcBef>
              <a:spcAft>
                <a:spcPts val="0"/>
              </a:spcAft>
              <a:buClr>
                <a:srgbClr val="FFFFFF"/>
              </a:buClr>
              <a:buSzPts val="3840"/>
              <a:buNone/>
            </a:pPr>
            <a:r>
              <a:rPr lang="en-US" sz="3200">
                <a:latin typeface="Cambria"/>
                <a:ea typeface="Cambria"/>
                <a:cs typeface="Cambria"/>
                <a:sym typeface="Cambria"/>
              </a:rPr>
              <a:t>Unit 9: Patterns of Evolution</a:t>
            </a:r>
            <a:endParaRPr/>
          </a:p>
          <a:p>
            <a:pPr indent="0" lvl="0" marL="0" rtl="0" algn="l">
              <a:spcBef>
                <a:spcPts val="0"/>
              </a:spcBef>
              <a:spcAft>
                <a:spcPts val="0"/>
              </a:spcAft>
              <a:buClr>
                <a:srgbClr val="FFFFFF"/>
              </a:buClr>
              <a:buSzPts val="3840"/>
              <a:buNone/>
            </a:pPr>
            <a:r>
              <a:rPr lang="en-US" sz="3200">
                <a:latin typeface="Cambria"/>
                <a:ea typeface="Cambria"/>
                <a:cs typeface="Cambria"/>
                <a:sym typeface="Cambria"/>
              </a:rPr>
              <a:t>Lesson 2: Changes in Species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122" name="Google Shape;122;p2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23" name="Google Shape;123;p22"/>
          <p:cNvSpPr/>
          <p:nvPr/>
        </p:nvSpPr>
        <p:spPr>
          <a:xfrm>
            <a:off x="5176434" y="707729"/>
            <a:ext cx="3967565" cy="603242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These plants have a common ancestor. How did they develop different characteristics?</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GATHER EVIDENCE</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As you explore the lesson, gather evidence that supports the claim that changes in environmental conditions result in the emergence of new species over time and the extinction of other species.</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p:txBody>
      </p:sp>
      <p:sp>
        <p:nvSpPr>
          <p:cNvPr id="124" name="Google Shape;124;p2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125" name="Google Shape;125;p22"/>
          <p:cNvSpPr/>
          <p:nvPr/>
        </p:nvSpPr>
        <p:spPr>
          <a:xfrm>
            <a:off x="311100" y="4945823"/>
            <a:ext cx="4497836"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mbria"/>
                <a:ea typeface="Cambria"/>
                <a:cs typeface="Cambria"/>
                <a:sym typeface="Cambria"/>
              </a:rPr>
              <a:t>Plants in the silversword alliance are closely related and yet show remarkable diversity.</a:t>
            </a:r>
            <a:endParaRPr sz="2000">
              <a:solidFill>
                <a:schemeClr val="dk1"/>
              </a:solidFill>
              <a:latin typeface="Cambria"/>
              <a:ea typeface="Cambria"/>
              <a:cs typeface="Cambria"/>
              <a:sym typeface="Cambria"/>
            </a:endParaRPr>
          </a:p>
        </p:txBody>
      </p:sp>
      <p:pic>
        <p:nvPicPr>
          <p:cNvPr descr="A drawing of a person&#10;&#10;Description automatically generated" id="126" name="Google Shape;126;p2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pic>
        <p:nvPicPr>
          <p:cNvPr descr="A picture containing table, food, plate, different&#10;&#10;Description automatically generated" id="127" name="Google Shape;127;p22"/>
          <p:cNvPicPr preferRelativeResize="0"/>
          <p:nvPr/>
        </p:nvPicPr>
        <p:blipFill rotWithShape="1">
          <a:blip r:embed="rId4">
            <a:alphaModFix/>
          </a:blip>
          <a:srcRect b="0" l="0" r="0" t="0"/>
          <a:stretch/>
        </p:blipFill>
        <p:spPr>
          <a:xfrm>
            <a:off x="204083" y="1098165"/>
            <a:ext cx="4972351" cy="384765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35" name="Google Shape;135;p23"/>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136" name="Google Shape;136;p23"/>
          <p:cNvSpPr/>
          <p:nvPr/>
        </p:nvSpPr>
        <p:spPr>
          <a:xfrm>
            <a:off x="3876969" y="889844"/>
            <a:ext cx="5050759" cy="5909310"/>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100"/>
              <a:buFont typeface="Arial"/>
              <a:buChar char="•"/>
            </a:pPr>
            <a:r>
              <a:rPr lang="en-US" sz="2100">
                <a:solidFill>
                  <a:schemeClr val="dk1"/>
                </a:solidFill>
                <a:latin typeface="Cambria"/>
                <a:ea typeface="Cambria"/>
                <a:cs typeface="Cambria"/>
                <a:sym typeface="Cambria"/>
              </a:rPr>
              <a:t>A </a:t>
            </a:r>
            <a:r>
              <a:rPr b="1" lang="en-US" sz="2100" u="sng">
                <a:solidFill>
                  <a:srgbClr val="F2A900"/>
                </a:solidFill>
                <a:latin typeface="Cambria"/>
                <a:ea typeface="Cambria"/>
                <a:cs typeface="Cambria"/>
                <a:sym typeface="Cambria"/>
                <a:hlinkClick r:id="rId3">
                  <a:extLst>
                    <a:ext uri="{A12FA001-AC4F-418D-AE19-62706E023703}">
                      <ahyp:hlinkClr val="tx"/>
                    </a:ext>
                  </a:extLst>
                </a:hlinkClick>
              </a:rPr>
              <a:t>species</a:t>
            </a:r>
            <a:r>
              <a:rPr lang="en-US" sz="2100">
                <a:solidFill>
                  <a:schemeClr val="dk1"/>
                </a:solidFill>
                <a:latin typeface="Cambria"/>
                <a:ea typeface="Cambria"/>
                <a:cs typeface="Cambria"/>
                <a:sym typeface="Cambria"/>
              </a:rPr>
              <a:t> is a group of similar organisms that can breed and produce fertile offspring. </a:t>
            </a:r>
            <a:endParaRPr/>
          </a:p>
          <a:p>
            <a:pPr indent="0" lvl="0" marL="0" marR="0" rtl="0" algn="l">
              <a:spcBef>
                <a:spcPts val="0"/>
              </a:spcBef>
              <a:spcAft>
                <a:spcPts val="0"/>
              </a:spcAft>
              <a:buNone/>
            </a:pPr>
            <a:r>
              <a:t/>
            </a:r>
            <a:endParaRPr sz="21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100"/>
              <a:buFont typeface="Arial"/>
              <a:buChar char="•"/>
            </a:pPr>
            <a:r>
              <a:rPr lang="en-US" sz="2100">
                <a:solidFill>
                  <a:schemeClr val="dk1"/>
                </a:solidFill>
                <a:latin typeface="Cambria"/>
                <a:ea typeface="Cambria"/>
                <a:cs typeface="Cambria"/>
                <a:sym typeface="Cambria"/>
              </a:rPr>
              <a:t>The millions of species that live on Earth today emerged over time, with each new species arising from an already existing species. </a:t>
            </a:r>
            <a:endParaRPr/>
          </a:p>
          <a:p>
            <a:pPr indent="-209550" lvl="0" marL="342900" marR="0" rtl="0" algn="l">
              <a:spcBef>
                <a:spcPts val="0"/>
              </a:spcBef>
              <a:spcAft>
                <a:spcPts val="0"/>
              </a:spcAft>
              <a:buClr>
                <a:schemeClr val="dk1"/>
              </a:buClr>
              <a:buSzPts val="2100"/>
              <a:buFont typeface="Arial"/>
              <a:buNone/>
            </a:pPr>
            <a:r>
              <a:t/>
            </a:r>
            <a:endParaRPr b="1" sz="21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100" cap="none">
                <a:solidFill>
                  <a:schemeClr val="dk1"/>
                </a:solidFill>
                <a:latin typeface="Cambria"/>
                <a:ea typeface="Cambria"/>
                <a:cs typeface="Cambria"/>
                <a:sym typeface="Cambria"/>
              </a:rPr>
              <a:t>COLLABORATION</a:t>
            </a:r>
            <a:endParaRPr/>
          </a:p>
          <a:p>
            <a:pPr indent="0" lvl="0" marL="0" marR="0" rtl="0" algn="l">
              <a:spcBef>
                <a:spcPts val="0"/>
              </a:spcBef>
              <a:spcAft>
                <a:spcPts val="0"/>
              </a:spcAft>
              <a:buNone/>
            </a:pPr>
            <a:r>
              <a:rPr b="1" lang="en-US" sz="2100">
                <a:solidFill>
                  <a:schemeClr val="dk1"/>
                </a:solidFill>
                <a:latin typeface="Cambria"/>
                <a:ea typeface="Cambria"/>
                <a:cs typeface="Cambria"/>
                <a:sym typeface="Cambria"/>
              </a:rPr>
              <a:t>Kaibab and Abert's squirrels live on opposite sides of the Grand Canyon. Though closely related, they do not share all of the same characteristics. How did these differences come about? Make a list with a partner to explain your reasoning.</a:t>
            </a:r>
            <a:endParaRPr/>
          </a:p>
          <a:p>
            <a:pPr indent="-209550" lvl="0" marL="342900" marR="0" rtl="0" algn="l">
              <a:spcBef>
                <a:spcPts val="0"/>
              </a:spcBef>
              <a:spcAft>
                <a:spcPts val="0"/>
              </a:spcAft>
              <a:buClr>
                <a:schemeClr val="dk1"/>
              </a:buClr>
              <a:buSzPts val="2100"/>
              <a:buFont typeface="Arial"/>
              <a:buNone/>
            </a:pPr>
            <a:r>
              <a:t/>
            </a:r>
            <a:endParaRPr b="1" sz="2100">
              <a:solidFill>
                <a:schemeClr val="dk1"/>
              </a:solidFill>
              <a:latin typeface="Cambria"/>
              <a:ea typeface="Cambria"/>
              <a:cs typeface="Cambria"/>
              <a:sym typeface="Cambria"/>
            </a:endParaRPr>
          </a:p>
        </p:txBody>
      </p:sp>
      <p:sp>
        <p:nvSpPr>
          <p:cNvPr id="137" name="Google Shape;137;p23"/>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138" name="Google Shape;138;p2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pic>
        <p:nvPicPr>
          <p:cNvPr descr="A squirrel standing on a pile of hay&#10;&#10;Description automatically generated" id="139" name="Google Shape;139;p23"/>
          <p:cNvPicPr preferRelativeResize="0"/>
          <p:nvPr/>
        </p:nvPicPr>
        <p:blipFill rotWithShape="1">
          <a:blip r:embed="rId4">
            <a:alphaModFix/>
          </a:blip>
          <a:srcRect b="0" l="0" r="0" t="0"/>
          <a:stretch/>
        </p:blipFill>
        <p:spPr>
          <a:xfrm>
            <a:off x="331155" y="798873"/>
            <a:ext cx="3381827" cy="2536371"/>
          </a:xfrm>
          <a:prstGeom prst="rect">
            <a:avLst/>
          </a:prstGeom>
          <a:noFill/>
          <a:ln>
            <a:noFill/>
          </a:ln>
        </p:spPr>
      </p:pic>
      <p:pic>
        <p:nvPicPr>
          <p:cNvPr descr="A squirrel standing on a dry grass field&#10;&#10;Description automatically generated" id="140" name="Google Shape;140;p23"/>
          <p:cNvPicPr preferRelativeResize="0"/>
          <p:nvPr/>
        </p:nvPicPr>
        <p:blipFill rotWithShape="1">
          <a:blip r:embed="rId5">
            <a:alphaModFix/>
          </a:blip>
          <a:srcRect b="0" l="0" r="0" t="0"/>
          <a:stretch/>
        </p:blipFill>
        <p:spPr>
          <a:xfrm>
            <a:off x="331155" y="3659601"/>
            <a:ext cx="3381827" cy="2536371"/>
          </a:xfrm>
          <a:prstGeom prst="rect">
            <a:avLst/>
          </a:prstGeom>
          <a:noFill/>
          <a:ln>
            <a:noFill/>
          </a:ln>
        </p:spPr>
      </p:pic>
      <p:sp>
        <p:nvSpPr>
          <p:cNvPr id="141" name="Google Shape;141;p23"/>
          <p:cNvSpPr/>
          <p:nvPr/>
        </p:nvSpPr>
        <p:spPr>
          <a:xfrm>
            <a:off x="1139303" y="3301384"/>
            <a:ext cx="1757019"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mbria"/>
                <a:ea typeface="Cambria"/>
                <a:cs typeface="Cambria"/>
                <a:sym typeface="Cambria"/>
              </a:rPr>
              <a:t>Kaibab squirrel </a:t>
            </a:r>
            <a:endParaRPr sz="1800">
              <a:solidFill>
                <a:schemeClr val="dk1"/>
              </a:solidFill>
              <a:latin typeface="Times New Roman"/>
              <a:ea typeface="Times New Roman"/>
              <a:cs typeface="Times New Roman"/>
              <a:sym typeface="Times New Roman"/>
            </a:endParaRPr>
          </a:p>
        </p:txBody>
      </p:sp>
      <p:sp>
        <p:nvSpPr>
          <p:cNvPr id="142" name="Google Shape;142;p23"/>
          <p:cNvSpPr/>
          <p:nvPr/>
        </p:nvSpPr>
        <p:spPr>
          <a:xfrm>
            <a:off x="1064844" y="6150997"/>
            <a:ext cx="177619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mbria"/>
                <a:ea typeface="Cambria"/>
                <a:cs typeface="Cambria"/>
                <a:sym typeface="Cambria"/>
              </a:rPr>
              <a:t>Abert’s squirrel </a:t>
            </a:r>
            <a:endParaRPr sz="1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50" name="Google Shape;150;p24"/>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151" name="Google Shape;151;p24"/>
          <p:cNvSpPr/>
          <p:nvPr/>
        </p:nvSpPr>
        <p:spPr>
          <a:xfrm>
            <a:off x="5145436" y="860575"/>
            <a:ext cx="3998563" cy="60016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u="sng">
                <a:solidFill>
                  <a:srgbClr val="F2A900"/>
                </a:solidFill>
                <a:latin typeface="Cambria"/>
                <a:ea typeface="Cambria"/>
                <a:cs typeface="Cambria"/>
                <a:sym typeface="Cambria"/>
                <a:hlinkClick r:id="rId3">
                  <a:extLst>
                    <a:ext uri="{A12FA001-AC4F-418D-AE19-62706E023703}">
                      <ahyp:hlinkClr val="tx"/>
                    </a:ext>
                  </a:extLst>
                </a:hlinkClick>
              </a:rPr>
              <a:t>Speciation</a:t>
            </a:r>
            <a:r>
              <a:rPr lang="en-US" sz="2400">
                <a:solidFill>
                  <a:schemeClr val="dk1"/>
                </a:solidFill>
                <a:latin typeface="Cambria"/>
                <a:ea typeface="Cambria"/>
                <a:cs typeface="Cambria"/>
                <a:sym typeface="Cambria"/>
              </a:rPr>
              <a:t> is the rise of two or more species from a single existing species. Experiments can be used to model speciation. </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rgbClr val="4C4E50"/>
                </a:solidFill>
                <a:latin typeface="Cambria"/>
                <a:ea typeface="Cambria"/>
                <a:cs typeface="Cambria"/>
                <a:sym typeface="Cambria"/>
              </a:rPr>
              <a:t>What happened during the many generations that these flies were kept separated? </a:t>
            </a:r>
            <a:endParaRPr/>
          </a:p>
          <a:p>
            <a:pPr indent="0" lvl="0" marL="0" marR="0" rtl="0" algn="l">
              <a:spcBef>
                <a:spcPts val="0"/>
              </a:spcBef>
              <a:spcAft>
                <a:spcPts val="0"/>
              </a:spcAft>
              <a:buNone/>
            </a:pPr>
            <a:r>
              <a:t/>
            </a:r>
            <a:endParaRPr b="1" sz="2400">
              <a:solidFill>
                <a:srgbClr val="4C4E50"/>
              </a:solidFill>
              <a:latin typeface="Cambria"/>
              <a:ea typeface="Cambria"/>
              <a:cs typeface="Cambria"/>
              <a:sym typeface="Cambria"/>
            </a:endParaRPr>
          </a:p>
          <a:p>
            <a:pPr indent="0" lvl="0" marL="0" marR="0" rtl="0" algn="l">
              <a:spcBef>
                <a:spcPts val="0"/>
              </a:spcBef>
              <a:spcAft>
                <a:spcPts val="0"/>
              </a:spcAft>
              <a:buNone/>
            </a:pPr>
            <a:r>
              <a:rPr b="1" lang="en-US" sz="2400">
                <a:solidFill>
                  <a:srgbClr val="4C4E50"/>
                </a:solidFill>
                <a:latin typeface="Cambria"/>
                <a:ea typeface="Cambria"/>
                <a:cs typeface="Cambria"/>
                <a:sym typeface="Cambria"/>
              </a:rPr>
              <a:t>How might this period of isolation have contributed to the mating preferences shown?</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p:txBody>
      </p:sp>
      <p:sp>
        <p:nvSpPr>
          <p:cNvPr id="152" name="Google Shape;152;p24"/>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153" name="Google Shape;153;p2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154" name="Google Shape;154;p24"/>
          <p:cNvSpPr/>
          <p:nvPr/>
        </p:nvSpPr>
        <p:spPr>
          <a:xfrm>
            <a:off x="76357" y="4394446"/>
            <a:ext cx="4952843"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Changes in fruit flies can occur due to differing food sources.</a:t>
            </a:r>
            <a:endParaRPr sz="1800">
              <a:solidFill>
                <a:schemeClr val="dk1"/>
              </a:solidFill>
              <a:latin typeface="Cambria"/>
              <a:ea typeface="Cambria"/>
              <a:cs typeface="Cambria"/>
              <a:sym typeface="Cambria"/>
            </a:endParaRPr>
          </a:p>
        </p:txBody>
      </p:sp>
      <p:pic>
        <p:nvPicPr>
          <p:cNvPr descr="A picture containing clock, food, table&#10;&#10;Description automatically generated" id="155" name="Google Shape;155;p24"/>
          <p:cNvPicPr preferRelativeResize="0"/>
          <p:nvPr/>
        </p:nvPicPr>
        <p:blipFill rotWithShape="1">
          <a:blip r:embed="rId4">
            <a:alphaModFix/>
          </a:blip>
          <a:srcRect b="0" l="0" r="0" t="0"/>
          <a:stretch/>
        </p:blipFill>
        <p:spPr>
          <a:xfrm>
            <a:off x="76357" y="1218036"/>
            <a:ext cx="5069079" cy="31281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63" name="Google Shape;163;p25"/>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164" name="Google Shape;164;p25"/>
          <p:cNvSpPr/>
          <p:nvPr/>
        </p:nvSpPr>
        <p:spPr>
          <a:xfrm>
            <a:off x="154984" y="846622"/>
            <a:ext cx="8989016" cy="5632311"/>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If gene flow is interrupted between two populations of the same species, the populations are said to be isolated.</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 Isolated populations are prevented from mating and exchanging genes. This means natural selection acts upon a different gene pool for each population.</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Reproductive isolation occurs when members of different populations can no longer mate successfully. Sometimes members of the two populations are not physically able to mate with each other.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other cases, they cannot produce offspring that survive and reproduce. Reproductive isolation is the final step of becoming a separate species.</a:t>
            </a:r>
            <a:endParaRPr b="1" sz="2400">
              <a:solidFill>
                <a:schemeClr val="dk1"/>
              </a:solidFill>
              <a:latin typeface="Cambria"/>
              <a:ea typeface="Cambria"/>
              <a:cs typeface="Cambria"/>
              <a:sym typeface="Cambria"/>
            </a:endParaRPr>
          </a:p>
        </p:txBody>
      </p:sp>
      <p:sp>
        <p:nvSpPr>
          <p:cNvPr id="165" name="Google Shape;165;p25"/>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166" name="Google Shape;166;p25"/>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4" name="Google Shape;174;p26"/>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175" name="Google Shape;175;p26"/>
          <p:cNvSpPr/>
          <p:nvPr/>
        </p:nvSpPr>
        <p:spPr>
          <a:xfrm>
            <a:off x="4724754" y="1115387"/>
            <a:ext cx="4419246" cy="45243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The physical separation of two or more populations can lead to speciation through geographic isolation.</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COLLABORATE</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With a partner, make a list of other physical barriers that can lead to geographic isolation as happened with snapping shrimp.</a:t>
            </a:r>
            <a:endParaRPr/>
          </a:p>
        </p:txBody>
      </p:sp>
      <p:sp>
        <p:nvSpPr>
          <p:cNvPr id="176" name="Google Shape;176;p26"/>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177" name="Google Shape;177;p2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pic>
        <p:nvPicPr>
          <p:cNvPr descr="A close up of a map&#10;&#10;Description automatically generated" id="178" name="Google Shape;178;p26"/>
          <p:cNvPicPr preferRelativeResize="0"/>
          <p:nvPr/>
        </p:nvPicPr>
        <p:blipFill rotWithShape="1">
          <a:blip r:embed="rId3">
            <a:alphaModFix/>
          </a:blip>
          <a:srcRect b="0" l="0" r="0" t="0"/>
          <a:stretch/>
        </p:blipFill>
        <p:spPr>
          <a:xfrm>
            <a:off x="0" y="1240855"/>
            <a:ext cx="4724753" cy="3284650"/>
          </a:xfrm>
          <a:prstGeom prst="rect">
            <a:avLst/>
          </a:prstGeom>
          <a:noFill/>
          <a:ln>
            <a:noFill/>
          </a:ln>
        </p:spPr>
      </p:pic>
      <p:sp>
        <p:nvSpPr>
          <p:cNvPr id="179" name="Google Shape;179;p26"/>
          <p:cNvSpPr/>
          <p:nvPr/>
        </p:nvSpPr>
        <p:spPr>
          <a:xfrm>
            <a:off x="152753" y="4574772"/>
            <a:ext cx="4572000"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rgbClr val="55595B"/>
                </a:solidFill>
                <a:latin typeface="Cambria"/>
                <a:ea typeface="Cambria"/>
                <a:cs typeface="Cambria"/>
                <a:sym typeface="Cambria"/>
              </a:rPr>
              <a:t>Speciation in snapping shrimp occurred due to geographic isolation.</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87" name="Google Shape;187;p27"/>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188" name="Google Shape;188;p27"/>
          <p:cNvSpPr/>
          <p:nvPr/>
        </p:nvSpPr>
        <p:spPr>
          <a:xfrm>
            <a:off x="4724754" y="781402"/>
            <a:ext cx="4419246" cy="5632311"/>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Behavioral isolation is caused by differences in courting or mating behaviors.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If two populations do not use the same courting or mating behaviors, then mating, and therefore gene flow, between the two groups is unlikely to occur.</a:t>
            </a:r>
            <a:endParaRPr/>
          </a:p>
          <a:p>
            <a:pPr indent="-33337" lvl="0" marL="185738" marR="0" rtl="0" algn="l">
              <a:spcBef>
                <a:spcPts val="0"/>
              </a:spcBef>
              <a:spcAft>
                <a:spcPts val="0"/>
              </a:spcAft>
              <a:buClr>
                <a:schemeClr val="dk1"/>
              </a:buClr>
              <a:buSzPts val="2400"/>
              <a:buFont typeface="Arial"/>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Why does having different mating seasons lead to speciation within a population?</a:t>
            </a:r>
            <a:endParaRPr/>
          </a:p>
        </p:txBody>
      </p:sp>
      <p:sp>
        <p:nvSpPr>
          <p:cNvPr id="189" name="Google Shape;189;p27"/>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190" name="Google Shape;190;p2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191" name="Google Shape;191;p27"/>
          <p:cNvSpPr/>
          <p:nvPr/>
        </p:nvSpPr>
        <p:spPr>
          <a:xfrm>
            <a:off x="1394847" y="3123194"/>
            <a:ext cx="45720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Red-legged Frog</a:t>
            </a:r>
            <a:endParaRPr sz="1800">
              <a:solidFill>
                <a:schemeClr val="dk1"/>
              </a:solidFill>
              <a:latin typeface="Cambria"/>
              <a:ea typeface="Cambria"/>
              <a:cs typeface="Cambria"/>
              <a:sym typeface="Cambria"/>
            </a:endParaRPr>
          </a:p>
        </p:txBody>
      </p:sp>
      <p:pic>
        <p:nvPicPr>
          <p:cNvPr descr="A green frog&#10;&#10;Description automatically generated" id="192" name="Google Shape;192;p27"/>
          <p:cNvPicPr preferRelativeResize="0"/>
          <p:nvPr/>
        </p:nvPicPr>
        <p:blipFill rotWithShape="1">
          <a:blip r:embed="rId3">
            <a:alphaModFix/>
          </a:blip>
          <a:srcRect b="0" l="0" r="0" t="0"/>
          <a:stretch/>
        </p:blipFill>
        <p:spPr>
          <a:xfrm>
            <a:off x="457200" y="813619"/>
            <a:ext cx="4114800" cy="2309575"/>
          </a:xfrm>
          <a:prstGeom prst="rect">
            <a:avLst/>
          </a:prstGeom>
          <a:noFill/>
          <a:ln>
            <a:noFill/>
          </a:ln>
        </p:spPr>
      </p:pic>
      <p:pic>
        <p:nvPicPr>
          <p:cNvPr descr="A frog sitting on a rock&#10;&#10;Description automatically generated" id="193" name="Google Shape;193;p27"/>
          <p:cNvPicPr preferRelativeResize="0"/>
          <p:nvPr/>
        </p:nvPicPr>
        <p:blipFill rotWithShape="1">
          <a:blip r:embed="rId4">
            <a:alphaModFix/>
          </a:blip>
          <a:srcRect b="0" l="0" r="0" t="0"/>
          <a:stretch/>
        </p:blipFill>
        <p:spPr>
          <a:xfrm>
            <a:off x="457200" y="3571906"/>
            <a:ext cx="4114800" cy="2472475"/>
          </a:xfrm>
          <a:prstGeom prst="rect">
            <a:avLst/>
          </a:prstGeom>
          <a:noFill/>
          <a:ln>
            <a:noFill/>
          </a:ln>
        </p:spPr>
      </p:pic>
      <p:sp>
        <p:nvSpPr>
          <p:cNvPr id="194" name="Google Shape;194;p27"/>
          <p:cNvSpPr/>
          <p:nvPr/>
        </p:nvSpPr>
        <p:spPr>
          <a:xfrm>
            <a:off x="1394847" y="6001846"/>
            <a:ext cx="457200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Yellow-legged Frog</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02" name="Google Shape;202;p28"/>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03" name="Google Shape;203;p28"/>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pic>
        <p:nvPicPr>
          <p:cNvPr id="204" name="Google Shape;204;p28"/>
          <p:cNvPicPr preferRelativeResize="0"/>
          <p:nvPr/>
        </p:nvPicPr>
        <p:blipFill rotWithShape="1">
          <a:blip r:embed="rId3">
            <a:alphaModFix/>
          </a:blip>
          <a:srcRect b="0" l="0" r="0" t="0"/>
          <a:stretch/>
        </p:blipFill>
        <p:spPr>
          <a:xfrm>
            <a:off x="8216431" y="231699"/>
            <a:ext cx="656635" cy="628039"/>
          </a:xfrm>
          <a:prstGeom prst="rect">
            <a:avLst/>
          </a:prstGeom>
          <a:noFill/>
          <a:ln>
            <a:noFill/>
          </a:ln>
        </p:spPr>
      </p:pic>
      <p:sp>
        <p:nvSpPr>
          <p:cNvPr id="205" name="Google Shape;205;p28"/>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pic>
        <p:nvPicPr>
          <p:cNvPr descr="main (7).mp4" id="206" name="Google Shape;206;p28"/>
          <p:cNvPicPr preferRelativeResize="0"/>
          <p:nvPr/>
        </p:nvPicPr>
        <p:blipFill rotWithShape="1">
          <a:blip r:embed="rId4">
            <a:alphaModFix/>
          </a:blip>
          <a:srcRect b="0" l="0" r="0" t="0"/>
          <a:stretch/>
        </p:blipFill>
        <p:spPr>
          <a:xfrm>
            <a:off x="438428" y="965244"/>
            <a:ext cx="8434638" cy="4744483"/>
          </a:xfrm>
          <a:prstGeom prst="rect">
            <a:avLst/>
          </a:prstGeom>
          <a:noFill/>
          <a:ln>
            <a:noFill/>
          </a:ln>
        </p:spPr>
      </p:pic>
      <p:sp>
        <p:nvSpPr>
          <p:cNvPr id="207" name="Google Shape;207;p28"/>
          <p:cNvSpPr/>
          <p:nvPr/>
        </p:nvSpPr>
        <p:spPr>
          <a:xfrm>
            <a:off x="3457849" y="6170888"/>
            <a:ext cx="222830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4C4E50"/>
                </a:solidFill>
                <a:latin typeface="Cambria"/>
                <a:ea typeface="Cambria"/>
                <a:cs typeface="Cambria"/>
                <a:sym typeface="Cambria"/>
              </a:rPr>
              <a:t>Eastern meadowlark</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15" name="Google Shape;215;p29"/>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16" name="Google Shape;216;p29"/>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pic>
        <p:nvPicPr>
          <p:cNvPr id="217" name="Google Shape;217;p29"/>
          <p:cNvPicPr preferRelativeResize="0"/>
          <p:nvPr/>
        </p:nvPicPr>
        <p:blipFill rotWithShape="1">
          <a:blip r:embed="rId3">
            <a:alphaModFix/>
          </a:blip>
          <a:srcRect b="0" l="0" r="0" t="0"/>
          <a:stretch/>
        </p:blipFill>
        <p:spPr>
          <a:xfrm>
            <a:off x="8216431" y="231699"/>
            <a:ext cx="656635" cy="628039"/>
          </a:xfrm>
          <a:prstGeom prst="rect">
            <a:avLst/>
          </a:prstGeom>
          <a:noFill/>
          <a:ln>
            <a:noFill/>
          </a:ln>
        </p:spPr>
      </p:pic>
      <p:sp>
        <p:nvSpPr>
          <p:cNvPr id="218" name="Google Shape;218;p2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pic>
        <p:nvPicPr>
          <p:cNvPr descr="main (8).mp4" id="219" name="Google Shape;219;p29"/>
          <p:cNvPicPr preferRelativeResize="0"/>
          <p:nvPr/>
        </p:nvPicPr>
        <p:blipFill rotWithShape="1">
          <a:blip r:embed="rId4">
            <a:alphaModFix/>
          </a:blip>
          <a:srcRect b="0" l="0" r="0" t="0"/>
          <a:stretch/>
        </p:blipFill>
        <p:spPr>
          <a:xfrm>
            <a:off x="322822" y="965245"/>
            <a:ext cx="8561967" cy="4816107"/>
          </a:xfrm>
          <a:prstGeom prst="rect">
            <a:avLst/>
          </a:prstGeom>
          <a:noFill/>
          <a:ln>
            <a:noFill/>
          </a:ln>
        </p:spPr>
      </p:pic>
      <p:sp>
        <p:nvSpPr>
          <p:cNvPr id="220" name="Google Shape;220;p29"/>
          <p:cNvSpPr/>
          <p:nvPr/>
        </p:nvSpPr>
        <p:spPr>
          <a:xfrm>
            <a:off x="3456343" y="6188255"/>
            <a:ext cx="229492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4C4E50"/>
                </a:solidFill>
                <a:latin typeface="Cambria"/>
                <a:ea typeface="Cambria"/>
                <a:cs typeface="Cambria"/>
                <a:sym typeface="Cambria"/>
              </a:rPr>
              <a:t>Western meadowlark</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A picture containing food&#10;&#10;Description automatically generated" id="227" name="Google Shape;227;p30"/>
          <p:cNvPicPr preferRelativeResize="0"/>
          <p:nvPr/>
        </p:nvPicPr>
        <p:blipFill rotWithShape="1">
          <a:blip r:embed="rId3">
            <a:alphaModFix/>
          </a:blip>
          <a:srcRect b="0" l="0" r="0" t="0"/>
          <a:stretch/>
        </p:blipFill>
        <p:spPr>
          <a:xfrm>
            <a:off x="270934" y="1121172"/>
            <a:ext cx="4758266" cy="3708736"/>
          </a:xfrm>
          <a:prstGeom prst="rect">
            <a:avLst/>
          </a:prstGeom>
          <a:noFill/>
          <a:ln>
            <a:noFill/>
          </a:ln>
        </p:spPr>
      </p:pic>
      <p:sp>
        <p:nvSpPr>
          <p:cNvPr id="228" name="Google Shape;228;p3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29" name="Google Shape;229;p30"/>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30" name="Google Shape;230;p30"/>
          <p:cNvSpPr/>
          <p:nvPr/>
        </p:nvSpPr>
        <p:spPr>
          <a:xfrm>
            <a:off x="5273455" y="1050490"/>
            <a:ext cx="4049218" cy="5324535"/>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Speciation through the diversification of one ancestral species into many descendant species is called adaptive radiation.</a:t>
            </a:r>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Adaptive radiation typically happens quickly as species benefit from less competition, new niches, or specializations that give a selective advantage.</a:t>
            </a:r>
            <a:endParaRPr/>
          </a:p>
          <a:p>
            <a:pPr indent="-58737" lvl="0" marL="185738" marR="0" rtl="0" algn="l">
              <a:spcBef>
                <a:spcPts val="0"/>
              </a:spcBef>
              <a:spcAft>
                <a:spcPts val="0"/>
              </a:spcAft>
              <a:buClr>
                <a:schemeClr val="dk1"/>
              </a:buClr>
              <a:buSzPts val="2000"/>
              <a:buFont typeface="Arial"/>
              <a:buNone/>
            </a:pPr>
            <a:r>
              <a:t/>
            </a:r>
            <a:endParaRPr sz="20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For adaptive radiation to take place, there must be adaptation by a species that leads to speciation.</a:t>
            </a:r>
            <a:endParaRPr/>
          </a:p>
          <a:p>
            <a:pPr indent="-58737" lvl="0" marL="185738" marR="0" rtl="0" algn="l">
              <a:spcBef>
                <a:spcPts val="0"/>
              </a:spcBef>
              <a:spcAft>
                <a:spcPts val="0"/>
              </a:spcAft>
              <a:buClr>
                <a:schemeClr val="dk1"/>
              </a:buClr>
              <a:buSzPts val="2000"/>
              <a:buFont typeface="Arial"/>
              <a:buNone/>
            </a:pPr>
            <a:r>
              <a:t/>
            </a:r>
            <a:endParaRPr b="1" sz="2000">
              <a:solidFill>
                <a:schemeClr val="dk1"/>
              </a:solidFill>
              <a:latin typeface="Cambria"/>
              <a:ea typeface="Cambria"/>
              <a:cs typeface="Cambria"/>
              <a:sym typeface="Cambria"/>
            </a:endParaRPr>
          </a:p>
        </p:txBody>
      </p:sp>
      <p:sp>
        <p:nvSpPr>
          <p:cNvPr id="231" name="Google Shape;231;p30"/>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32" name="Google Shape;232;p3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233" name="Google Shape;233;p30"/>
          <p:cNvSpPr/>
          <p:nvPr/>
        </p:nvSpPr>
        <p:spPr>
          <a:xfrm>
            <a:off x="135467" y="5161180"/>
            <a:ext cx="4572000"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mbria"/>
                <a:ea typeface="Cambria"/>
                <a:cs typeface="Cambria"/>
                <a:sym typeface="Cambria"/>
              </a:rPr>
              <a:t>The diverse finches of the Galápagos Islands came from a common ancestor.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41" name="Google Shape;241;p31"/>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Mechanisms of Speciation</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42" name="Google Shape;242;p31"/>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43" name="Google Shape;243;p3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244" name="Google Shape;244;p31"/>
          <p:cNvSpPr/>
          <p:nvPr/>
        </p:nvSpPr>
        <p:spPr>
          <a:xfrm>
            <a:off x="286719" y="1316335"/>
            <a:ext cx="8857281"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endParaRPr/>
          </a:p>
          <a:p>
            <a:pPr indent="0" lvl="0" marL="0" marR="0" rtl="0" algn="l">
              <a:spcBef>
                <a:spcPts val="0"/>
              </a:spcBef>
              <a:spcAft>
                <a:spcPts val="0"/>
              </a:spcAft>
              <a:buNone/>
            </a:pPr>
            <a:r>
              <a:t/>
            </a: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Which type of reproductive isolation could have led to the speciation of plants in the silversword alliance? Use evidence to support your claim.</a:t>
            </a:r>
            <a:endParaRPr b="1" i="0" sz="2400">
              <a:solidFill>
                <a:srgbClr val="393B3C"/>
              </a:solidFill>
              <a:latin typeface="Cambria"/>
              <a:ea typeface="Cambria"/>
              <a:cs typeface="Cambria"/>
              <a:sym typeface="Cambria"/>
            </a:endParaRPr>
          </a:p>
        </p:txBody>
      </p:sp>
      <p:pic>
        <p:nvPicPr>
          <p:cNvPr descr="A drawing of a person&#10;&#10;Description automatically generated" id="245" name="Google Shape;245;p31"/>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53" name="Google Shape;253;p32"/>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Expansion of Species</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54" name="Google Shape;254;p32"/>
          <p:cNvSpPr/>
          <p:nvPr/>
        </p:nvSpPr>
        <p:spPr>
          <a:xfrm>
            <a:off x="311099" y="1431138"/>
            <a:ext cx="8360448" cy="4154984"/>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Natural environmental changes such as droughts can lead to the expansion of a species' range.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For example, a long-lasting drought can change an ecosystem to make it more suitable for plants adapted to dry conditions. These plants could expand into the ecosystem and outcompete plants that are less well adapted to the dry conditions.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Humans can also cause environmental changes that lead to the expansion of species.</a:t>
            </a:r>
            <a:endParaRPr b="1" sz="2500">
              <a:solidFill>
                <a:schemeClr val="dk1"/>
              </a:solidFill>
              <a:latin typeface="Cambria"/>
              <a:ea typeface="Cambria"/>
              <a:cs typeface="Cambria"/>
              <a:sym typeface="Cambria"/>
            </a:endParaRPr>
          </a:p>
        </p:txBody>
      </p:sp>
      <p:sp>
        <p:nvSpPr>
          <p:cNvPr id="255" name="Google Shape;255;p32"/>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56" name="Google Shape;256;p3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A close up of a map&#10;&#10;Description automatically generated" id="263" name="Google Shape;263;p33"/>
          <p:cNvPicPr preferRelativeResize="0"/>
          <p:nvPr/>
        </p:nvPicPr>
        <p:blipFill rotWithShape="1">
          <a:blip r:embed="rId3">
            <a:alphaModFix/>
          </a:blip>
          <a:srcRect b="0" l="0" r="0" t="0"/>
          <a:stretch/>
        </p:blipFill>
        <p:spPr>
          <a:xfrm>
            <a:off x="135804" y="3556095"/>
            <a:ext cx="4572000" cy="2817377"/>
          </a:xfrm>
          <a:prstGeom prst="rect">
            <a:avLst/>
          </a:prstGeom>
          <a:noFill/>
          <a:ln>
            <a:noFill/>
          </a:ln>
        </p:spPr>
      </p:pic>
      <p:sp>
        <p:nvSpPr>
          <p:cNvPr id="264" name="Google Shape;264;p3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65" name="Google Shape;265;p33"/>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Expansion of Species</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66" name="Google Shape;266;p33"/>
          <p:cNvSpPr/>
          <p:nvPr/>
        </p:nvSpPr>
        <p:spPr>
          <a:xfrm>
            <a:off x="4572000" y="532602"/>
            <a:ext cx="4572000" cy="6001643"/>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Historically, the barred owl lived in the eastern United States. </a:t>
            </a:r>
            <a:endParaRPr/>
          </a:p>
          <a:p>
            <a:pPr indent="-33337" lvl="0" marL="185738"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Much has changed in these ecosystems over the past 100 years. </a:t>
            </a:r>
            <a:endParaRPr/>
          </a:p>
          <a:p>
            <a:pPr indent="-33337" lvl="0" marL="185738"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Environmental changes are potential causes for the barred owl range expansion across British Columbia in Canada into Washington, Oregon, and Northern California in the Pacific Northwest region of the United States.</a:t>
            </a:r>
            <a:endParaRPr b="1" sz="2500">
              <a:solidFill>
                <a:schemeClr val="dk1"/>
              </a:solidFill>
              <a:latin typeface="Cambria"/>
              <a:ea typeface="Cambria"/>
              <a:cs typeface="Cambria"/>
              <a:sym typeface="Cambria"/>
            </a:endParaRPr>
          </a:p>
        </p:txBody>
      </p:sp>
      <p:sp>
        <p:nvSpPr>
          <p:cNvPr id="267" name="Google Shape;267;p33"/>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68" name="Google Shape;268;p3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269" name="Google Shape;269;p33"/>
          <p:cNvSpPr/>
          <p:nvPr/>
        </p:nvSpPr>
        <p:spPr>
          <a:xfrm>
            <a:off x="135805" y="3032875"/>
            <a:ext cx="4571999" cy="58477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mbria"/>
                <a:ea typeface="Cambria"/>
                <a:cs typeface="Cambria"/>
                <a:sym typeface="Cambria"/>
              </a:rPr>
              <a:t>Barred owls have benefited from environmental changes that led to an increase in suitable habitat.</a:t>
            </a:r>
            <a:endParaRPr b="1" sz="1400">
              <a:solidFill>
                <a:schemeClr val="dk1"/>
              </a:solidFill>
              <a:latin typeface="Cambria"/>
              <a:ea typeface="Cambria"/>
              <a:cs typeface="Cambria"/>
              <a:sym typeface="Cambria"/>
            </a:endParaRPr>
          </a:p>
        </p:txBody>
      </p:sp>
      <p:pic>
        <p:nvPicPr>
          <p:cNvPr descr="An owl perched on a tree branch&#10;&#10;Description automatically generated" id="270" name="Google Shape;270;p33"/>
          <p:cNvPicPr preferRelativeResize="0"/>
          <p:nvPr/>
        </p:nvPicPr>
        <p:blipFill rotWithShape="1">
          <a:blip r:embed="rId4">
            <a:alphaModFix/>
          </a:blip>
          <a:srcRect b="0" l="0" r="0" t="0"/>
          <a:stretch/>
        </p:blipFill>
        <p:spPr>
          <a:xfrm>
            <a:off x="256779" y="782053"/>
            <a:ext cx="4315221" cy="232862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78" name="Google Shape;278;p34"/>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Expansion of Species</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79" name="Google Shape;279;p34"/>
          <p:cNvSpPr/>
          <p:nvPr/>
        </p:nvSpPr>
        <p:spPr>
          <a:xfrm>
            <a:off x="4364885" y="633086"/>
            <a:ext cx="4508181" cy="6001643"/>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Climate change is affecting different areas in different ways.</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As areas warm, they may become more suitable for organisms that were previously kept out due to uninviting habitat conditions.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expansion of species into new territories can also lead to hybridization. Hybridization occurs when two distinct, but closely related, species are able to successfully mate. </a:t>
            </a:r>
            <a:endParaRPr b="1" sz="2500">
              <a:solidFill>
                <a:schemeClr val="dk1"/>
              </a:solidFill>
              <a:latin typeface="Cambria"/>
              <a:ea typeface="Cambria"/>
              <a:cs typeface="Cambria"/>
              <a:sym typeface="Cambria"/>
            </a:endParaRPr>
          </a:p>
        </p:txBody>
      </p:sp>
      <p:sp>
        <p:nvSpPr>
          <p:cNvPr id="280" name="Google Shape;280;p34"/>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81" name="Google Shape;281;p3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282" name="Google Shape;282;p34"/>
          <p:cNvSpPr/>
          <p:nvPr/>
        </p:nvSpPr>
        <p:spPr>
          <a:xfrm>
            <a:off x="207115" y="3995205"/>
            <a:ext cx="4076054"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mbria"/>
                <a:ea typeface="Cambria"/>
                <a:cs typeface="Cambria"/>
                <a:sym typeface="Cambria"/>
              </a:rPr>
              <a:t>Grizzly bears have expanded their range into polar bear habitat.</a:t>
            </a:r>
            <a:endParaRPr b="1" sz="1600">
              <a:solidFill>
                <a:schemeClr val="dk1"/>
              </a:solidFill>
              <a:latin typeface="Cambria"/>
              <a:ea typeface="Cambria"/>
              <a:cs typeface="Cambria"/>
              <a:sym typeface="Cambria"/>
            </a:endParaRPr>
          </a:p>
        </p:txBody>
      </p:sp>
      <p:pic>
        <p:nvPicPr>
          <p:cNvPr descr="A large brown bear walking in the snow&#10;&#10;Description automatically generated" id="283" name="Google Shape;283;p34"/>
          <p:cNvPicPr preferRelativeResize="0"/>
          <p:nvPr/>
        </p:nvPicPr>
        <p:blipFill rotWithShape="1">
          <a:blip r:embed="rId3">
            <a:alphaModFix/>
          </a:blip>
          <a:srcRect b="0" l="0" r="0" t="0"/>
          <a:stretch/>
        </p:blipFill>
        <p:spPr>
          <a:xfrm>
            <a:off x="247973" y="939656"/>
            <a:ext cx="4076054" cy="30555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91" name="Google Shape;291;p35"/>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Expansion of Species</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92" name="Google Shape;292;p35"/>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93" name="Google Shape;293;p35"/>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294" name="Google Shape;294;p35"/>
          <p:cNvSpPr/>
          <p:nvPr/>
        </p:nvSpPr>
        <p:spPr>
          <a:xfrm>
            <a:off x="311099" y="1121172"/>
            <a:ext cx="8686800"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endParaRPr/>
          </a:p>
          <a:p>
            <a:pPr indent="0" lvl="0" marL="0" marR="0" rtl="0" algn="l">
              <a:spcBef>
                <a:spcPts val="0"/>
              </a:spcBef>
              <a:spcAft>
                <a:spcPts val="0"/>
              </a:spcAft>
              <a:buNone/>
            </a:pPr>
            <a:r>
              <a:t/>
            </a:r>
            <a:endParaRPr b="1" sz="2400" cap="none">
              <a:solidFill>
                <a:srgbClr val="393B3C"/>
              </a:solidFill>
              <a:latin typeface="Cambria"/>
              <a:ea typeface="Cambria"/>
              <a:cs typeface="Cambria"/>
              <a:sym typeface="Cambria"/>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How would population expansion most likely occur in the silversword alliance, assuming these plants underwent adaptive radiation?</a:t>
            </a:r>
            <a:endParaRPr b="1" i="0" sz="2400">
              <a:solidFill>
                <a:srgbClr val="393B3C"/>
              </a:solidFill>
              <a:latin typeface="Cambria"/>
              <a:ea typeface="Cambria"/>
              <a:cs typeface="Cambria"/>
              <a:sym typeface="Cambria"/>
            </a:endParaRPr>
          </a:p>
        </p:txBody>
      </p:sp>
      <p:pic>
        <p:nvPicPr>
          <p:cNvPr descr="A drawing of a person&#10;&#10;Description automatically generated" id="295" name="Google Shape;295;p35"/>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03" name="Google Shape;303;p36"/>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Extinction of Species</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304" name="Google Shape;304;p36"/>
          <p:cNvSpPr/>
          <p:nvPr/>
        </p:nvSpPr>
        <p:spPr>
          <a:xfrm>
            <a:off x="253961" y="4942083"/>
            <a:ext cx="8890039"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COLLABORATE</a:t>
            </a:r>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Discuss with a partner how the expansion of a species into a new habitat might affect native species that are already living there.</a:t>
            </a:r>
            <a:endParaRPr/>
          </a:p>
        </p:txBody>
      </p:sp>
      <p:sp>
        <p:nvSpPr>
          <p:cNvPr id="305" name="Google Shape;305;p36"/>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306" name="Google Shape;306;p3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307" name="Google Shape;307;p36"/>
          <p:cNvSpPr/>
          <p:nvPr/>
        </p:nvSpPr>
        <p:spPr>
          <a:xfrm>
            <a:off x="4698980" y="3926294"/>
            <a:ext cx="4396924" cy="83099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mbria"/>
                <a:ea typeface="Cambria"/>
                <a:cs typeface="Cambria"/>
                <a:sym typeface="Cambria"/>
              </a:rPr>
              <a:t>Owl Populations | Competition for resources has increased with the increasing barred owl population in the Pacific Northwest.</a:t>
            </a:r>
            <a:endParaRPr/>
          </a:p>
        </p:txBody>
      </p:sp>
      <p:sp>
        <p:nvSpPr>
          <p:cNvPr id="308" name="Google Shape;308;p36"/>
          <p:cNvSpPr/>
          <p:nvPr/>
        </p:nvSpPr>
        <p:spPr>
          <a:xfrm>
            <a:off x="166423" y="3641176"/>
            <a:ext cx="4572000" cy="10772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4C4E50"/>
                </a:solidFill>
                <a:latin typeface="Cambria"/>
                <a:ea typeface="Cambria"/>
                <a:cs typeface="Cambria"/>
                <a:sym typeface="Cambria"/>
              </a:rPr>
              <a:t>Northern Spotted Owl and Barred Owl Territory | The barred owl range has expanded to cover most of the northern spotted owl range in the Pacific Northwest.</a:t>
            </a:r>
            <a:endParaRPr sz="1600">
              <a:solidFill>
                <a:schemeClr val="dk1"/>
              </a:solidFill>
              <a:latin typeface="Cambria"/>
              <a:ea typeface="Cambria"/>
              <a:cs typeface="Cambria"/>
              <a:sym typeface="Cambria"/>
            </a:endParaRPr>
          </a:p>
        </p:txBody>
      </p:sp>
      <p:pic>
        <p:nvPicPr>
          <p:cNvPr descr="A close up of a map&#10;&#10;Description automatically generated" id="309" name="Google Shape;309;p36"/>
          <p:cNvPicPr preferRelativeResize="0"/>
          <p:nvPr/>
        </p:nvPicPr>
        <p:blipFill rotWithShape="1">
          <a:blip r:embed="rId3">
            <a:alphaModFix/>
          </a:blip>
          <a:srcRect b="0" l="0" r="0" t="0"/>
          <a:stretch/>
        </p:blipFill>
        <p:spPr>
          <a:xfrm>
            <a:off x="253961" y="794376"/>
            <a:ext cx="4396924" cy="3179821"/>
          </a:xfrm>
          <a:prstGeom prst="rect">
            <a:avLst/>
          </a:prstGeom>
          <a:noFill/>
          <a:ln>
            <a:noFill/>
          </a:ln>
        </p:spPr>
      </p:pic>
      <p:pic>
        <p:nvPicPr>
          <p:cNvPr descr="A close up of a map&#10;&#10;Description automatically generated" id="310" name="Google Shape;310;p36"/>
          <p:cNvPicPr preferRelativeResize="0"/>
          <p:nvPr/>
        </p:nvPicPr>
        <p:blipFill rotWithShape="1">
          <a:blip r:embed="rId4">
            <a:alphaModFix/>
          </a:blip>
          <a:srcRect b="0" l="0" r="0" t="0"/>
          <a:stretch/>
        </p:blipFill>
        <p:spPr>
          <a:xfrm>
            <a:off x="4729995" y="772809"/>
            <a:ext cx="4276494" cy="320138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7"/>
          <p:cNvSpPr txBox="1"/>
          <p:nvPr>
            <p:ph type="title"/>
          </p:nvPr>
        </p:nvSpPr>
        <p:spPr>
          <a:xfrm>
            <a:off x="147538" y="244020"/>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Extinction of Species</a:t>
            </a:r>
            <a:br>
              <a:rPr lang="en-US">
                <a:solidFill>
                  <a:srgbClr val="F2A900"/>
                </a:solidFill>
                <a:latin typeface="Cambria"/>
                <a:ea typeface="Cambria"/>
                <a:cs typeface="Cambria"/>
                <a:sym typeface="Cambria"/>
              </a:rPr>
            </a:br>
            <a:r>
              <a:rPr lang="en-US">
                <a:solidFill>
                  <a:srgbClr val="00B050"/>
                </a:solidFill>
                <a:latin typeface="Cambria"/>
                <a:ea typeface="Cambria"/>
                <a:cs typeface="Cambria"/>
                <a:sym typeface="Cambria"/>
              </a:rPr>
              <a:t>Cause and Effect</a:t>
            </a:r>
            <a:endParaRPr/>
          </a:p>
        </p:txBody>
      </p:sp>
      <p:sp>
        <p:nvSpPr>
          <p:cNvPr id="318" name="Google Shape;318;p3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19" name="Google Shape;319;p37"/>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320" name="Google Shape;320;p37"/>
          <p:cNvSpPr txBox="1"/>
          <p:nvPr/>
        </p:nvSpPr>
        <p:spPr>
          <a:xfrm>
            <a:off x="3548810" y="780892"/>
            <a:ext cx="5595190"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EXPLAIN</a:t>
            </a:r>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Use the graphs to answer the following questions in your Evidence Notebook.</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457200" lvl="0" marL="457200" marR="0" rtl="0" algn="l">
              <a:spcBef>
                <a:spcPts val="0"/>
              </a:spcBef>
              <a:spcAft>
                <a:spcPts val="0"/>
              </a:spcAft>
              <a:buClr>
                <a:schemeClr val="dk1"/>
              </a:buClr>
              <a:buSzPts val="2400"/>
              <a:buFont typeface="Arial"/>
              <a:buAutoNum type="arabicPeriod"/>
            </a:pPr>
            <a:r>
              <a:rPr b="1" lang="en-US" sz="2400">
                <a:solidFill>
                  <a:schemeClr val="dk1"/>
                </a:solidFill>
                <a:latin typeface="Cambria"/>
                <a:ea typeface="Cambria"/>
                <a:cs typeface="Cambria"/>
                <a:sym typeface="Cambria"/>
              </a:rPr>
              <a:t>What patterns or trends are shown in the Extinction Rates Through Time graph? What is the cause of these patterns?</a:t>
            </a:r>
            <a:endParaRPr/>
          </a:p>
          <a:p>
            <a:pPr indent="-457200" lvl="0" marL="457200" marR="0" rtl="0" algn="l">
              <a:spcBef>
                <a:spcPts val="0"/>
              </a:spcBef>
              <a:spcAft>
                <a:spcPts val="0"/>
              </a:spcAft>
              <a:buClr>
                <a:schemeClr val="dk1"/>
              </a:buClr>
              <a:buSzPts val="2400"/>
              <a:buFont typeface="Arial"/>
              <a:buAutoNum type="arabicPeriod"/>
            </a:pPr>
            <a:r>
              <a:rPr b="1" lang="en-US" sz="2400">
                <a:solidFill>
                  <a:schemeClr val="dk1"/>
                </a:solidFill>
                <a:latin typeface="Cambria"/>
                <a:ea typeface="Cambria"/>
                <a:cs typeface="Cambria"/>
                <a:sym typeface="Cambria"/>
              </a:rPr>
              <a:t>What patterns or trends are shown in the Humans and the Extinction Crisis graph? What is the cause of these patterns?</a:t>
            </a:r>
            <a:endParaRPr/>
          </a:p>
          <a:p>
            <a:pPr indent="-457200" lvl="0" marL="457200" marR="0" rtl="0" algn="l">
              <a:spcBef>
                <a:spcPts val="0"/>
              </a:spcBef>
              <a:spcAft>
                <a:spcPts val="0"/>
              </a:spcAft>
              <a:buClr>
                <a:schemeClr val="dk1"/>
              </a:buClr>
              <a:buSzPts val="2400"/>
              <a:buFont typeface="Arial"/>
              <a:buAutoNum type="arabicPeriod"/>
            </a:pPr>
            <a:r>
              <a:rPr b="1" lang="en-US" sz="2400">
                <a:solidFill>
                  <a:schemeClr val="dk1"/>
                </a:solidFill>
                <a:latin typeface="Cambria"/>
                <a:ea typeface="Cambria"/>
                <a:cs typeface="Cambria"/>
                <a:sym typeface="Cambria"/>
              </a:rPr>
              <a:t>Is there a relationship between the two graphs? Explain your answer.</a:t>
            </a:r>
            <a:endParaRPr/>
          </a:p>
        </p:txBody>
      </p:sp>
      <p:sp>
        <p:nvSpPr>
          <p:cNvPr id="321" name="Google Shape;321;p3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322" name="Google Shape;322;p37"/>
          <p:cNvSpPr/>
          <p:nvPr/>
        </p:nvSpPr>
        <p:spPr>
          <a:xfrm>
            <a:off x="-470509" y="3769566"/>
            <a:ext cx="4572000" cy="33855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mbria"/>
                <a:ea typeface="Cambria"/>
                <a:cs typeface="Cambria"/>
                <a:sym typeface="Cambria"/>
              </a:rPr>
              <a:t>Extinction Rates Through Time </a:t>
            </a:r>
            <a:endParaRPr/>
          </a:p>
        </p:txBody>
      </p:sp>
      <p:pic>
        <p:nvPicPr>
          <p:cNvPr descr="A close up of a logo&#10;&#10;Description automatically generated" id="323" name="Google Shape;323;p37"/>
          <p:cNvPicPr preferRelativeResize="0"/>
          <p:nvPr/>
        </p:nvPicPr>
        <p:blipFill rotWithShape="1">
          <a:blip r:embed="rId3">
            <a:alphaModFix/>
          </a:blip>
          <a:srcRect b="0" l="0" r="0" t="0"/>
          <a:stretch/>
        </p:blipFill>
        <p:spPr>
          <a:xfrm>
            <a:off x="257695" y="1191181"/>
            <a:ext cx="2983120" cy="2634258"/>
          </a:xfrm>
          <a:prstGeom prst="rect">
            <a:avLst/>
          </a:prstGeom>
          <a:noFill/>
          <a:ln>
            <a:noFill/>
          </a:ln>
        </p:spPr>
      </p:pic>
      <p:pic>
        <p:nvPicPr>
          <p:cNvPr descr="A close up of a piece of paper&#10;&#10;Description automatically generated" id="324" name="Google Shape;324;p37"/>
          <p:cNvPicPr preferRelativeResize="0"/>
          <p:nvPr/>
        </p:nvPicPr>
        <p:blipFill rotWithShape="1">
          <a:blip r:embed="rId4">
            <a:alphaModFix/>
          </a:blip>
          <a:srcRect b="0" l="0" r="0" t="0"/>
          <a:stretch/>
        </p:blipFill>
        <p:spPr>
          <a:xfrm>
            <a:off x="82173" y="4103220"/>
            <a:ext cx="3466637" cy="2215266"/>
          </a:xfrm>
          <a:prstGeom prst="rect">
            <a:avLst/>
          </a:prstGeom>
          <a:noFill/>
          <a:ln>
            <a:noFill/>
          </a:ln>
        </p:spPr>
      </p:pic>
      <p:sp>
        <p:nvSpPr>
          <p:cNvPr id="325" name="Google Shape;325;p37"/>
          <p:cNvSpPr/>
          <p:nvPr/>
        </p:nvSpPr>
        <p:spPr>
          <a:xfrm>
            <a:off x="457200" y="6242189"/>
            <a:ext cx="4572000" cy="33855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4C4E50"/>
                </a:solidFill>
                <a:latin typeface="Cambria"/>
                <a:ea typeface="Cambria"/>
                <a:cs typeface="Cambria"/>
                <a:sym typeface="Cambria"/>
              </a:rPr>
              <a:t>Humans and the Extinction Crisis </a:t>
            </a:r>
            <a:endParaRPr sz="16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33" name="Google Shape;333;p38"/>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Extinction of Species</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334" name="Google Shape;334;p38"/>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335" name="Google Shape;335;p38"/>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336" name="Google Shape;336;p38"/>
          <p:cNvSpPr/>
          <p:nvPr/>
        </p:nvSpPr>
        <p:spPr>
          <a:xfrm>
            <a:off x="123986" y="794668"/>
            <a:ext cx="9020014" cy="5632311"/>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Many scientists think that Earth is currently experiencing a sixth mass extinction. The sixth mass extinction is characterized by extinction rates that are 1000 to 10,000 times the background rate. </a:t>
            </a:r>
            <a:endParaRPr/>
          </a:p>
          <a:p>
            <a:pPr indent="-33337" lvl="0" marL="185738"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current extinction event is caused almost entirely by human behaviors such as the burning of fossil fuels, destruction of habitat, and introduction of invasive species.</a:t>
            </a:r>
            <a:endParaRPr/>
          </a:p>
          <a:p>
            <a:pPr indent="-33337" lvl="0" marL="185738"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Climate change is caused by the release of large amounts of greenhouse gases—such as carbon dioxide—into the air, mostly from the burning of fossil fuels. </a:t>
            </a:r>
            <a:endParaRPr/>
          </a:p>
          <a:p>
            <a:pPr indent="-33337" lvl="0" marL="185738" marR="0" rtl="0" algn="l">
              <a:spcBef>
                <a:spcPts val="0"/>
              </a:spcBef>
              <a:spcAft>
                <a:spcPts val="0"/>
              </a:spcAft>
              <a:buClr>
                <a:schemeClr val="dk1"/>
              </a:buClr>
              <a:buSzPts val="2400"/>
              <a:buFont typeface="Arial"/>
              <a:buNone/>
            </a:pPr>
            <a:r>
              <a:t/>
            </a:r>
            <a:endParaRPr sz="24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Other species may go extinct if their populations cannot adapt quickly enough to the changing environmental conditions. </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44" name="Google Shape;344;p39"/>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Extinction of Species</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345" name="Google Shape;345;p39"/>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346" name="Google Shape;346;p3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347" name="Google Shape;347;p39"/>
          <p:cNvSpPr/>
          <p:nvPr/>
        </p:nvSpPr>
        <p:spPr>
          <a:xfrm>
            <a:off x="3952068" y="718128"/>
            <a:ext cx="5191932" cy="4401205"/>
          </a:xfrm>
          <a:prstGeom prst="rect">
            <a:avLst/>
          </a:prstGeom>
          <a:noFill/>
          <a:ln>
            <a:noFill/>
          </a:ln>
        </p:spPr>
        <p:txBody>
          <a:bodyPr anchorCtr="0" anchor="t" bIns="45700" lIns="91425" spcFirstLastPara="1" rIns="91425" wrap="square" tIns="45700">
            <a:noAutofit/>
          </a:bodyPr>
          <a:lstStyle/>
          <a:p>
            <a:pPr indent="-185738" lvl="0" marL="185738"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Rising sea temperatures are the leading cause of coral bleaching.</a:t>
            </a:r>
            <a:endParaRPr/>
          </a:p>
          <a:p>
            <a:pPr indent="-58737" lvl="0" marL="185738" marR="0" rtl="0" algn="l">
              <a:spcBef>
                <a:spcPts val="0"/>
              </a:spcBef>
              <a:spcAft>
                <a:spcPts val="0"/>
              </a:spcAft>
              <a:buClr>
                <a:schemeClr val="dk1"/>
              </a:buClr>
              <a:buSzPts val="2000"/>
              <a:buFont typeface="Arial"/>
              <a:buNone/>
            </a:pPr>
            <a:r>
              <a:t/>
            </a:r>
            <a:endParaRPr sz="20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Ocean acidification occurs when carbon dioxide is absorbed by seawater. The reaction results in a decrease of carbonate which coral reefs need to survive.</a:t>
            </a:r>
            <a:endParaRPr/>
          </a:p>
          <a:p>
            <a:pPr indent="0" lvl="0" marL="0" marR="0" rtl="0" algn="l">
              <a:spcBef>
                <a:spcPts val="0"/>
              </a:spcBef>
              <a:spcAft>
                <a:spcPts val="0"/>
              </a:spcAft>
              <a:buNone/>
            </a:pPr>
            <a:r>
              <a:t/>
            </a:r>
            <a:endParaRPr sz="2000">
              <a:solidFill>
                <a:schemeClr val="dk1"/>
              </a:solidFill>
              <a:latin typeface="Cambria"/>
              <a:ea typeface="Cambria"/>
              <a:cs typeface="Cambria"/>
              <a:sym typeface="Cambria"/>
            </a:endParaRPr>
          </a:p>
          <a:p>
            <a:pPr indent="-185738" lvl="0" marL="185738"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Many coral reefs are located in areas with extreme weather events. It is predicted that climate change will increase the frequency and intensity of severe storms.</a:t>
            </a:r>
            <a:endParaRPr/>
          </a:p>
          <a:p>
            <a:pPr indent="-58737" lvl="0" marL="185738" marR="0" rtl="0" algn="l">
              <a:spcBef>
                <a:spcPts val="0"/>
              </a:spcBef>
              <a:spcAft>
                <a:spcPts val="0"/>
              </a:spcAft>
              <a:buClr>
                <a:schemeClr val="dk1"/>
              </a:buClr>
              <a:buSzPts val="2000"/>
              <a:buFont typeface="Arial"/>
              <a:buNone/>
            </a:pPr>
            <a:r>
              <a:t/>
            </a:r>
            <a:endParaRPr sz="2000">
              <a:solidFill>
                <a:schemeClr val="dk1"/>
              </a:solidFill>
              <a:latin typeface="Cambria"/>
              <a:ea typeface="Cambria"/>
              <a:cs typeface="Cambria"/>
              <a:sym typeface="Cambria"/>
            </a:endParaRPr>
          </a:p>
          <a:p>
            <a:pPr indent="-58737" lvl="0" marL="185738" marR="0" rtl="0" algn="l">
              <a:spcBef>
                <a:spcPts val="0"/>
              </a:spcBef>
              <a:spcAft>
                <a:spcPts val="0"/>
              </a:spcAft>
              <a:buClr>
                <a:schemeClr val="dk1"/>
              </a:buClr>
              <a:buSzPts val="2000"/>
              <a:buFont typeface="Arial"/>
              <a:buNone/>
            </a:pPr>
            <a:r>
              <a:t/>
            </a:r>
            <a:endParaRPr sz="2000">
              <a:solidFill>
                <a:schemeClr val="dk1"/>
              </a:solidFill>
              <a:latin typeface="Cambria"/>
              <a:ea typeface="Cambria"/>
              <a:cs typeface="Cambria"/>
              <a:sym typeface="Cambria"/>
            </a:endParaRPr>
          </a:p>
        </p:txBody>
      </p:sp>
      <p:pic>
        <p:nvPicPr>
          <p:cNvPr descr="Underwater view of a coral&#10;&#10;Description automatically generated" id="348" name="Google Shape;348;p39"/>
          <p:cNvPicPr preferRelativeResize="0"/>
          <p:nvPr/>
        </p:nvPicPr>
        <p:blipFill rotWithShape="1">
          <a:blip r:embed="rId3">
            <a:alphaModFix/>
          </a:blip>
          <a:srcRect b="0" l="0" r="0" t="0"/>
          <a:stretch/>
        </p:blipFill>
        <p:spPr>
          <a:xfrm>
            <a:off x="193429" y="1121172"/>
            <a:ext cx="3758639" cy="2817603"/>
          </a:xfrm>
          <a:prstGeom prst="rect">
            <a:avLst/>
          </a:prstGeom>
          <a:noFill/>
          <a:ln>
            <a:noFill/>
          </a:ln>
        </p:spPr>
      </p:pic>
      <p:sp>
        <p:nvSpPr>
          <p:cNvPr id="349" name="Google Shape;349;p39"/>
          <p:cNvSpPr/>
          <p:nvPr/>
        </p:nvSpPr>
        <p:spPr>
          <a:xfrm>
            <a:off x="26107" y="3987631"/>
            <a:ext cx="3758640"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mbria"/>
                <a:ea typeface="Cambria"/>
                <a:cs typeface="Cambria"/>
                <a:sym typeface="Cambria"/>
              </a:rPr>
              <a:t>Coral bleaching is a stress response in corals. </a:t>
            </a:r>
            <a:endParaRPr sz="1800">
              <a:solidFill>
                <a:schemeClr val="dk1"/>
              </a:solidFill>
              <a:latin typeface="Times New Roman"/>
              <a:ea typeface="Times New Roman"/>
              <a:cs typeface="Times New Roman"/>
              <a:sym typeface="Times New Roman"/>
            </a:endParaRPr>
          </a:p>
        </p:txBody>
      </p:sp>
      <p:sp>
        <p:nvSpPr>
          <p:cNvPr id="350" name="Google Shape;350;p39"/>
          <p:cNvSpPr/>
          <p:nvPr/>
        </p:nvSpPr>
        <p:spPr>
          <a:xfrm>
            <a:off x="186266" y="4987927"/>
            <a:ext cx="8686800"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cap="none">
                <a:solidFill>
                  <a:srgbClr val="393B3C"/>
                </a:solidFill>
                <a:latin typeface="Cambria"/>
                <a:ea typeface="Cambria"/>
                <a:cs typeface="Cambria"/>
                <a:sym typeface="Cambria"/>
              </a:rPr>
              <a:t>EXPLAIN</a:t>
            </a:r>
            <a:endParaRPr/>
          </a:p>
          <a:p>
            <a:pPr indent="0" lvl="0" marL="0" marR="0" rtl="0" algn="l">
              <a:spcBef>
                <a:spcPts val="0"/>
              </a:spcBef>
              <a:spcAft>
                <a:spcPts val="0"/>
              </a:spcAft>
              <a:buNone/>
            </a:pPr>
            <a:r>
              <a:rPr b="1" lang="en-US" sz="2400">
                <a:solidFill>
                  <a:srgbClr val="393B3C"/>
                </a:solidFill>
                <a:latin typeface="Cambria"/>
                <a:ea typeface="Cambria"/>
                <a:cs typeface="Cambria"/>
                <a:sym typeface="Cambria"/>
              </a:rPr>
              <a:t>What might happen if a species that is well adapted to lower pH and higher temperatures was introduced to coral reefs in the Hawaiian Islands?</a:t>
            </a:r>
            <a:endParaRPr b="1" i="0" sz="2400">
              <a:solidFill>
                <a:srgbClr val="393B3C"/>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58" name="Google Shape;358;p40"/>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7030A0"/>
              </a:buClr>
              <a:buSzPts val="2800"/>
              <a:buFont typeface="Cambria"/>
              <a:buNone/>
            </a:pPr>
            <a:r>
              <a:rPr b="1" lang="en-US" sz="2800">
                <a:solidFill>
                  <a:srgbClr val="7030A0"/>
                </a:solidFill>
                <a:latin typeface="Cambria"/>
                <a:ea typeface="Cambria"/>
                <a:cs typeface="Cambria"/>
                <a:sym typeface="Cambria"/>
              </a:rPr>
              <a:t>Continue Your Exploration</a:t>
            </a:r>
            <a:endParaRPr/>
          </a:p>
        </p:txBody>
      </p:sp>
      <p:sp>
        <p:nvSpPr>
          <p:cNvPr id="359" name="Google Shape;359;p40"/>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360" name="Google Shape;360;p40"/>
          <p:cNvSpPr/>
          <p:nvPr/>
        </p:nvSpPr>
        <p:spPr>
          <a:xfrm>
            <a:off x="311099" y="1366719"/>
            <a:ext cx="8375701" cy="387798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300">
                <a:solidFill>
                  <a:schemeClr val="dk1"/>
                </a:solidFill>
                <a:latin typeface="Cambria"/>
                <a:ea typeface="Cambria"/>
                <a:cs typeface="Cambria"/>
                <a:sym typeface="Cambria"/>
              </a:rPr>
              <a:t>Choose one of the paths below to continue your exploration:</a:t>
            </a:r>
            <a:endParaRPr/>
          </a:p>
          <a:p>
            <a:pPr indent="0" lvl="0" marL="0" marR="0" rtl="0" algn="ctr">
              <a:spcBef>
                <a:spcPts val="0"/>
              </a:spcBef>
              <a:spcAft>
                <a:spcPts val="0"/>
              </a:spcAft>
              <a:buNone/>
            </a:pPr>
            <a:r>
              <a:t/>
            </a:r>
            <a:endParaRPr b="1" sz="23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Career: Bioinformatics</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Patterns in Evolution and Speciation</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Mimicry</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500"/>
              <a:buFont typeface="Arial"/>
              <a:buChar char="•"/>
            </a:pPr>
            <a:r>
              <a:rPr b="1" lang="en-US" sz="2500">
                <a:solidFill>
                  <a:schemeClr val="dk1"/>
                </a:solidFill>
                <a:latin typeface="Cambria"/>
                <a:ea typeface="Cambria"/>
                <a:cs typeface="Cambria"/>
                <a:sym typeface="Cambria"/>
              </a:rPr>
              <a:t>Hybridization</a:t>
            </a:r>
            <a:endParaRPr/>
          </a:p>
        </p:txBody>
      </p:sp>
      <p:sp>
        <p:nvSpPr>
          <p:cNvPr id="361" name="Google Shape;361;p4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1"/>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369" name="Google Shape;369;p4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70" name="Google Shape;370;p4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9 Lesson 2</a:t>
            </a:r>
            <a:endParaRPr/>
          </a:p>
        </p:txBody>
      </p:sp>
      <p:sp>
        <p:nvSpPr>
          <p:cNvPr id="371" name="Google Shape;371;p41"/>
          <p:cNvSpPr/>
          <p:nvPr/>
        </p:nvSpPr>
        <p:spPr>
          <a:xfrm>
            <a:off x="409906" y="1488211"/>
            <a:ext cx="8521800"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The plants in the silversword alliance have a common ancestor. Refer to the notes in your Evidence Notebook to explain how they developed different characteristics. In your answer, consider how changes or differences in the environment affect the emergence and disappearance of species.</a:t>
            </a:r>
            <a:endParaRPr/>
          </a:p>
        </p:txBody>
      </p:sp>
      <p:pic>
        <p:nvPicPr>
          <p:cNvPr descr="A drawing of a person&#10;&#10;Description automatically generated" id="372" name="Google Shape;372;p41"/>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Image Credits</a:t>
            </a:r>
            <a:endParaRPr/>
          </a:p>
        </p:txBody>
      </p:sp>
      <p:sp>
        <p:nvSpPr>
          <p:cNvPr id="378" name="Google Shape;378;p4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400"/>
              <a:buNone/>
            </a:pPr>
            <a:r>
              <a:rPr b="1" lang="en-US"/>
              <a:t>Unit 9 Lesson 2</a:t>
            </a:r>
            <a:endParaRPr/>
          </a:p>
          <a:p>
            <a:pPr indent="0" lvl="0" marL="0" rtl="0" algn="l">
              <a:spcBef>
                <a:spcPts val="0"/>
              </a:spcBef>
              <a:spcAft>
                <a:spcPts val="0"/>
              </a:spcAft>
              <a:buClr>
                <a:schemeClr val="dk1"/>
              </a:buClr>
              <a:buSzPts val="2400"/>
              <a:buNone/>
            </a:pPr>
            <a:r>
              <a:t/>
            </a:r>
            <a:endParaRPr b="1"/>
          </a:p>
          <a:p>
            <a:pPr indent="0" lvl="0" marL="0" rtl="0" algn="l">
              <a:spcBef>
                <a:spcPts val="0"/>
              </a:spcBef>
              <a:spcAft>
                <a:spcPts val="0"/>
              </a:spcAft>
              <a:buClr>
                <a:schemeClr val="dk1"/>
              </a:buClr>
              <a:buSzPts val="2400"/>
              <a:buNone/>
            </a:pPr>
            <a:r>
              <a:rPr i="1" lang="en-US"/>
              <a:t>Dubautia laxa</a:t>
            </a:r>
            <a:r>
              <a:rPr lang="en-US"/>
              <a:t> ©Mark W. Skinner at USDA-NRCS PLANTS Database; </a:t>
            </a:r>
            <a:r>
              <a:rPr i="1" lang="en-US"/>
              <a:t>Argyroxiphium sandwicense</a:t>
            </a:r>
            <a:r>
              <a:rPr lang="en-US"/>
              <a:t> ©National Park Service, Hawaii Haleakala National Park; </a:t>
            </a:r>
            <a:r>
              <a:rPr i="1" lang="en-US"/>
              <a:t>Dubautia waialealae</a:t>
            </a:r>
            <a:r>
              <a:rPr lang="en-US"/>
              <a:t> Photo by A. C. Medeiros, courtesy of Smithsonian Institution; </a:t>
            </a:r>
            <a:r>
              <a:rPr i="1" lang="en-US"/>
              <a:t>Dubautia scabra</a:t>
            </a:r>
            <a:r>
              <a:rPr lang="en-US"/>
              <a:t> Photo by J. Price, courtesy of Smithsonian Institution; </a:t>
            </a:r>
            <a:r>
              <a:rPr i="1" lang="en-US"/>
              <a:t>Dubautia linearis</a:t>
            </a:r>
            <a:r>
              <a:rPr lang="en-US"/>
              <a:t> Photo by J. Price, courtesy of Smithsonian Institution; </a:t>
            </a:r>
            <a:r>
              <a:rPr i="1" lang="en-US"/>
              <a:t>Eastern meadowlark singing video</a:t>
            </a:r>
            <a:r>
              <a:rPr lang="en-US"/>
              <a:t> ©RCMarx/Shutterstock; </a:t>
            </a:r>
            <a:r>
              <a:rPr i="1" lang="en-US"/>
              <a:t>Western meadowlark singing video</a:t>
            </a:r>
            <a:r>
              <a:rPr lang="en-US"/>
              <a:t> ©David Spates/Shutterstock; </a:t>
            </a:r>
            <a:r>
              <a:rPr i="1" lang="en-US"/>
              <a:t>red-legged frog</a:t>
            </a:r>
            <a:r>
              <a:rPr lang="en-US"/>
              <a:t> ©Chris Mattison/Alamy; </a:t>
            </a:r>
            <a:r>
              <a:rPr i="1" lang="en-US"/>
              <a:t>yellow-legged frog</a:t>
            </a:r>
            <a:r>
              <a:rPr lang="en-US"/>
              <a:t> ©Vibe Images/Fotolia; </a:t>
            </a:r>
            <a:r>
              <a:rPr i="1" lang="en-US"/>
              <a:t>barred owl</a:t>
            </a:r>
            <a:r>
              <a:rPr lang="en-US"/>
              <a:t> ©donyanedomam/Fotolia; </a:t>
            </a:r>
            <a:r>
              <a:rPr i="1" lang="en-US"/>
              <a:t>grizzly bear</a:t>
            </a:r>
            <a:r>
              <a:rPr lang="en-US"/>
              <a:t> ©Photo by Hoberman Collection/UIG via Getty Images; </a:t>
            </a:r>
            <a:r>
              <a:rPr i="1" lang="en-US"/>
              <a:t>dying coral reef</a:t>
            </a:r>
            <a:r>
              <a:rPr lang="en-US"/>
              <a:t> ©Ethan Daniels/Shutterstock</a:t>
            </a:r>
            <a:endParaRPr/>
          </a:p>
          <a:p>
            <a:pPr indent="0" lvl="0" marL="0" rtl="0" algn="l">
              <a:spcBef>
                <a:spcPts val="0"/>
              </a:spcBef>
              <a:spcAft>
                <a:spcPts val="0"/>
              </a:spcAft>
              <a:buClr>
                <a:schemeClr val="dk1"/>
              </a:buClr>
              <a:buSzPts val="2400"/>
              <a:buNone/>
            </a:pPr>
            <a:r>
              <a:t/>
            </a:r>
            <a:endParaRPr b="1"/>
          </a:p>
          <a:p>
            <a:pPr indent="0" lvl="0" marL="0" rtl="0" algn="l">
              <a:spcBef>
                <a:spcPts val="0"/>
              </a:spcBef>
              <a:spcAft>
                <a:spcPts val="0"/>
              </a:spcAft>
              <a:buClr>
                <a:schemeClr val="dk1"/>
              </a:buClr>
              <a:buSzPts val="2400"/>
              <a:buNone/>
            </a:pPr>
            <a:r>
              <a:t/>
            </a:r>
            <a:endParaRPr b="1" i="1"/>
          </a:p>
        </p:txBody>
      </p:sp>
      <p:sp>
        <p:nvSpPr>
          <p:cNvPr id="379" name="Google Shape;379;p4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MH_PPT_TemplateF">
  <a:themeElements>
    <a:clrScheme name="HMH">
      <a:dk1>
        <a:srgbClr val="54585A"/>
      </a:dk1>
      <a:lt1>
        <a:srgbClr val="FFFFFF"/>
      </a:lt1>
      <a:dk2>
        <a:srgbClr val="F2A900"/>
      </a:dk2>
      <a:lt2>
        <a:srgbClr val="898D8D"/>
      </a:lt2>
      <a:accent1>
        <a:srgbClr val="6F83C1"/>
      </a:accent1>
      <a:accent2>
        <a:srgbClr val="CE3D95"/>
      </a:accent2>
      <a:accent3>
        <a:srgbClr val="00A8C8"/>
      </a:accent3>
      <a:accent4>
        <a:srgbClr val="EF4E45"/>
      </a:accent4>
      <a:accent5>
        <a:srgbClr val="B2B935"/>
      </a:accent5>
      <a:accent6>
        <a:srgbClr val="ED2C67"/>
      </a:accent6>
      <a:hlink>
        <a:srgbClr val="F48132"/>
      </a:hlink>
      <a:folHlink>
        <a:srgbClr val="72BE4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