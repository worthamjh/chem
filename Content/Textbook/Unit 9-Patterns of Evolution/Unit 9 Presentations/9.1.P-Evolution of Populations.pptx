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9144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
          <p15:clr>
            <a:srgbClr val="A4A3A4"/>
          </p15:clr>
        </p15:guide>
        <p15:guide id="2" pos="2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 orient="horz"/>
        <p:guide pos="259"/>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387125"/>
            <a:ext cx="5608300" cy="41562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0" i="0" lang="en-US" sz="1200">
                <a:solidFill>
                  <a:schemeClr val="dk1"/>
                </a:solidFill>
                <a:latin typeface="Times New Roman"/>
                <a:ea typeface="Times New Roman"/>
                <a:cs typeface="Times New Roman"/>
                <a:sym typeface="Times New Roman"/>
              </a:rPr>
              <a:t>The learning experiences in this unit prepare students for the mastery of</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Performance Expectations</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LS1-2</a:t>
            </a:r>
            <a:r>
              <a:rPr b="0" i="0" lang="en-US" sz="1200">
                <a:solidFill>
                  <a:schemeClr val="dk1"/>
                </a:solidFill>
                <a:latin typeface="Times New Roman"/>
                <a:ea typeface="Times New Roman"/>
                <a:cs typeface="Times New Roman"/>
                <a:sym typeface="Times New Roman"/>
              </a:rPr>
              <a:t> Develop and use a model to illustrate the hierarchical organization of interacting systems that provide specific functions within multicellular organisms. </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LS1-3 </a:t>
            </a:r>
            <a:r>
              <a:rPr b="0" i="0" lang="en-US" sz="1200">
                <a:solidFill>
                  <a:schemeClr val="dk1"/>
                </a:solidFill>
                <a:latin typeface="Times New Roman"/>
                <a:ea typeface="Times New Roman"/>
                <a:cs typeface="Times New Roman"/>
                <a:sym typeface="Times New Roman"/>
              </a:rPr>
              <a:t>Plan and conduct an investigation to provide evidence that feedback mechanisms maintain homeostasis. </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ETS1-2</a:t>
            </a:r>
            <a:r>
              <a:rPr b="0" i="0" lang="en-US" sz="1200">
                <a:solidFill>
                  <a:schemeClr val="dk1"/>
                </a:solidFill>
                <a:latin typeface="Times New Roman"/>
                <a:ea typeface="Times New Roman"/>
                <a:cs typeface="Times New Roman"/>
                <a:sym typeface="Times New Roman"/>
              </a:rPr>
              <a:t> Design a solution to a complex real-world problem by breaking it down into smaller, more manageable problems that can be solved through engineering. </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ETS1-3 </a:t>
            </a:r>
            <a:r>
              <a:rPr b="0" i="0" lang="en-US" sz="1200">
                <a:solidFill>
                  <a:schemeClr val="dk1"/>
                </a:solidFill>
                <a:latin typeface="Times New Roman"/>
                <a:ea typeface="Times New Roman"/>
                <a:cs typeface="Times New Roman"/>
                <a:sym typeface="Times New Roman"/>
              </a:rPr>
              <a:t>Evaluate a solution to a complex real-world problem based on prioritized criteria and trade-offs that account for a range of constraints, including cost, safety, reliability, and aesthetics, as well as possible social, cultural, and environmental impacts.</a:t>
            </a:r>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111" name="Google Shape;111;p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12" name="Google Shape;112;p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1" i="0" lang="en-US" sz="1200">
                <a:solidFill>
                  <a:schemeClr val="dk1"/>
                </a:solidFill>
                <a:latin typeface="Times New Roman"/>
                <a:ea typeface="Times New Roman"/>
                <a:cs typeface="Times New Roman"/>
                <a:sym typeface="Times New Roman"/>
              </a:rPr>
              <a:t>Lesson Objective</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Explain the different mechanisms that cause populations to evolve.</a:t>
            </a:r>
            <a:endParaRPr/>
          </a:p>
          <a:p>
            <a:pPr indent="0" lvl="0" marL="0" marR="0" rtl="0" algn="l">
              <a:lnSpc>
                <a:spcPct val="100000"/>
              </a:lnSpc>
              <a:spcBef>
                <a:spcPts val="360"/>
              </a:spcBef>
              <a:spcAft>
                <a:spcPts val="0"/>
              </a:spcAft>
              <a:buClr>
                <a:schemeClr val="dk1"/>
              </a:buClr>
              <a:buSzPts val="1200"/>
              <a:buFont typeface="Times New Roman"/>
              <a:buNone/>
            </a:pPr>
            <a:r>
              <a:t/>
            </a:r>
            <a:endParaRPr b="1" i="0"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18" name="Google Shape;118;p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19" name="Google Shape;119;p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33" name="Google Shape;133;p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34" name="Google Shape;134;p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46" name="Google Shape;146;p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47" name="Google Shape;147;p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57" name="Google Shape;157;p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58" name="Google Shape;158;p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70" name="Google Shape;170;p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71" name="Google Shape;171;p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82" name="Google Shape;182;p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83" name="Google Shape;183;p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97" name="Google Shape;197;p1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98" name="Google Shape;198;p1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209" name="Google Shape;209;p1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10" name="Google Shape;210;p1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1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220" name="Google Shape;220;p1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21" name="Google Shape;221;p1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234" name="Google Shape;234;p1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35" name="Google Shape;235;p1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49" name="Google Shape;249;p1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50" name="Google Shape;250;p1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59" name="Google Shape;259;p1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60" name="Google Shape;260;p1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69" name="Google Shape;269;p1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70" name="Google Shape;270;p1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81" name="Google Shape;281;p1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82" name="Google Shape;282;p1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93" name="Google Shape;293;p1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94" name="Google Shape;294;p1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1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05" name="Google Shape;305;p1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06" name="Google Shape;306;p1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16" name="Google Shape;316;p2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17" name="Google Shape;317;p2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2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326" name="Google Shape;326;p2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27" name="Google Shape;327;p2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38" name="Google Shape;338;p2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39" name="Google Shape;339;p2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48" name="Google Shape;348;p2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49" name="Google Shape;349;p2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60" name="Google Shape;360;p2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61" name="Google Shape;361;p2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72" name="Google Shape;372;p2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73" name="Google Shape;373;p2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84" name="Google Shape;384;p2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85" name="Google Shape;385;p2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398" name="Google Shape;398;p2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99" name="Google Shape;399;p2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2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409" name="Google Shape;409;p2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410" name="Google Shape;410;p2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2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420" name="Google Shape;420;p2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421" name="Google Shape;421;p2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0:notes"/>
          <p:cNvSpPr txBox="1"/>
          <p:nvPr>
            <p:ph idx="1" type="body"/>
          </p:nvPr>
        </p:nvSpPr>
        <p:spPr>
          <a:xfrm>
            <a:off x="701025" y="4387125"/>
            <a:ext cx="5608300" cy="41562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0:notes"/>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00"/>
              <a:buFont typeface="Cambria"/>
              <a:buNone/>
              <a:defRPr>
                <a:solidFill>
                  <a:srgbClr val="F2A90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a:lvl1pPr>
            <a:lvl2pPr indent="-342900" lvl="1" marL="914400" algn="l">
              <a:spcBef>
                <a:spcPts val="0"/>
              </a:spcBef>
              <a:spcAft>
                <a:spcPts val="0"/>
              </a:spcAft>
              <a:buClr>
                <a:schemeClr val="dk1"/>
              </a:buClr>
              <a:buSzPts val="1800"/>
              <a:buChar char="–"/>
              <a:defRPr/>
            </a:lvl2pPr>
            <a:lvl3pPr indent="-342900" lvl="2" marL="1371600" algn="l">
              <a:spcBef>
                <a:spcPts val="0"/>
              </a:spcBef>
              <a:spcAft>
                <a:spcPts val="0"/>
              </a:spcAft>
              <a:buClr>
                <a:schemeClr val="dk1"/>
              </a:buClr>
              <a:buSzPts val="1800"/>
              <a:buChar char="•"/>
              <a:defRPr/>
            </a:lvl3pPr>
            <a:lvl4pPr indent="-342900" lvl="3" marL="1828800" algn="l">
              <a:spcBef>
                <a:spcPts val="0"/>
              </a:spcBef>
              <a:spcAft>
                <a:spcPts val="0"/>
              </a:spcAft>
              <a:buClr>
                <a:schemeClr val="dk1"/>
              </a:buClr>
              <a:buSzPts val="1800"/>
              <a:buChar char="-"/>
              <a:defRPr/>
            </a:lvl4pPr>
            <a:lvl5pPr indent="-342900" lvl="4" marL="2286000" algn="l">
              <a:spcBef>
                <a:spcPts val="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 name="Google Shape;15;p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grpSp>
        <p:nvGrpSpPr>
          <p:cNvPr id="17" name="Google Shape;17;p3"/>
          <p:cNvGrpSpPr/>
          <p:nvPr/>
        </p:nvGrpSpPr>
        <p:grpSpPr>
          <a:xfrm>
            <a:off x="457200" y="442000"/>
            <a:ext cx="8235757" cy="5504790"/>
            <a:chOff x="457200" y="442000"/>
            <a:chExt cx="8235757" cy="5504790"/>
          </a:xfrm>
        </p:grpSpPr>
        <p:sp>
          <p:nvSpPr>
            <p:cNvPr id="18" name="Google Shape;18;p3"/>
            <p:cNvSpPr/>
            <p:nvPr/>
          </p:nvSpPr>
          <p:spPr>
            <a:xfrm>
              <a:off x="457200" y="1603390"/>
              <a:ext cx="7251192" cy="4343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19" name="Google Shape;19;p3"/>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20" name="Google Shape;20;p3"/>
          <p:cNvSpPr txBox="1"/>
          <p:nvPr>
            <p:ph type="ctrTitle"/>
          </p:nvPr>
        </p:nvSpPr>
        <p:spPr>
          <a:xfrm>
            <a:off x="706001" y="1662793"/>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706001" y="2305216"/>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
        <p:nvSpPr>
          <p:cNvPr id="22" name="Google Shape;22;p3"/>
          <p:cNvSpPr txBox="1"/>
          <p:nvPr>
            <p:ph idx="2" type="body"/>
          </p:nvPr>
        </p:nvSpPr>
        <p:spPr>
          <a:xfrm>
            <a:off x="706001"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457200" y="1146175"/>
            <a:ext cx="3994150" cy="4525963"/>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 name="Google Shape;26;p4"/>
          <p:cNvSpPr txBox="1"/>
          <p:nvPr>
            <p:ph idx="2" type="body"/>
          </p:nvPr>
        </p:nvSpPr>
        <p:spPr>
          <a:xfrm>
            <a:off x="4692650" y="1146175"/>
            <a:ext cx="3994150" cy="4525963"/>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 name="Google Shape;27;p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rinter-friendly" showMasterSp="0">
  <p:cSld name="Title Slide printer-friendly">
    <p:spTree>
      <p:nvGrpSpPr>
        <p:cNvPr id="28" name="Shape 28"/>
        <p:cNvGrpSpPr/>
        <p:nvPr/>
      </p:nvGrpSpPr>
      <p:grpSpPr>
        <a:xfrm>
          <a:off x="0" y="0"/>
          <a:ext cx="0" cy="0"/>
          <a:chOff x="0" y="0"/>
          <a:chExt cx="0" cy="0"/>
        </a:xfrm>
      </p:grpSpPr>
      <p:grpSp>
        <p:nvGrpSpPr>
          <p:cNvPr id="29" name="Google Shape;29;p5"/>
          <p:cNvGrpSpPr/>
          <p:nvPr/>
        </p:nvGrpSpPr>
        <p:grpSpPr>
          <a:xfrm>
            <a:off x="500784" y="442000"/>
            <a:ext cx="8192173" cy="5456923"/>
            <a:chOff x="500784" y="442000"/>
            <a:chExt cx="8192173" cy="5456923"/>
          </a:xfrm>
        </p:grpSpPr>
        <p:sp>
          <p:nvSpPr>
            <p:cNvPr id="30" name="Google Shape;30;p5"/>
            <p:cNvSpPr/>
            <p:nvPr/>
          </p:nvSpPr>
          <p:spPr>
            <a:xfrm>
              <a:off x="500784" y="1646968"/>
              <a:ext cx="7150604" cy="4251955"/>
            </a:xfrm>
            <a:prstGeom prst="rect">
              <a:avLst/>
            </a:prstGeom>
            <a:noFill/>
            <a:ln cap="flat" cmpd="sng" w="1016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31" name="Google Shape;31;p5"/>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32" name="Google Shape;32;p5"/>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4000"/>
              <a:buFont typeface="Calibri"/>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subTitle"/>
          </p:nvPr>
        </p:nvSpPr>
        <p:spPr>
          <a:xfrm>
            <a:off x="701675" y="2305339"/>
            <a:ext cx="6400800" cy="1593273"/>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80"/>
              <a:buNone/>
              <a:defRPr b="1" sz="2400">
                <a:solidFill>
                  <a:srgbClr val="F2A900"/>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
        <p:nvSpPr>
          <p:cNvPr id="34" name="Google Shape;34;p5"/>
          <p:cNvSpPr txBox="1"/>
          <p:nvPr>
            <p:ph idx="2" type="body"/>
          </p:nvPr>
        </p:nvSpPr>
        <p:spPr>
          <a:xfrm>
            <a:off x="701675"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 Image" showMasterSp="0">
  <p:cSld name="Title Slide w Image">
    <p:spTree>
      <p:nvGrpSpPr>
        <p:cNvPr id="35" name="Shape 35"/>
        <p:cNvGrpSpPr/>
        <p:nvPr/>
      </p:nvGrpSpPr>
      <p:grpSpPr>
        <a:xfrm>
          <a:off x="0" y="0"/>
          <a:ext cx="0" cy="0"/>
          <a:chOff x="0" y="0"/>
          <a:chExt cx="0" cy="0"/>
        </a:xfrm>
      </p:grpSpPr>
      <p:pic>
        <p:nvPicPr>
          <p:cNvPr descr="A5H77N.jpg" id="36" name="Google Shape;36;p6"/>
          <p:cNvPicPr preferRelativeResize="0"/>
          <p:nvPr/>
        </p:nvPicPr>
        <p:blipFill rotWithShape="1">
          <a:blip r:embed="rId2">
            <a:alphaModFix/>
          </a:blip>
          <a:srcRect b="0" l="0" r="0" t="0"/>
          <a:stretch/>
        </p:blipFill>
        <p:spPr>
          <a:xfrm>
            <a:off x="477352" y="1621329"/>
            <a:ext cx="7232339" cy="4305531"/>
          </a:xfrm>
          <a:prstGeom prst="rect">
            <a:avLst/>
          </a:prstGeom>
          <a:noFill/>
          <a:ln>
            <a:noFill/>
          </a:ln>
        </p:spPr>
      </p:pic>
      <p:pic>
        <p:nvPicPr>
          <p:cNvPr descr="HMH_vertical logo.png" id="37" name="Google Shape;37;p6"/>
          <p:cNvPicPr preferRelativeResize="0"/>
          <p:nvPr/>
        </p:nvPicPr>
        <p:blipFill rotWithShape="1">
          <a:blip r:embed="rId3">
            <a:alphaModFix/>
          </a:blip>
          <a:srcRect b="0" l="0" r="0" t="0"/>
          <a:stretch/>
        </p:blipFill>
        <p:spPr>
          <a:xfrm>
            <a:off x="7042912" y="442000"/>
            <a:ext cx="1650045" cy="1039328"/>
          </a:xfrm>
          <a:prstGeom prst="rect">
            <a:avLst/>
          </a:prstGeom>
          <a:noFill/>
          <a:ln>
            <a:noFill/>
          </a:ln>
        </p:spPr>
      </p:pic>
      <p:sp>
        <p:nvSpPr>
          <p:cNvPr id="38" name="Google Shape;38;p6"/>
          <p:cNvSpPr txBox="1"/>
          <p:nvPr>
            <p:ph idx="1" type="body"/>
          </p:nvPr>
        </p:nvSpPr>
        <p:spPr>
          <a:xfrm>
            <a:off x="701675"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6"/>
          <p:cNvSpPr txBox="1"/>
          <p:nvPr/>
        </p:nvSpPr>
        <p:spPr>
          <a:xfrm>
            <a:off x="8250090" y="2296884"/>
            <a:ext cx="1846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54585A"/>
              </a:solidFill>
              <a:latin typeface="Arial"/>
              <a:ea typeface="Arial"/>
              <a:cs typeface="Arial"/>
              <a:sym typeface="Arial"/>
            </a:endParaRPr>
          </a:p>
        </p:txBody>
      </p:sp>
      <p:sp>
        <p:nvSpPr>
          <p:cNvPr id="40" name="Google Shape;40;p6"/>
          <p:cNvSpPr/>
          <p:nvPr/>
        </p:nvSpPr>
        <p:spPr>
          <a:xfrm>
            <a:off x="111126" y="1754187"/>
            <a:ext cx="7143749" cy="2913061"/>
          </a:xfrm>
          <a:prstGeom prst="rect">
            <a:avLst/>
          </a:prstGeom>
          <a:noFill/>
          <a:ln cap="sq"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41" name="Google Shape;41;p6"/>
          <p:cNvSpPr txBox="1"/>
          <p:nvPr/>
        </p:nvSpPr>
        <p:spPr>
          <a:xfrm>
            <a:off x="730190" y="4435419"/>
            <a:ext cx="4704386" cy="2157599"/>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Select an image that relates to the presentation subject.</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an image that reduces the visibility of the logo.</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more than one image!</a:t>
            </a:r>
            <a:endParaRPr/>
          </a:p>
          <a:p>
            <a:pPr indent="0" lvl="0" marL="0" marR="0" rtl="0" algn="l">
              <a:spcBef>
                <a:spcPts val="0"/>
              </a:spcBef>
              <a:spcAft>
                <a:spcPts val="0"/>
              </a:spcAft>
              <a:buNone/>
            </a:pPr>
            <a:r>
              <a:t/>
            </a:r>
            <a:endParaRPr b="1" sz="1000">
              <a:solidFill>
                <a:srgbClr val="FFFFFF"/>
              </a:solidFill>
              <a:latin typeface="Arial"/>
              <a:ea typeface="Arial"/>
              <a:cs typeface="Arial"/>
              <a:sym typeface="Arial"/>
            </a:endParaRPr>
          </a:p>
          <a:p>
            <a:pPr indent="0" lvl="0" marL="0" marR="0" rtl="0" algn="l">
              <a:spcBef>
                <a:spcPts val="0"/>
              </a:spcBef>
              <a:spcAft>
                <a:spcPts val="0"/>
              </a:spcAft>
              <a:buNone/>
            </a:pPr>
            <a:r>
              <a:rPr b="1" lang="en-US" sz="1000">
                <a:solidFill>
                  <a:srgbClr val="FFFFFF"/>
                </a:solidFill>
                <a:latin typeface="Arial"/>
                <a:ea typeface="Arial"/>
                <a:cs typeface="Arial"/>
                <a:sym typeface="Arial"/>
              </a:rPr>
              <a:t>Changing a photo in the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 your menu bar select “View” &gt; “Master” &gt; “Slide Master”</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Go to the Title Slide Master you wish to change</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Select the image and delete </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Insert new image/photo on page and crop/resize to fit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Once the new image placement is finalized, select “Arrange” &gt; “Send to back”</a:t>
            </a:r>
            <a:endParaRPr sz="1000">
              <a:solidFill>
                <a:srgbClr val="FFFFFF"/>
              </a:solidFill>
              <a:latin typeface="Arial"/>
              <a:ea typeface="Arial"/>
              <a:cs typeface="Arial"/>
              <a:sym typeface="Arial"/>
            </a:endParaRPr>
          </a:p>
          <a:p>
            <a:pPr indent="0" lvl="0" marL="0" marR="0" rtl="0" algn="l">
              <a:spcBef>
                <a:spcPts val="0"/>
              </a:spcBef>
              <a:spcAft>
                <a:spcPts val="0"/>
              </a:spcAft>
              <a:buNone/>
            </a:pPr>
            <a:r>
              <a:t/>
            </a:r>
            <a:endParaRPr b="1" sz="900">
              <a:solidFill>
                <a:srgbClr val="FFFFFF"/>
              </a:solidFill>
              <a:latin typeface="Arial"/>
              <a:ea typeface="Arial"/>
              <a:cs typeface="Arial"/>
              <a:sym typeface="Arial"/>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Delete these instructions before final use.</a:t>
            </a:r>
            <a:endParaRPr b="1" sz="1000">
              <a:solidFill>
                <a:srgbClr val="FFFFFF"/>
              </a:solidFill>
              <a:latin typeface="Arial"/>
              <a:ea typeface="Arial"/>
              <a:cs typeface="Arial"/>
              <a:sym typeface="Arial"/>
            </a:endParaRPr>
          </a:p>
        </p:txBody>
      </p:sp>
      <p:sp>
        <p:nvSpPr>
          <p:cNvPr id="42" name="Google Shape;42;p6"/>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2" type="subTitle"/>
          </p:nvPr>
        </p:nvSpPr>
        <p:spPr>
          <a:xfrm>
            <a:off x="701675" y="2301875"/>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ransparent" showMasterSp="0">
  <p:cSld name="Title Slide Transparent">
    <p:spTree>
      <p:nvGrpSpPr>
        <p:cNvPr id="44" name="Shape 44"/>
        <p:cNvGrpSpPr/>
        <p:nvPr/>
      </p:nvGrpSpPr>
      <p:grpSpPr>
        <a:xfrm>
          <a:off x="0" y="0"/>
          <a:ext cx="0" cy="0"/>
          <a:chOff x="0" y="0"/>
          <a:chExt cx="0" cy="0"/>
        </a:xfrm>
      </p:grpSpPr>
      <p:pic>
        <p:nvPicPr>
          <p:cNvPr descr="tree copy.jpg" id="45" name="Google Shape;45;p7"/>
          <p:cNvPicPr preferRelativeResize="0"/>
          <p:nvPr/>
        </p:nvPicPr>
        <p:blipFill rotWithShape="1">
          <a:blip r:embed="rId2">
            <a:alphaModFix/>
          </a:blip>
          <a:srcRect b="0" l="0" r="0" t="0"/>
          <a:stretch/>
        </p:blipFill>
        <p:spPr>
          <a:xfrm>
            <a:off x="0" y="853431"/>
            <a:ext cx="7302500" cy="6004569"/>
          </a:xfrm>
          <a:prstGeom prst="rect">
            <a:avLst/>
          </a:prstGeom>
          <a:noFill/>
          <a:ln>
            <a:noFill/>
          </a:ln>
        </p:spPr>
      </p:pic>
      <p:grpSp>
        <p:nvGrpSpPr>
          <p:cNvPr id="46" name="Google Shape;46;p7"/>
          <p:cNvGrpSpPr/>
          <p:nvPr/>
        </p:nvGrpSpPr>
        <p:grpSpPr>
          <a:xfrm>
            <a:off x="457200" y="442000"/>
            <a:ext cx="8235757" cy="5504790"/>
            <a:chOff x="457200" y="442000"/>
            <a:chExt cx="8235757" cy="5504790"/>
          </a:xfrm>
        </p:grpSpPr>
        <p:sp>
          <p:nvSpPr>
            <p:cNvPr id="47" name="Google Shape;47;p7"/>
            <p:cNvSpPr/>
            <p:nvPr/>
          </p:nvSpPr>
          <p:spPr>
            <a:xfrm>
              <a:off x="457200" y="1603390"/>
              <a:ext cx="7251192" cy="4343400"/>
            </a:xfrm>
            <a:prstGeom prst="rect">
              <a:avLst/>
            </a:prstGeom>
            <a:solidFill>
              <a:schemeClr val="dk2">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48" name="Google Shape;48;p7"/>
            <p:cNvPicPr preferRelativeResize="0"/>
            <p:nvPr/>
          </p:nvPicPr>
          <p:blipFill rotWithShape="1">
            <a:blip r:embed="rId3">
              <a:alphaModFix/>
            </a:blip>
            <a:srcRect b="0" l="0" r="0" t="0"/>
            <a:stretch/>
          </p:blipFill>
          <p:spPr>
            <a:xfrm>
              <a:off x="7042912" y="442000"/>
              <a:ext cx="1650045" cy="1039328"/>
            </a:xfrm>
            <a:prstGeom prst="rect">
              <a:avLst/>
            </a:prstGeom>
            <a:noFill/>
            <a:ln>
              <a:noFill/>
            </a:ln>
          </p:spPr>
        </p:pic>
      </p:grpSp>
      <p:sp>
        <p:nvSpPr>
          <p:cNvPr id="49" name="Google Shape;49;p7"/>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subTitle"/>
          </p:nvPr>
        </p:nvSpPr>
        <p:spPr>
          <a:xfrm>
            <a:off x="701675" y="2301875"/>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
        <p:nvSpPr>
          <p:cNvPr id="51" name="Google Shape;51;p7"/>
          <p:cNvSpPr txBox="1"/>
          <p:nvPr>
            <p:ph idx="2" type="body"/>
          </p:nvPr>
        </p:nvSpPr>
        <p:spPr>
          <a:xfrm>
            <a:off x="701675"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7"/>
          <p:cNvSpPr txBox="1"/>
          <p:nvPr/>
        </p:nvSpPr>
        <p:spPr>
          <a:xfrm>
            <a:off x="730189" y="4435420"/>
            <a:ext cx="4741737" cy="227900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Select an image that relates to the presentation subject.</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an image that reduces the visibility of the logo.</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more than one image!</a:t>
            </a:r>
            <a:endParaRPr/>
          </a:p>
          <a:p>
            <a:pPr indent="0" lvl="0" marL="0" marR="0" rtl="0" algn="l">
              <a:spcBef>
                <a:spcPts val="0"/>
              </a:spcBef>
              <a:spcAft>
                <a:spcPts val="0"/>
              </a:spcAft>
              <a:buNone/>
            </a:pPr>
            <a:r>
              <a:t/>
            </a:r>
            <a:endParaRPr b="1" sz="1000">
              <a:solidFill>
                <a:srgbClr val="FFFFFF"/>
              </a:solidFill>
              <a:latin typeface="Arial"/>
              <a:ea typeface="Arial"/>
              <a:cs typeface="Arial"/>
              <a:sym typeface="Arial"/>
            </a:endParaRPr>
          </a:p>
          <a:p>
            <a:pPr indent="0" lvl="0" marL="0" marR="0" rtl="0" algn="l">
              <a:spcBef>
                <a:spcPts val="0"/>
              </a:spcBef>
              <a:spcAft>
                <a:spcPts val="0"/>
              </a:spcAft>
              <a:buNone/>
            </a:pPr>
            <a:r>
              <a:rPr b="1" lang="en-US" sz="1000">
                <a:solidFill>
                  <a:srgbClr val="FFFFFF"/>
                </a:solidFill>
                <a:latin typeface="Arial"/>
                <a:ea typeface="Arial"/>
                <a:cs typeface="Arial"/>
                <a:sym typeface="Arial"/>
              </a:rPr>
              <a:t>Changing a photo in the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 your menu bar select “View” &gt; “Master” &gt; “Slide Master”</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Go to the Title Slide Master you wish to change</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Select the image and delete </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Insert new image/photo on page and crop/resize to fit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Once the new image placement is finalized, select “Arrange” &gt; “Send to back”</a:t>
            </a:r>
            <a:endParaRPr sz="1000">
              <a:solidFill>
                <a:srgbClr val="FFFFFF"/>
              </a:solidFill>
              <a:latin typeface="Arial"/>
              <a:ea typeface="Arial"/>
              <a:cs typeface="Arial"/>
              <a:sym typeface="Arial"/>
            </a:endParaRPr>
          </a:p>
          <a:p>
            <a:pPr indent="0" lvl="0" marL="0" marR="0" rtl="0" algn="l">
              <a:spcBef>
                <a:spcPts val="0"/>
              </a:spcBef>
              <a:spcAft>
                <a:spcPts val="0"/>
              </a:spcAft>
              <a:buNone/>
            </a:pPr>
            <a:r>
              <a:t/>
            </a:r>
            <a:endParaRPr b="1" sz="900">
              <a:solidFill>
                <a:srgbClr val="FFFFFF"/>
              </a:solidFill>
              <a:latin typeface="Arial"/>
              <a:ea typeface="Arial"/>
              <a:cs typeface="Arial"/>
              <a:sym typeface="Arial"/>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Delete these instructions before final use.</a:t>
            </a:r>
            <a:endParaRPr b="1" sz="1000">
              <a:solidFill>
                <a:srgbClr val="FFFFFF"/>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Gray" showMasterSp="0">
  <p:cSld name="Title and Content Gray">
    <p:bg>
      <p:bgPr>
        <a:solidFill>
          <a:schemeClr val="dk1"/>
        </a:solidFill>
      </p:bgPr>
    </p:bg>
    <p:spTree>
      <p:nvGrpSpPr>
        <p:cNvPr id="53" name="Shape 53"/>
        <p:cNvGrpSpPr/>
        <p:nvPr/>
      </p:nvGrpSpPr>
      <p:grpSpPr>
        <a:xfrm>
          <a:off x="0" y="0"/>
          <a:ext cx="0" cy="0"/>
          <a:chOff x="0" y="0"/>
          <a:chExt cx="0" cy="0"/>
        </a:xfrm>
      </p:grpSpPr>
      <p:sp>
        <p:nvSpPr>
          <p:cNvPr id="54" name="Google Shape;54;p8"/>
          <p:cNvSpPr txBox="1"/>
          <p:nvPr>
            <p:ph type="title"/>
          </p:nvPr>
        </p:nvSpPr>
        <p:spPr>
          <a:xfrm>
            <a:off x="457200" y="318213"/>
            <a:ext cx="68580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libri"/>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 type="body"/>
          </p:nvPr>
        </p:nvSpPr>
        <p:spPr>
          <a:xfrm>
            <a:off x="457200" y="1288647"/>
            <a:ext cx="6858000" cy="4662786"/>
          </a:xfrm>
          <a:prstGeom prst="rect">
            <a:avLst/>
          </a:prstGeom>
          <a:noFill/>
          <a:ln>
            <a:noFill/>
          </a:ln>
        </p:spPr>
        <p:txBody>
          <a:bodyPr anchorCtr="0" anchor="t" bIns="45700" lIns="0" spcFirstLastPara="1" rIns="0" wrap="square" tIns="45700">
            <a:noAutofit/>
          </a:bodyPr>
          <a:lstStyle>
            <a:lvl1pPr indent="-228600" lvl="0" marL="457200" algn="l">
              <a:spcBef>
                <a:spcPts val="0"/>
              </a:spcBef>
              <a:spcAft>
                <a:spcPts val="0"/>
              </a:spcAft>
              <a:buClr>
                <a:schemeClr val="lt1"/>
              </a:buClr>
              <a:buSzPts val="2880"/>
              <a:buNone/>
              <a:defRPr sz="2400">
                <a:solidFill>
                  <a:schemeClr val="lt1"/>
                </a:solidFill>
              </a:defRPr>
            </a:lvl1pPr>
            <a:lvl2pPr indent="-228600" lvl="1" marL="914400" algn="l">
              <a:spcBef>
                <a:spcPts val="0"/>
              </a:spcBef>
              <a:spcAft>
                <a:spcPts val="0"/>
              </a:spcAft>
              <a:buClr>
                <a:schemeClr val="lt1"/>
              </a:buClr>
              <a:buSzPts val="2400"/>
              <a:buNone/>
              <a:defRPr sz="2400">
                <a:solidFill>
                  <a:schemeClr val="lt1"/>
                </a:solidFill>
              </a:defRPr>
            </a:lvl2pPr>
            <a:lvl3pPr indent="-228600" lvl="2" marL="1371600" algn="l">
              <a:spcBef>
                <a:spcPts val="0"/>
              </a:spcBef>
              <a:spcAft>
                <a:spcPts val="0"/>
              </a:spcAft>
              <a:buClr>
                <a:schemeClr val="lt1"/>
              </a:buClr>
              <a:buSzPts val="2400"/>
              <a:buNone/>
              <a:defRPr sz="2400">
                <a:solidFill>
                  <a:schemeClr val="lt1"/>
                </a:solidFill>
              </a:defRPr>
            </a:lvl3pPr>
            <a:lvl4pPr indent="-228600" lvl="3" marL="1828800" algn="l">
              <a:spcBef>
                <a:spcPts val="0"/>
              </a:spcBef>
              <a:spcAft>
                <a:spcPts val="0"/>
              </a:spcAft>
              <a:buClr>
                <a:schemeClr val="lt1"/>
              </a:buClr>
              <a:buSzPts val="2400"/>
              <a:buNone/>
              <a:defRPr sz="2400">
                <a:solidFill>
                  <a:schemeClr val="lt1"/>
                </a:solidFill>
              </a:defRPr>
            </a:lvl4pPr>
            <a:lvl5pPr indent="-228600" lvl="4" marL="2286000" algn="l">
              <a:spcBef>
                <a:spcPts val="0"/>
              </a:spcBef>
              <a:spcAft>
                <a:spcPts val="0"/>
              </a:spcAft>
              <a:buClr>
                <a:schemeClr val="lt1"/>
              </a:buClr>
              <a:buSzPts val="2400"/>
              <a:buNone/>
              <a:defRPr sz="2400">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 name="Google Shape;56;p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sz="1200">
                <a:solidFill>
                  <a:srgbClr val="FFFFFF"/>
                </a:solidFill>
                <a:latin typeface="Times New Roman"/>
                <a:ea typeface="Times New Roman"/>
                <a:cs typeface="Times New Roman"/>
                <a:sym typeface="Times New Roman"/>
              </a:defRPr>
            </a:lvl1pPr>
            <a:lvl2pPr indent="0" lvl="1" marL="0" algn="l">
              <a:spcBef>
                <a:spcPts val="0"/>
              </a:spcBef>
              <a:spcAft>
                <a:spcPts val="0"/>
              </a:spcAft>
              <a:buNone/>
              <a:defRPr sz="1200">
                <a:solidFill>
                  <a:srgbClr val="FFFFFF"/>
                </a:solidFill>
                <a:latin typeface="Times New Roman"/>
                <a:ea typeface="Times New Roman"/>
                <a:cs typeface="Times New Roman"/>
                <a:sym typeface="Times New Roman"/>
              </a:defRPr>
            </a:lvl2pPr>
            <a:lvl3pPr indent="0" lvl="2" marL="0" algn="l">
              <a:spcBef>
                <a:spcPts val="0"/>
              </a:spcBef>
              <a:spcAft>
                <a:spcPts val="0"/>
              </a:spcAft>
              <a:buNone/>
              <a:defRPr sz="1200">
                <a:solidFill>
                  <a:srgbClr val="FFFFFF"/>
                </a:solidFill>
                <a:latin typeface="Times New Roman"/>
                <a:ea typeface="Times New Roman"/>
                <a:cs typeface="Times New Roman"/>
                <a:sym typeface="Times New Roman"/>
              </a:defRPr>
            </a:lvl3pPr>
            <a:lvl4pPr indent="0" lvl="3" marL="0" algn="l">
              <a:spcBef>
                <a:spcPts val="0"/>
              </a:spcBef>
              <a:spcAft>
                <a:spcPts val="0"/>
              </a:spcAft>
              <a:buNone/>
              <a:defRPr sz="1200">
                <a:solidFill>
                  <a:srgbClr val="FFFFFF"/>
                </a:solidFill>
                <a:latin typeface="Times New Roman"/>
                <a:ea typeface="Times New Roman"/>
                <a:cs typeface="Times New Roman"/>
                <a:sym typeface="Times New Roman"/>
              </a:defRPr>
            </a:lvl4pPr>
            <a:lvl5pPr indent="0" lvl="4" marL="0" algn="l">
              <a:spcBef>
                <a:spcPts val="0"/>
              </a:spcBef>
              <a:spcAft>
                <a:spcPts val="0"/>
              </a:spcAft>
              <a:buNone/>
              <a:defRPr sz="1200">
                <a:solidFill>
                  <a:srgbClr val="FFFFFF"/>
                </a:solidFill>
                <a:latin typeface="Times New Roman"/>
                <a:ea typeface="Times New Roman"/>
                <a:cs typeface="Times New Roman"/>
                <a:sym typeface="Times New Roman"/>
              </a:defRPr>
            </a:lvl5pPr>
            <a:lvl6pPr indent="0" lvl="5" marL="0" algn="l">
              <a:spcBef>
                <a:spcPts val="0"/>
              </a:spcBef>
              <a:spcAft>
                <a:spcPts val="0"/>
              </a:spcAft>
              <a:buNone/>
              <a:defRPr sz="1200">
                <a:solidFill>
                  <a:srgbClr val="FFFFFF"/>
                </a:solidFill>
                <a:latin typeface="Times New Roman"/>
                <a:ea typeface="Times New Roman"/>
                <a:cs typeface="Times New Roman"/>
                <a:sym typeface="Times New Roman"/>
              </a:defRPr>
            </a:lvl6pPr>
            <a:lvl7pPr indent="0" lvl="6" marL="0" algn="l">
              <a:spcBef>
                <a:spcPts val="0"/>
              </a:spcBef>
              <a:spcAft>
                <a:spcPts val="0"/>
              </a:spcAft>
              <a:buNone/>
              <a:defRPr sz="1200">
                <a:solidFill>
                  <a:srgbClr val="FFFFFF"/>
                </a:solidFill>
                <a:latin typeface="Times New Roman"/>
                <a:ea typeface="Times New Roman"/>
                <a:cs typeface="Times New Roman"/>
                <a:sym typeface="Times New Roman"/>
              </a:defRPr>
            </a:lvl7pPr>
            <a:lvl8pPr indent="0" lvl="7" marL="0" algn="l">
              <a:spcBef>
                <a:spcPts val="0"/>
              </a:spcBef>
              <a:spcAft>
                <a:spcPts val="0"/>
              </a:spcAft>
              <a:buNone/>
              <a:defRPr sz="1200">
                <a:solidFill>
                  <a:srgbClr val="FFFFFF"/>
                </a:solidFill>
                <a:latin typeface="Times New Roman"/>
                <a:ea typeface="Times New Roman"/>
                <a:cs typeface="Times New Roman"/>
                <a:sym typeface="Times New Roman"/>
              </a:defRPr>
            </a:lvl8pPr>
            <a:lvl9pPr indent="0" lvl="8" marL="0" algn="l">
              <a:spcBef>
                <a:spcPts val="0"/>
              </a:spcBef>
              <a:spcAft>
                <a:spcPts val="0"/>
              </a:spcAft>
              <a:buNone/>
              <a:defRPr sz="1200">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 w.png" id="57" name="Google Shape;57;p8"/>
          <p:cNvPicPr preferRelativeResize="0"/>
          <p:nvPr/>
        </p:nvPicPr>
        <p:blipFill rotWithShape="1">
          <a:blip r:embed="rId2">
            <a:alphaModFix/>
          </a:blip>
          <a:srcRect b="0" l="0" r="0" t="0"/>
          <a:stretch/>
        </p:blipFill>
        <p:spPr>
          <a:xfrm>
            <a:off x="6818573" y="6398708"/>
            <a:ext cx="1917646" cy="349137"/>
          </a:xfrm>
          <a:prstGeom prst="rect">
            <a:avLst/>
          </a:prstGeom>
          <a:noFill/>
          <a:ln>
            <a:noFill/>
          </a:ln>
        </p:spPr>
      </p:pic>
      <p:sp>
        <p:nvSpPr>
          <p:cNvPr id="58" name="Google Shape;58;p8"/>
          <p:cNvSpPr/>
          <p:nvPr/>
        </p:nvSpPr>
        <p:spPr>
          <a:xfrm>
            <a:off x="0" y="0"/>
            <a:ext cx="6775704" cy="1737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59" name="Google Shape;59;p8"/>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9"/>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1"/>
              </a:buClr>
              <a:buSzPts val="2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457200" y="1146175"/>
            <a:ext cx="399415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9"/>
          <p:cNvSpPr txBox="1"/>
          <p:nvPr>
            <p:ph idx="2" type="body"/>
          </p:nvPr>
        </p:nvSpPr>
        <p:spPr>
          <a:xfrm>
            <a:off x="457200" y="1785937"/>
            <a:ext cx="399415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9"/>
          <p:cNvSpPr txBox="1"/>
          <p:nvPr>
            <p:ph idx="3" type="body"/>
          </p:nvPr>
        </p:nvSpPr>
        <p:spPr>
          <a:xfrm>
            <a:off x="4686300" y="1146175"/>
            <a:ext cx="400050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9"/>
          <p:cNvSpPr txBox="1"/>
          <p:nvPr>
            <p:ph idx="4" type="body"/>
          </p:nvPr>
        </p:nvSpPr>
        <p:spPr>
          <a:xfrm>
            <a:off x="4686300" y="1785937"/>
            <a:ext cx="400050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10"/>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1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Golden" showMasterSp="0">
  <p:cSld name="1_Divider Golden">
    <p:spTree>
      <p:nvGrpSpPr>
        <p:cNvPr id="72" name="Shape 72"/>
        <p:cNvGrpSpPr/>
        <p:nvPr/>
      </p:nvGrpSpPr>
      <p:grpSpPr>
        <a:xfrm>
          <a:off x="0" y="0"/>
          <a:ext cx="0" cy="0"/>
          <a:chOff x="0" y="0"/>
          <a:chExt cx="0" cy="0"/>
        </a:xfrm>
      </p:grpSpPr>
      <p:sp>
        <p:nvSpPr>
          <p:cNvPr id="73" name="Google Shape;73;p12"/>
          <p:cNvSpPr/>
          <p:nvPr/>
        </p:nvSpPr>
        <p:spPr>
          <a:xfrm>
            <a:off x="203505" y="216029"/>
            <a:ext cx="8736990" cy="6425943"/>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74" name="Google Shape;74;p12"/>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rinter-friendly" showMasterSp="0">
  <p:cSld name="Divider printer-friendly">
    <p:spTree>
      <p:nvGrpSpPr>
        <p:cNvPr id="76" name="Shape 76"/>
        <p:cNvGrpSpPr/>
        <p:nvPr/>
      </p:nvGrpSpPr>
      <p:grpSpPr>
        <a:xfrm>
          <a:off x="0" y="0"/>
          <a:ext cx="0" cy="0"/>
          <a:chOff x="0" y="0"/>
          <a:chExt cx="0" cy="0"/>
        </a:xfrm>
      </p:grpSpPr>
      <p:sp>
        <p:nvSpPr>
          <p:cNvPr id="77" name="Google Shape;77;p13"/>
          <p:cNvSpPr/>
          <p:nvPr/>
        </p:nvSpPr>
        <p:spPr>
          <a:xfrm>
            <a:off x="254306" y="260482"/>
            <a:ext cx="8645548" cy="6325353"/>
          </a:xfrm>
          <a:prstGeom prst="rect">
            <a:avLst/>
          </a:prstGeom>
          <a:noFill/>
          <a:ln cap="flat" cmpd="sng" w="1016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78" name="Google Shape;78;p13"/>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4000"/>
              <a:buFont typeface="Calibri"/>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3"/>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80"/>
              <a:buNone/>
              <a:defRPr b="1" sz="2400">
                <a:solidFill>
                  <a:schemeClr val="dk2"/>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Dark Background" showMasterSp="0">
  <p:cSld name="1_Divider Dark Background">
    <p:bg>
      <p:bgPr>
        <a:solidFill>
          <a:schemeClr val="dk1"/>
        </a:solidFill>
      </p:bgPr>
    </p:bg>
    <p:spTree>
      <p:nvGrpSpPr>
        <p:cNvPr id="80" name="Shape 80"/>
        <p:cNvGrpSpPr/>
        <p:nvPr/>
      </p:nvGrpSpPr>
      <p:grpSpPr>
        <a:xfrm>
          <a:off x="0" y="0"/>
          <a:ext cx="0" cy="0"/>
          <a:chOff x="0" y="0"/>
          <a:chExt cx="0" cy="0"/>
        </a:xfrm>
      </p:grpSpPr>
      <p:sp>
        <p:nvSpPr>
          <p:cNvPr id="81" name="Google Shape;81;p14"/>
          <p:cNvSpPr/>
          <p:nvPr/>
        </p:nvSpPr>
        <p:spPr>
          <a:xfrm>
            <a:off x="254306" y="260482"/>
            <a:ext cx="8645548" cy="6325353"/>
          </a:xfrm>
          <a:prstGeom prst="rect">
            <a:avLst/>
          </a:prstGeom>
          <a:noFill/>
          <a:ln cap="flat" cmpd="sng" w="1016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82" name="Google Shape;82;p14"/>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4000"/>
              <a:buFont typeface="Calibri"/>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4"/>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80"/>
              <a:buNone/>
              <a:defRPr b="1" sz="2400">
                <a:solidFill>
                  <a:schemeClr val="dk2"/>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urple" showMasterSp="0">
  <p:cSld name="Divider Purple">
    <p:spTree>
      <p:nvGrpSpPr>
        <p:cNvPr id="84" name="Shape 84"/>
        <p:cNvGrpSpPr/>
        <p:nvPr/>
      </p:nvGrpSpPr>
      <p:grpSpPr>
        <a:xfrm>
          <a:off x="0" y="0"/>
          <a:ext cx="0" cy="0"/>
          <a:chOff x="0" y="0"/>
          <a:chExt cx="0" cy="0"/>
        </a:xfrm>
      </p:grpSpPr>
      <p:sp>
        <p:nvSpPr>
          <p:cNvPr id="85" name="Google Shape;85;p15"/>
          <p:cNvSpPr/>
          <p:nvPr/>
        </p:nvSpPr>
        <p:spPr>
          <a:xfrm>
            <a:off x="203505" y="216029"/>
            <a:ext cx="8736990" cy="642594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86" name="Google Shape;86;p15"/>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5"/>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Fuschia" showMasterSp="0">
  <p:cSld name="Divider Fuschia">
    <p:spTree>
      <p:nvGrpSpPr>
        <p:cNvPr id="88" name="Shape 88"/>
        <p:cNvGrpSpPr/>
        <p:nvPr/>
      </p:nvGrpSpPr>
      <p:grpSpPr>
        <a:xfrm>
          <a:off x="0" y="0"/>
          <a:ext cx="0" cy="0"/>
          <a:chOff x="0" y="0"/>
          <a:chExt cx="0" cy="0"/>
        </a:xfrm>
      </p:grpSpPr>
      <p:sp>
        <p:nvSpPr>
          <p:cNvPr id="89" name="Google Shape;89;p16"/>
          <p:cNvSpPr/>
          <p:nvPr/>
        </p:nvSpPr>
        <p:spPr>
          <a:xfrm>
            <a:off x="203505" y="216029"/>
            <a:ext cx="8736990" cy="6425943"/>
          </a:xfrm>
          <a:prstGeom prst="rect">
            <a:avLst/>
          </a:prstGeom>
          <a:solidFill>
            <a:srgbClr val="CE3D9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90" name="Google Shape;90;p16"/>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6"/>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lue" showMasterSp="0">
  <p:cSld name="Divider Blue">
    <p:spTree>
      <p:nvGrpSpPr>
        <p:cNvPr id="92" name="Shape 92"/>
        <p:cNvGrpSpPr/>
        <p:nvPr/>
      </p:nvGrpSpPr>
      <p:grpSpPr>
        <a:xfrm>
          <a:off x="0" y="0"/>
          <a:ext cx="0" cy="0"/>
          <a:chOff x="0" y="0"/>
          <a:chExt cx="0" cy="0"/>
        </a:xfrm>
      </p:grpSpPr>
      <p:sp>
        <p:nvSpPr>
          <p:cNvPr id="93" name="Google Shape;93;p17"/>
          <p:cNvSpPr/>
          <p:nvPr/>
        </p:nvSpPr>
        <p:spPr>
          <a:xfrm>
            <a:off x="203505" y="216029"/>
            <a:ext cx="8736990" cy="6425943"/>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94" name="Google Shape;94;p17"/>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7"/>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Red" showMasterSp="0">
  <p:cSld name="Divider Red">
    <p:spTree>
      <p:nvGrpSpPr>
        <p:cNvPr id="96" name="Shape 96"/>
        <p:cNvGrpSpPr/>
        <p:nvPr/>
      </p:nvGrpSpPr>
      <p:grpSpPr>
        <a:xfrm>
          <a:off x="0" y="0"/>
          <a:ext cx="0" cy="0"/>
          <a:chOff x="0" y="0"/>
          <a:chExt cx="0" cy="0"/>
        </a:xfrm>
      </p:grpSpPr>
      <p:sp>
        <p:nvSpPr>
          <p:cNvPr id="97" name="Google Shape;97;p18"/>
          <p:cNvSpPr/>
          <p:nvPr/>
        </p:nvSpPr>
        <p:spPr>
          <a:xfrm>
            <a:off x="203505" y="216029"/>
            <a:ext cx="8736990" cy="642594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98" name="Google Shape;98;p18"/>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8"/>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Yellow Green" showMasterSp="0">
  <p:cSld name="Divider Yellow Green">
    <p:spTree>
      <p:nvGrpSpPr>
        <p:cNvPr id="100" name="Shape 100"/>
        <p:cNvGrpSpPr/>
        <p:nvPr/>
      </p:nvGrpSpPr>
      <p:grpSpPr>
        <a:xfrm>
          <a:off x="0" y="0"/>
          <a:ext cx="0" cy="0"/>
          <a:chOff x="0" y="0"/>
          <a:chExt cx="0" cy="0"/>
        </a:xfrm>
      </p:grpSpPr>
      <p:sp>
        <p:nvSpPr>
          <p:cNvPr id="101" name="Google Shape;101;p19"/>
          <p:cNvSpPr/>
          <p:nvPr/>
        </p:nvSpPr>
        <p:spPr>
          <a:xfrm>
            <a:off x="203505" y="216029"/>
            <a:ext cx="8736990" cy="6425943"/>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102" name="Google Shape;102;p19"/>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9"/>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ink" showMasterSp="0">
  <p:cSld name="Divider Pink">
    <p:spTree>
      <p:nvGrpSpPr>
        <p:cNvPr id="104" name="Shape 104"/>
        <p:cNvGrpSpPr/>
        <p:nvPr/>
      </p:nvGrpSpPr>
      <p:grpSpPr>
        <a:xfrm>
          <a:off x="0" y="0"/>
          <a:ext cx="0" cy="0"/>
          <a:chOff x="0" y="0"/>
          <a:chExt cx="0" cy="0"/>
        </a:xfrm>
      </p:grpSpPr>
      <p:sp>
        <p:nvSpPr>
          <p:cNvPr id="105" name="Google Shape;105;p20"/>
          <p:cNvSpPr/>
          <p:nvPr/>
        </p:nvSpPr>
        <p:spPr>
          <a:xfrm>
            <a:off x="203505" y="216029"/>
            <a:ext cx="8736990" cy="6425943"/>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106" name="Google Shape;106;p20"/>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20"/>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1.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marR="0" rtl="0" algn="l">
              <a:spcBef>
                <a:spcPts val="0"/>
              </a:spcBef>
              <a:spcAft>
                <a:spcPts val="0"/>
              </a:spcAft>
              <a:buClr>
                <a:schemeClr val="dk1"/>
              </a:buClr>
              <a:buSzPts val="2800"/>
              <a:buFont typeface="Calibri"/>
              <a:buNone/>
              <a:defRPr b="1" i="0" sz="28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381000" lvl="0" marL="457200" marR="0" rtl="0" algn="l">
              <a:spcBef>
                <a:spcPts val="0"/>
              </a:spcBef>
              <a:spcAft>
                <a:spcPts val="0"/>
              </a:spcAft>
              <a:buClr>
                <a:schemeClr val="dk1"/>
              </a:buClr>
              <a:buSzPts val="2400"/>
              <a:buFont typeface="Arial"/>
              <a:buChar char="•"/>
              <a:defRPr b="0" i="0" sz="2000" u="none" cap="none" strike="noStrike">
                <a:solidFill>
                  <a:schemeClr val="dk1"/>
                </a:solidFill>
                <a:latin typeface="Calibri"/>
                <a:ea typeface="Calibri"/>
                <a:cs typeface="Calibri"/>
                <a:sym typeface="Calibri"/>
              </a:defRPr>
            </a:lvl1pPr>
            <a:lvl2pPr indent="-355600" lvl="1" marL="9144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55600" lvl="2" marL="13716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0"/>
              </a:spcBef>
              <a:spcAft>
                <a:spcPts val="0"/>
              </a:spcAft>
              <a:buClr>
                <a:schemeClr val="dk1"/>
              </a:buClr>
              <a:buSzPts val="2000"/>
              <a:buFont typeface="Merriweather San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0"/>
              </a:spcBef>
              <a:spcAft>
                <a:spcPts val="0"/>
              </a:spcAft>
              <a:buClr>
                <a:schemeClr val="dk1"/>
              </a:buClr>
              <a:buSzPts val="2000"/>
              <a:buFont typeface="Merriweather San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marR="0" rtl="0" algn="l">
              <a:spcBef>
                <a:spcPts val="0"/>
              </a:spcBef>
              <a:spcAft>
                <a:spcPts val="0"/>
              </a:spcAft>
              <a:buNone/>
              <a:defRPr b="0" i="0" sz="1200" u="none" cap="none" strike="noStrike">
                <a:solidFill>
                  <a:srgbClr val="54585A"/>
                </a:solidFill>
                <a:latin typeface="Arial"/>
                <a:ea typeface="Arial"/>
                <a:cs typeface="Arial"/>
                <a:sym typeface="Arial"/>
              </a:defRPr>
            </a:lvl1pPr>
            <a:lvl2pPr indent="0" lvl="1" marL="0" marR="0" rtl="0" algn="l">
              <a:spcBef>
                <a:spcPts val="0"/>
              </a:spcBef>
              <a:spcAft>
                <a:spcPts val="0"/>
              </a:spcAft>
              <a:buNone/>
              <a:defRPr b="0" i="0" sz="1200" u="none" cap="none" strike="noStrike">
                <a:solidFill>
                  <a:srgbClr val="54585A"/>
                </a:solidFill>
                <a:latin typeface="Arial"/>
                <a:ea typeface="Arial"/>
                <a:cs typeface="Arial"/>
                <a:sym typeface="Arial"/>
              </a:defRPr>
            </a:lvl2pPr>
            <a:lvl3pPr indent="0" lvl="2" marL="0" marR="0" rtl="0" algn="l">
              <a:spcBef>
                <a:spcPts val="0"/>
              </a:spcBef>
              <a:spcAft>
                <a:spcPts val="0"/>
              </a:spcAft>
              <a:buNone/>
              <a:defRPr b="0" i="0" sz="1200" u="none" cap="none" strike="noStrike">
                <a:solidFill>
                  <a:srgbClr val="54585A"/>
                </a:solidFill>
                <a:latin typeface="Arial"/>
                <a:ea typeface="Arial"/>
                <a:cs typeface="Arial"/>
                <a:sym typeface="Arial"/>
              </a:defRPr>
            </a:lvl3pPr>
            <a:lvl4pPr indent="0" lvl="3" marL="0" marR="0" rtl="0" algn="l">
              <a:spcBef>
                <a:spcPts val="0"/>
              </a:spcBef>
              <a:spcAft>
                <a:spcPts val="0"/>
              </a:spcAft>
              <a:buNone/>
              <a:defRPr b="0" i="0" sz="1200" u="none" cap="none" strike="noStrike">
                <a:solidFill>
                  <a:srgbClr val="54585A"/>
                </a:solidFill>
                <a:latin typeface="Arial"/>
                <a:ea typeface="Arial"/>
                <a:cs typeface="Arial"/>
                <a:sym typeface="Arial"/>
              </a:defRPr>
            </a:lvl4pPr>
            <a:lvl5pPr indent="0" lvl="4" marL="0" marR="0" rtl="0" algn="l">
              <a:spcBef>
                <a:spcPts val="0"/>
              </a:spcBef>
              <a:spcAft>
                <a:spcPts val="0"/>
              </a:spcAft>
              <a:buNone/>
              <a:defRPr b="0" i="0" sz="1200" u="none" cap="none" strike="noStrike">
                <a:solidFill>
                  <a:srgbClr val="54585A"/>
                </a:solidFill>
                <a:latin typeface="Arial"/>
                <a:ea typeface="Arial"/>
                <a:cs typeface="Arial"/>
                <a:sym typeface="Arial"/>
              </a:defRPr>
            </a:lvl5pPr>
            <a:lvl6pPr indent="0" lvl="5" marL="0" marR="0" rtl="0" algn="l">
              <a:spcBef>
                <a:spcPts val="0"/>
              </a:spcBef>
              <a:spcAft>
                <a:spcPts val="0"/>
              </a:spcAft>
              <a:buNone/>
              <a:defRPr b="0" i="0" sz="1200" u="none" cap="none" strike="noStrike">
                <a:solidFill>
                  <a:srgbClr val="54585A"/>
                </a:solidFill>
                <a:latin typeface="Arial"/>
                <a:ea typeface="Arial"/>
                <a:cs typeface="Arial"/>
                <a:sym typeface="Arial"/>
              </a:defRPr>
            </a:lvl6pPr>
            <a:lvl7pPr indent="0" lvl="6" marL="0" marR="0" rtl="0" algn="l">
              <a:spcBef>
                <a:spcPts val="0"/>
              </a:spcBef>
              <a:spcAft>
                <a:spcPts val="0"/>
              </a:spcAft>
              <a:buNone/>
              <a:defRPr b="0" i="0" sz="1200" u="none" cap="none" strike="noStrike">
                <a:solidFill>
                  <a:srgbClr val="54585A"/>
                </a:solidFill>
                <a:latin typeface="Arial"/>
                <a:ea typeface="Arial"/>
                <a:cs typeface="Arial"/>
                <a:sym typeface="Arial"/>
              </a:defRPr>
            </a:lvl7pPr>
            <a:lvl8pPr indent="0" lvl="7" marL="0" marR="0" rtl="0" algn="l">
              <a:spcBef>
                <a:spcPts val="0"/>
              </a:spcBef>
              <a:spcAft>
                <a:spcPts val="0"/>
              </a:spcAft>
              <a:buNone/>
              <a:defRPr b="0" i="0" sz="1200" u="none" cap="none" strike="noStrike">
                <a:solidFill>
                  <a:srgbClr val="54585A"/>
                </a:solidFill>
                <a:latin typeface="Arial"/>
                <a:ea typeface="Arial"/>
                <a:cs typeface="Arial"/>
                <a:sym typeface="Arial"/>
              </a:defRPr>
            </a:lvl8pPr>
            <a:lvl9pPr indent="0" lvl="8" marL="0" marR="0" rtl="0" algn="l">
              <a:spcBef>
                <a:spcPts val="0"/>
              </a:spcBef>
              <a:spcAft>
                <a:spcPts val="0"/>
              </a:spcAft>
              <a:buNone/>
              <a:defRPr b="0" i="0" sz="1200" u="none" cap="none" strike="noStrike">
                <a:solidFill>
                  <a:srgbClr val="54585A"/>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png" id="9" name="Google Shape;9;p1"/>
          <p:cNvPicPr preferRelativeResize="0"/>
          <p:nvPr/>
        </p:nvPicPr>
        <p:blipFill rotWithShape="1">
          <a:blip r:embed="rId1">
            <a:alphaModFix/>
          </a:blip>
          <a:srcRect b="0" l="0" r="0" t="0"/>
          <a:stretch/>
        </p:blipFill>
        <p:spPr>
          <a:xfrm>
            <a:off x="6824799" y="6399660"/>
            <a:ext cx="1912424" cy="348185"/>
          </a:xfrm>
          <a:prstGeom prst="rect">
            <a:avLst/>
          </a:prstGeom>
          <a:noFill/>
          <a:ln>
            <a:noFill/>
          </a:ln>
        </p:spPr>
      </p:pic>
      <p:sp>
        <p:nvSpPr>
          <p:cNvPr id="10" name="Google Shape;10;p1"/>
          <p:cNvSpPr/>
          <p:nvPr/>
        </p:nvSpPr>
        <p:spPr>
          <a:xfrm>
            <a:off x="0" y="0"/>
            <a:ext cx="6775704" cy="17373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1" name="Google Shape;11;p1"/>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hmhco.com/content/science/sciencedimensions/na/gr9-12/ete_biology_9780544535855_/book_pages/OPS/s9ml/glossary.xhtml#key-00099hhhhdddueyewudbncvbnfhyrt623413226e3hfdncjdsk" TargetMode="Externa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hmhco.com/content/science/sciencedimensions/na/gr9-12/ete_biology_9780544535855_/book_pages/OPS/s9ml/glossary.xhtml#key-5b814d5271174fa0b7e1276b51b4be78"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www.hmhco.com/content/science/sciencedimensions/na/gr9-12/ete_biology_9780544535855_/book_pages/OPS/s9ml/glossary.xhtml#key-normaldistribution" TargetMode="External"/><Relationship Id="rId4" Type="http://schemas.openxmlformats.org/officeDocument/2006/relationships/image" Target="../media/image9.jpg"/><Relationship Id="rId5"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www.hmhco.com/content/science/sciencedimensions/na/gr9-12/ete_biology_9780544535855_/book_pages/OPS/s9ml/glossary.xhtml#key-naturalselection" TargetMode="External"/><Relationship Id="rId4" Type="http://schemas.openxmlformats.org/officeDocument/2006/relationships/hyperlink" Target="https://www.hmhco.com/content/science/sciencedimensions/na/gr9-12/ete_biology_9780544535855_/book_pages/OPS/s9ml/glossary.xhtml#key-microevolution" TargetMode="External"/><Relationship Id="rId5" Type="http://schemas.openxmlformats.org/officeDocument/2006/relationships/hyperlink" Target="https://www.hmhco.com/content/science/sciencedimensions/na/gr9-12/ete_biology_9780544535855_/book_pages/OPS/s9ml/glossary.xhtml#key-stabilizingselectio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hyperlink" Target="https://www.hmhco.com/content/science/sciencedimensions/na/gr9-12/ete_biology_9780544535855_/book_pages/OPS/s9ml/glossary.xhtml#key-stabilizingselec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www.hmhco.com/content/science/sciencedimensions/na/gr9-12/ete_biology_9780544535855_/book_pages/OPS/s9ml/glossary.xhtml#key-333548468fdbfg22226678789fdgrtr66bsfgg" TargetMode="Externa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hmhco.com/content/science/sciencedimensions/na/gr9-12/ete_biology_9780544535855_/book_pages/OPS/s9ml/glossary.xhtml#key-333548468fdbfg22226dff9fdgrtr66bsfgg" TargetMode="Externa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www.hmhco.com/content/science/sciencedimensions/na/gr9-12/ete_biology_9780544535855_/book_pages/OPS/s9ml/glossary.xhtml#key-74mffgi4i3ofjj3io2o1pp1d9vniywtydvfbvjmvkkldjhdjkdbvbdjkviuw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www.hmhco.com/content/science/sciencedimensions/na/gr9-12/ete_biology_9780544535855_/book_pages/OPS/s9ml/glossary.xhtml#key-cccccccccccgggggghhhhjjjkuuuyttrre3333r5566788jhgfd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hmhco.com/content/science/sciencedimensions/na/gr9-12/ete_biology_9780544535855_/book_pages/OPS/s9ml/glossary.xhtml#key-013ca2fbdad34236922942b9677226e3zcl" TargetMode="External"/><Relationship Id="rId4" Type="http://schemas.openxmlformats.org/officeDocument/2006/relationships/image" Target="../media/image2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2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hmhco.com/content/science/sciencedimensions/na/gr9-12/ete_biology_9780544535855_/book_pages/OPS/s9ml/glossary.xhtml#key-112kjvfro0044fbvjr0qtu90hifwoitghor" TargetMode="External"/><Relationship Id="rId4"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www.hmhco.com/content/science/sciencedimensions/na/gr9-12/ete_biology_9780544535855_/book_pages/OPS/s9ml/glossary.xhtml#key-sexualselection" TargetMode="External"/><Relationship Id="rId4" Type="http://schemas.openxmlformats.org/officeDocument/2006/relationships/image" Target="../media/image24.jpg"/><Relationship Id="rId5" Type="http://schemas.openxmlformats.org/officeDocument/2006/relationships/image" Target="../media/image2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idx="1" type="subTitle"/>
          </p:nvPr>
        </p:nvSpPr>
        <p:spPr>
          <a:xfrm>
            <a:off x="627723" y="1787236"/>
            <a:ext cx="6400800" cy="17526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FFFFF"/>
              </a:buClr>
              <a:buSzPts val="3840"/>
              <a:buNone/>
            </a:pPr>
            <a:r>
              <a:rPr i="1" lang="en-US" sz="3200">
                <a:latin typeface="Cambria"/>
                <a:ea typeface="Cambria"/>
                <a:cs typeface="Cambria"/>
                <a:sym typeface="Cambria"/>
              </a:rPr>
              <a:t>HMH Science Dimensions</a:t>
            </a:r>
            <a:endParaRPr/>
          </a:p>
          <a:p>
            <a:pPr indent="0" lvl="0" marL="0" rtl="0" algn="l">
              <a:spcBef>
                <a:spcPts val="0"/>
              </a:spcBef>
              <a:spcAft>
                <a:spcPts val="0"/>
              </a:spcAft>
              <a:buClr>
                <a:srgbClr val="FFFFFF"/>
              </a:buClr>
              <a:buSzPts val="3840"/>
              <a:buNone/>
            </a:pPr>
            <a:r>
              <a:rPr lang="en-US" sz="3200">
                <a:latin typeface="Cambria"/>
                <a:ea typeface="Cambria"/>
                <a:cs typeface="Cambria"/>
                <a:sym typeface="Cambria"/>
              </a:rPr>
              <a:t>Biology</a:t>
            </a:r>
            <a:endParaRPr/>
          </a:p>
          <a:p>
            <a:pPr indent="0" lvl="0" marL="0" rtl="0" algn="l">
              <a:spcBef>
                <a:spcPts val="0"/>
              </a:spcBef>
              <a:spcAft>
                <a:spcPts val="0"/>
              </a:spcAft>
              <a:buClr>
                <a:srgbClr val="FFFFFF"/>
              </a:buClr>
              <a:buSzPts val="3840"/>
              <a:buNone/>
            </a:pPr>
            <a:r>
              <a:rPr lang="en-US" sz="3200">
                <a:latin typeface="Cambria"/>
                <a:ea typeface="Cambria"/>
                <a:cs typeface="Cambria"/>
                <a:sym typeface="Cambria"/>
              </a:rPr>
              <a:t>Unit 9: Patterns of Evolution</a:t>
            </a:r>
            <a:endParaRPr/>
          </a:p>
          <a:p>
            <a:pPr indent="0" lvl="0" marL="0" rtl="0" algn="l">
              <a:spcBef>
                <a:spcPts val="0"/>
              </a:spcBef>
              <a:spcAft>
                <a:spcPts val="0"/>
              </a:spcAft>
              <a:buClr>
                <a:srgbClr val="FFFFFF"/>
              </a:buClr>
              <a:buSzPts val="3840"/>
              <a:buNone/>
            </a:pPr>
            <a:r>
              <a:rPr lang="en-US" sz="3200">
                <a:latin typeface="Cambria"/>
                <a:ea typeface="Cambria"/>
                <a:cs typeface="Cambria"/>
                <a:sym typeface="Cambria"/>
              </a:rPr>
              <a:t>Lesson 1: Evolution of Populations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122" name="Google Shape;122;p2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23" name="Google Shape;123;p22"/>
          <p:cNvSpPr/>
          <p:nvPr/>
        </p:nvSpPr>
        <p:spPr>
          <a:xfrm>
            <a:off x="6235734" y="2136226"/>
            <a:ext cx="2597167"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How can three different types of males evolve in one population?</a:t>
            </a:r>
            <a:endParaRPr/>
          </a:p>
        </p:txBody>
      </p:sp>
      <p:sp>
        <p:nvSpPr>
          <p:cNvPr id="124" name="Google Shape;124;p2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
        <p:nvSpPr>
          <p:cNvPr id="125" name="Google Shape;125;p22"/>
          <p:cNvSpPr/>
          <p:nvPr/>
        </p:nvSpPr>
        <p:spPr>
          <a:xfrm>
            <a:off x="311098" y="5538493"/>
            <a:ext cx="5646355"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Cambria"/>
                <a:ea typeface="Cambria"/>
                <a:cs typeface="Cambria"/>
                <a:sym typeface="Cambria"/>
              </a:rPr>
              <a:t>Ruffs differ in body size as well as in the size and color of the feathers on their heads and necks.</a:t>
            </a:r>
            <a:endParaRPr/>
          </a:p>
        </p:txBody>
      </p:sp>
      <p:pic>
        <p:nvPicPr>
          <p:cNvPr descr="A drawing of a person&#10;&#10;Description automatically generated" id="126" name="Google Shape;126;p22"/>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pic>
        <p:nvPicPr>
          <p:cNvPr descr="A bird that is standing in the grass&#10;&#10;Description automatically generated" id="127" name="Google Shape;127;p22"/>
          <p:cNvPicPr preferRelativeResize="0"/>
          <p:nvPr/>
        </p:nvPicPr>
        <p:blipFill rotWithShape="1">
          <a:blip r:embed="rId4">
            <a:alphaModFix/>
          </a:blip>
          <a:srcRect b="0" l="0" r="0" t="0"/>
          <a:stretch/>
        </p:blipFill>
        <p:spPr>
          <a:xfrm>
            <a:off x="301585" y="3257431"/>
            <a:ext cx="3019416" cy="2253727"/>
          </a:xfrm>
          <a:prstGeom prst="rect">
            <a:avLst/>
          </a:prstGeom>
          <a:noFill/>
          <a:ln>
            <a:noFill/>
          </a:ln>
        </p:spPr>
      </p:pic>
      <p:pic>
        <p:nvPicPr>
          <p:cNvPr descr="A bird that is standing in the grass&#10;&#10;Description automatically generated" id="128" name="Google Shape;128;p22"/>
          <p:cNvPicPr preferRelativeResize="0"/>
          <p:nvPr/>
        </p:nvPicPr>
        <p:blipFill rotWithShape="1">
          <a:blip r:embed="rId5">
            <a:alphaModFix/>
          </a:blip>
          <a:srcRect b="0" l="0" r="0" t="0"/>
          <a:stretch/>
        </p:blipFill>
        <p:spPr>
          <a:xfrm>
            <a:off x="3408383" y="2136226"/>
            <a:ext cx="2749479" cy="2034944"/>
          </a:xfrm>
          <a:prstGeom prst="rect">
            <a:avLst/>
          </a:prstGeom>
          <a:noFill/>
          <a:ln>
            <a:noFill/>
          </a:ln>
        </p:spPr>
      </p:pic>
      <p:pic>
        <p:nvPicPr>
          <p:cNvPr descr="A close up of a bird&#10;&#10;Description automatically generated" id="129" name="Google Shape;129;p22"/>
          <p:cNvPicPr preferRelativeResize="0"/>
          <p:nvPr/>
        </p:nvPicPr>
        <p:blipFill rotWithShape="1">
          <a:blip r:embed="rId6">
            <a:alphaModFix/>
          </a:blip>
          <a:srcRect b="0" l="0" r="0" t="0"/>
          <a:stretch/>
        </p:blipFill>
        <p:spPr>
          <a:xfrm>
            <a:off x="311098" y="908176"/>
            <a:ext cx="3000391" cy="224213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 Genetic Variation</a:t>
            </a:r>
            <a:br>
              <a:rPr lang="en-US">
                <a:solidFill>
                  <a:srgbClr val="F2A900"/>
                </a:solidFill>
                <a:latin typeface="Cambria"/>
                <a:ea typeface="Cambria"/>
                <a:cs typeface="Cambria"/>
                <a:sym typeface="Cambria"/>
              </a:rPr>
            </a:br>
            <a:endParaRPr>
              <a:solidFill>
                <a:srgbClr val="F2A900"/>
              </a:solidFill>
              <a:latin typeface="Cambria"/>
              <a:ea typeface="Cambria"/>
              <a:cs typeface="Cambria"/>
              <a:sym typeface="Cambria"/>
            </a:endParaRPr>
          </a:p>
        </p:txBody>
      </p:sp>
      <p:sp>
        <p:nvSpPr>
          <p:cNvPr id="137" name="Google Shape;137;p2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38" name="Google Shape;138;p23"/>
          <p:cNvSpPr/>
          <p:nvPr/>
        </p:nvSpPr>
        <p:spPr>
          <a:xfrm>
            <a:off x="5084618" y="3448388"/>
            <a:ext cx="3747452" cy="240065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chemeClr val="dk1"/>
                </a:solidFill>
                <a:latin typeface="Cambria"/>
                <a:ea typeface="Cambria"/>
                <a:cs typeface="Cambria"/>
                <a:sym typeface="Cambria"/>
              </a:rPr>
              <a:t>Record the similarities and differences you see between the meerkats. Why do traits vary between individuals in a population?</a:t>
            </a:r>
            <a:endParaRPr/>
          </a:p>
        </p:txBody>
      </p:sp>
      <p:sp>
        <p:nvSpPr>
          <p:cNvPr id="139" name="Google Shape;139;p23"/>
          <p:cNvSpPr/>
          <p:nvPr/>
        </p:nvSpPr>
        <p:spPr>
          <a:xfrm>
            <a:off x="5084618" y="1253247"/>
            <a:ext cx="3652982"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Meerkats are mammals that live in the deserts of Africa. They live together in cooperative groups.</a:t>
            </a:r>
            <a:endParaRPr sz="2500">
              <a:solidFill>
                <a:schemeClr val="dk1"/>
              </a:solidFill>
              <a:latin typeface="Cambria"/>
              <a:ea typeface="Cambria"/>
              <a:cs typeface="Cambria"/>
              <a:sym typeface="Cambria"/>
            </a:endParaRPr>
          </a:p>
        </p:txBody>
      </p:sp>
      <p:sp>
        <p:nvSpPr>
          <p:cNvPr id="140" name="Google Shape;140;p2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picture containing animal, meerkat, outdoor, standing&#10;&#10;Description automatically generated" id="141" name="Google Shape;141;p23"/>
          <p:cNvPicPr preferRelativeResize="0"/>
          <p:nvPr/>
        </p:nvPicPr>
        <p:blipFill rotWithShape="1">
          <a:blip r:embed="rId3">
            <a:alphaModFix/>
          </a:blip>
          <a:srcRect b="0" l="0" r="0" t="0"/>
          <a:stretch/>
        </p:blipFill>
        <p:spPr>
          <a:xfrm>
            <a:off x="429491" y="1221389"/>
            <a:ext cx="4571999" cy="3622467"/>
          </a:xfrm>
          <a:prstGeom prst="rect">
            <a:avLst/>
          </a:prstGeom>
          <a:noFill/>
          <a:ln>
            <a:noFill/>
          </a:ln>
        </p:spPr>
      </p:pic>
      <p:sp>
        <p:nvSpPr>
          <p:cNvPr id="142" name="Google Shape;142;p23"/>
          <p:cNvSpPr/>
          <p:nvPr/>
        </p:nvSpPr>
        <p:spPr>
          <a:xfrm>
            <a:off x="311930" y="4843857"/>
            <a:ext cx="45720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Meerkats stand alert to look for predators.</a:t>
            </a:r>
            <a:endParaRPr sz="18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Genetic Variation</a:t>
            </a:r>
            <a:endParaRPr/>
          </a:p>
        </p:txBody>
      </p:sp>
      <p:sp>
        <p:nvSpPr>
          <p:cNvPr id="150" name="Google Shape;150;p2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51" name="Google Shape;151;p24"/>
          <p:cNvSpPr/>
          <p:nvPr/>
        </p:nvSpPr>
        <p:spPr>
          <a:xfrm>
            <a:off x="111211" y="844582"/>
            <a:ext cx="9032789" cy="5632311"/>
          </a:xfrm>
          <a:prstGeom prst="rect">
            <a:avLst/>
          </a:prstGeom>
          <a:noFill/>
          <a:ln>
            <a:noFill/>
          </a:ln>
        </p:spPr>
        <p:txBody>
          <a:bodyPr anchorCtr="0" anchor="t" bIns="45700" lIns="91425" spcFirstLastPara="1" rIns="91425" wrap="square" tIns="45700">
            <a:noAutofit/>
          </a:bodyPr>
          <a:lstStyle/>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 meerkats have variations in their physical traits, phenotypes. The phenotypic differences among the meerkats are due to differences in genes that code for those traits. Certain differences may offer a competitive advantage compared to the rest of the population.</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 </a:t>
            </a:r>
            <a:r>
              <a:rPr b="1" lang="en-US" sz="2400" u="sng">
                <a:solidFill>
                  <a:schemeClr val="dk2"/>
                </a:solidFill>
                <a:latin typeface="Cambria"/>
                <a:ea typeface="Cambria"/>
                <a:cs typeface="Cambria"/>
                <a:sym typeface="Cambria"/>
                <a:hlinkClick r:id="rId3">
                  <a:extLst>
                    <a:ext uri="{A12FA001-AC4F-418D-AE19-62706E023703}">
                      <ahyp:hlinkClr val="tx"/>
                    </a:ext>
                  </a:extLst>
                </a:hlinkClick>
              </a:rPr>
              <a:t>gene pool</a:t>
            </a:r>
            <a:r>
              <a:rPr lang="en-US" sz="2400">
                <a:solidFill>
                  <a:schemeClr val="dk1"/>
                </a:solidFill>
                <a:latin typeface="Cambria"/>
                <a:ea typeface="Cambria"/>
                <a:cs typeface="Cambria"/>
                <a:sym typeface="Cambria"/>
              </a:rPr>
              <a:t> is the collection of alleles found in all the individuals of a population.</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 different alleles in a gene pool result from mutations.</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How can mutations in gametes become widespread in the gene pool?</a:t>
            </a:r>
            <a:endParaRPr/>
          </a:p>
        </p:txBody>
      </p:sp>
      <p:sp>
        <p:nvSpPr>
          <p:cNvPr id="152" name="Google Shape;152;p2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drawing of a person&#10;&#10;Description automatically generated" id="153" name="Google Shape;153;p24"/>
          <p:cNvPicPr preferRelativeResize="0"/>
          <p:nvPr/>
        </p:nvPicPr>
        <p:blipFill rotWithShape="1">
          <a:blip r:embed="rId4">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Genetic Variation</a:t>
            </a:r>
            <a:endParaRPr/>
          </a:p>
        </p:txBody>
      </p:sp>
      <p:sp>
        <p:nvSpPr>
          <p:cNvPr id="161" name="Google Shape;161;p2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62" name="Google Shape;162;p25"/>
          <p:cNvSpPr/>
          <p:nvPr/>
        </p:nvSpPr>
        <p:spPr>
          <a:xfrm>
            <a:off x="4190761" y="2454507"/>
            <a:ext cx="4665372" cy="2369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p:txBody>
      </p:sp>
      <p:sp>
        <p:nvSpPr>
          <p:cNvPr id="163" name="Google Shape;163;p25"/>
          <p:cNvSpPr/>
          <p:nvPr/>
        </p:nvSpPr>
        <p:spPr>
          <a:xfrm>
            <a:off x="4729454" y="946253"/>
            <a:ext cx="4259962" cy="6032421"/>
          </a:xfrm>
          <a:prstGeom prst="rect">
            <a:avLst/>
          </a:prstGeom>
          <a:noFill/>
          <a:ln>
            <a:noFill/>
          </a:ln>
        </p:spPr>
        <p:txBody>
          <a:bodyPr anchorCtr="0" anchor="t" bIns="45700" lIns="91425" spcFirstLastPara="1" rIns="91425" wrap="square" tIns="45700">
            <a:noAutofit/>
          </a:bodyPr>
          <a:lstStyle/>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Different combinations of alleles in a gene pool can be formed when organisms mate and have offspring.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Alleles are different forms, or versions, of genes.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For example, mice with either one or two copies of the dominant </a:t>
            </a:r>
            <a:r>
              <a:rPr i="1" lang="en-US" sz="2400">
                <a:solidFill>
                  <a:schemeClr val="dk1"/>
                </a:solidFill>
                <a:latin typeface="Cambria"/>
                <a:ea typeface="Cambria"/>
                <a:cs typeface="Cambria"/>
                <a:sym typeface="Cambria"/>
              </a:rPr>
              <a:t>B</a:t>
            </a:r>
            <a:r>
              <a:rPr lang="en-US" sz="2400">
                <a:solidFill>
                  <a:schemeClr val="dk1"/>
                </a:solidFill>
                <a:latin typeface="Cambria"/>
                <a:ea typeface="Cambria"/>
                <a:cs typeface="Cambria"/>
                <a:sym typeface="Cambria"/>
              </a:rPr>
              <a:t> allele have brown fur, while mice with two recessive </a:t>
            </a:r>
            <a:r>
              <a:rPr i="1" lang="en-US" sz="2400">
                <a:solidFill>
                  <a:schemeClr val="dk1"/>
                </a:solidFill>
                <a:latin typeface="Cambria"/>
                <a:ea typeface="Cambria"/>
                <a:cs typeface="Cambria"/>
                <a:sym typeface="Cambria"/>
              </a:rPr>
              <a:t>b</a:t>
            </a:r>
            <a:r>
              <a:rPr lang="en-US" sz="2400">
                <a:solidFill>
                  <a:schemeClr val="dk1"/>
                </a:solidFill>
                <a:latin typeface="Cambria"/>
                <a:ea typeface="Cambria"/>
                <a:cs typeface="Cambria"/>
                <a:sym typeface="Cambria"/>
              </a:rPr>
              <a:t> alleles have black fur.</a:t>
            </a:r>
            <a:endParaRPr b="1" sz="2500">
              <a:solidFill>
                <a:srgbClr val="4C4E50"/>
              </a:solidFill>
              <a:latin typeface="Cambria"/>
              <a:ea typeface="Cambria"/>
              <a:cs typeface="Cambria"/>
              <a:sym typeface="Cambria"/>
            </a:endParaRPr>
          </a:p>
          <a:p>
            <a:pPr indent="0" lvl="0" marL="0" marR="0" rtl="0" algn="l">
              <a:spcBef>
                <a:spcPts val="0"/>
              </a:spcBef>
              <a:spcAft>
                <a:spcPts val="0"/>
              </a:spcAft>
              <a:buNone/>
            </a:pPr>
            <a:r>
              <a:t/>
            </a:r>
            <a:endParaRPr b="1" sz="2500">
              <a:solidFill>
                <a:srgbClr val="4C4E50"/>
              </a:solidFill>
              <a:latin typeface="Cambria"/>
              <a:ea typeface="Cambria"/>
              <a:cs typeface="Cambria"/>
              <a:sym typeface="Cambria"/>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p:txBody>
      </p:sp>
      <p:sp>
        <p:nvSpPr>
          <p:cNvPr id="164" name="Google Shape;164;p25"/>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
        <p:nvSpPr>
          <p:cNvPr id="165" name="Google Shape;165;p25"/>
          <p:cNvSpPr/>
          <p:nvPr/>
        </p:nvSpPr>
        <p:spPr>
          <a:xfrm>
            <a:off x="208506" y="4539046"/>
            <a:ext cx="4572000" cy="9233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55595B"/>
                </a:solidFill>
                <a:latin typeface="Cambria"/>
                <a:ea typeface="Cambria"/>
                <a:cs typeface="Cambria"/>
                <a:sym typeface="Cambria"/>
              </a:rPr>
              <a:t>Field Mice Alleles</a:t>
            </a:r>
            <a:r>
              <a:rPr lang="en-US" sz="1800">
                <a:solidFill>
                  <a:srgbClr val="55595B"/>
                </a:solidFill>
                <a:latin typeface="Cambria"/>
                <a:ea typeface="Cambria"/>
                <a:cs typeface="Cambria"/>
                <a:sym typeface="Cambria"/>
              </a:rPr>
              <a:t> | Differences in fur color in mice are due to differences in allele combinations.</a:t>
            </a:r>
            <a:endParaRPr sz="1800">
              <a:solidFill>
                <a:schemeClr val="dk1"/>
              </a:solidFill>
              <a:latin typeface="Cambria"/>
              <a:ea typeface="Cambria"/>
              <a:cs typeface="Cambria"/>
              <a:sym typeface="Cambria"/>
            </a:endParaRPr>
          </a:p>
        </p:txBody>
      </p:sp>
      <p:pic>
        <p:nvPicPr>
          <p:cNvPr descr="A picture containing sign, grass, outdoor, animal&#10;&#10;Description automatically generated" id="166" name="Google Shape;166;p25"/>
          <p:cNvPicPr preferRelativeResize="0"/>
          <p:nvPr/>
        </p:nvPicPr>
        <p:blipFill rotWithShape="1">
          <a:blip r:embed="rId3">
            <a:alphaModFix/>
          </a:blip>
          <a:srcRect b="0" l="0" r="0" t="0"/>
          <a:stretch/>
        </p:blipFill>
        <p:spPr>
          <a:xfrm>
            <a:off x="350124" y="1237161"/>
            <a:ext cx="4348151" cy="325952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Genetic Variation</a:t>
            </a:r>
            <a:endParaRPr/>
          </a:p>
        </p:txBody>
      </p:sp>
      <p:sp>
        <p:nvSpPr>
          <p:cNvPr id="174" name="Google Shape;174;p2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75" name="Google Shape;175;p26"/>
          <p:cNvSpPr/>
          <p:nvPr/>
        </p:nvSpPr>
        <p:spPr>
          <a:xfrm>
            <a:off x="4190761" y="2454507"/>
            <a:ext cx="4665372" cy="2369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p:txBody>
      </p:sp>
      <p:sp>
        <p:nvSpPr>
          <p:cNvPr id="176" name="Google Shape;176;p26"/>
          <p:cNvSpPr/>
          <p:nvPr/>
        </p:nvSpPr>
        <p:spPr>
          <a:xfrm>
            <a:off x="457200" y="1123000"/>
            <a:ext cx="8532216" cy="3785652"/>
          </a:xfrm>
          <a:prstGeom prst="rect">
            <a:avLst/>
          </a:prstGeom>
          <a:noFill/>
          <a:ln>
            <a:noFill/>
          </a:ln>
        </p:spPr>
        <p:txBody>
          <a:bodyPr anchorCtr="0" anchor="t" bIns="45700" lIns="91425" spcFirstLastPara="1" rIns="91425" wrap="square" tIns="45700">
            <a:noAutofit/>
          </a:bodyPr>
          <a:lstStyle/>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You can use the total number of alleles, the number of dominant alleles, and the number of recessive alleles to find the allele frequency in a population.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3">
                  <a:extLst>
                    <a:ext uri="{A12FA001-AC4F-418D-AE19-62706E023703}">
                      <ahyp:hlinkClr val="tx"/>
                    </a:ext>
                  </a:extLst>
                </a:hlinkClick>
              </a:rPr>
              <a:t>Allele frequency</a:t>
            </a:r>
            <a:r>
              <a:rPr lang="en-US" sz="2400">
                <a:solidFill>
                  <a:schemeClr val="dk1"/>
                </a:solidFill>
                <a:latin typeface="Cambria"/>
                <a:ea typeface="Cambria"/>
                <a:cs typeface="Cambria"/>
                <a:sym typeface="Cambria"/>
              </a:rPr>
              <a:t> is the proportion of one allele, compared with all the alleles for that trait, in the gene pool.</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 To find the frequency of a particular allele, divide the number of times the allele is present by the total number of alleles in the population.</a:t>
            </a:r>
            <a:endParaRPr b="1" sz="2500">
              <a:solidFill>
                <a:schemeClr val="dk1"/>
              </a:solidFill>
              <a:latin typeface="Cambria"/>
              <a:ea typeface="Cambria"/>
              <a:cs typeface="Cambria"/>
              <a:sym typeface="Cambria"/>
            </a:endParaRPr>
          </a:p>
        </p:txBody>
      </p:sp>
      <p:sp>
        <p:nvSpPr>
          <p:cNvPr id="177" name="Google Shape;177;p26"/>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close up of a logo&#10;&#10;Description automatically generated" id="178" name="Google Shape;178;p26"/>
          <p:cNvPicPr preferRelativeResize="0"/>
          <p:nvPr/>
        </p:nvPicPr>
        <p:blipFill rotWithShape="1">
          <a:blip r:embed="rId4">
            <a:alphaModFix/>
          </a:blip>
          <a:srcRect b="0" l="0" r="0" t="0"/>
          <a:stretch/>
        </p:blipFill>
        <p:spPr>
          <a:xfrm>
            <a:off x="0" y="5020691"/>
            <a:ext cx="9144000" cy="113520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Genetic Variation</a:t>
            </a:r>
            <a:endParaRPr/>
          </a:p>
        </p:txBody>
      </p:sp>
      <p:sp>
        <p:nvSpPr>
          <p:cNvPr id="186" name="Google Shape;186;p2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87" name="Google Shape;187;p27"/>
          <p:cNvSpPr/>
          <p:nvPr/>
        </p:nvSpPr>
        <p:spPr>
          <a:xfrm>
            <a:off x="4190761" y="2454507"/>
            <a:ext cx="4665372" cy="2369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p:txBody>
      </p:sp>
      <p:sp>
        <p:nvSpPr>
          <p:cNvPr id="188" name="Google Shape;188;p27"/>
          <p:cNvSpPr/>
          <p:nvPr/>
        </p:nvSpPr>
        <p:spPr>
          <a:xfrm>
            <a:off x="4975213" y="1123000"/>
            <a:ext cx="4014203" cy="45243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The Punnett square is a square diagram that is used to predict the genotypes of a particular cross or breeding experiment</a:t>
            </a:r>
            <a:endParaRPr/>
          </a:p>
          <a:p>
            <a:pPr indent="0" lvl="0" marL="0" marR="0" rtl="0" algn="l">
              <a:spcBef>
                <a:spcPts val="0"/>
              </a:spcBef>
              <a:spcAft>
                <a:spcPts val="0"/>
              </a:spcAft>
              <a:buNone/>
            </a:pPr>
            <a:r>
              <a:t/>
            </a:r>
            <a:endParaRPr b="1" sz="2400">
              <a:solidFill>
                <a:srgbClr val="4C4E50"/>
              </a:solidFill>
              <a:latin typeface="Cambria"/>
              <a:ea typeface="Cambria"/>
              <a:cs typeface="Cambria"/>
              <a:sym typeface="Cambria"/>
            </a:endParaRPr>
          </a:p>
          <a:p>
            <a:pPr indent="0" lvl="0" marL="0" marR="0" rtl="0" algn="l">
              <a:spcBef>
                <a:spcPts val="0"/>
              </a:spcBef>
              <a:spcAft>
                <a:spcPts val="0"/>
              </a:spcAft>
              <a:buNone/>
            </a:pPr>
            <a:r>
              <a:rPr b="1" lang="en-US" sz="2400">
                <a:solidFill>
                  <a:srgbClr val="4C4E50"/>
                </a:solidFill>
                <a:latin typeface="Cambria"/>
                <a:ea typeface="Cambria"/>
                <a:cs typeface="Cambria"/>
                <a:sym typeface="Cambria"/>
              </a:rPr>
              <a:t>What could a scientist conclude if the genotypic frequencies in a population are different from the predicted values?</a:t>
            </a:r>
            <a:endParaRPr b="1" sz="2400">
              <a:solidFill>
                <a:schemeClr val="dk1"/>
              </a:solidFill>
              <a:latin typeface="Cambria"/>
              <a:ea typeface="Cambria"/>
              <a:cs typeface="Cambria"/>
              <a:sym typeface="Cambria"/>
            </a:endParaRPr>
          </a:p>
          <a:p>
            <a:pPr indent="-30162" lvl="0" marL="182563" marR="0" rtl="0" algn="l">
              <a:spcBef>
                <a:spcPts val="0"/>
              </a:spcBef>
              <a:spcAft>
                <a:spcPts val="0"/>
              </a:spcAft>
              <a:buClr>
                <a:schemeClr val="dk1"/>
              </a:buClr>
              <a:buSzPts val="2400"/>
              <a:buFont typeface="Arial"/>
              <a:buNone/>
            </a:pPr>
            <a:r>
              <a:t/>
            </a:r>
            <a:endParaRPr b="1" sz="2400">
              <a:solidFill>
                <a:schemeClr val="dk1"/>
              </a:solidFill>
              <a:latin typeface="Cambria"/>
              <a:ea typeface="Cambria"/>
              <a:cs typeface="Cambria"/>
              <a:sym typeface="Cambria"/>
            </a:endParaRPr>
          </a:p>
        </p:txBody>
      </p:sp>
      <p:sp>
        <p:nvSpPr>
          <p:cNvPr id="189" name="Google Shape;189;p27"/>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screenshot of a cell phone&#10;&#10;Description automatically generated" id="190" name="Google Shape;190;p27"/>
          <p:cNvPicPr preferRelativeResize="0"/>
          <p:nvPr/>
        </p:nvPicPr>
        <p:blipFill rotWithShape="1">
          <a:blip r:embed="rId3">
            <a:alphaModFix/>
          </a:blip>
          <a:srcRect b="0" l="0" r="0" t="0"/>
          <a:stretch/>
        </p:blipFill>
        <p:spPr>
          <a:xfrm>
            <a:off x="1033073" y="3658636"/>
            <a:ext cx="3157688" cy="2369880"/>
          </a:xfrm>
          <a:prstGeom prst="rect">
            <a:avLst/>
          </a:prstGeom>
          <a:noFill/>
          <a:ln>
            <a:noFill/>
          </a:ln>
        </p:spPr>
      </p:pic>
      <p:pic>
        <p:nvPicPr>
          <p:cNvPr descr="A nest with eggs in it&#10;&#10;Description automatically generated" id="191" name="Google Shape;191;p27"/>
          <p:cNvPicPr preferRelativeResize="0"/>
          <p:nvPr/>
        </p:nvPicPr>
        <p:blipFill rotWithShape="1">
          <a:blip r:embed="rId4">
            <a:alphaModFix/>
          </a:blip>
          <a:srcRect b="0" l="0" r="0" t="0"/>
          <a:stretch/>
        </p:blipFill>
        <p:spPr>
          <a:xfrm>
            <a:off x="1101712" y="890314"/>
            <a:ext cx="3020410" cy="2265308"/>
          </a:xfrm>
          <a:prstGeom prst="rect">
            <a:avLst/>
          </a:prstGeom>
          <a:noFill/>
          <a:ln>
            <a:noFill/>
          </a:ln>
        </p:spPr>
      </p:pic>
      <p:sp>
        <p:nvSpPr>
          <p:cNvPr id="192" name="Google Shape;192;p27"/>
          <p:cNvSpPr/>
          <p:nvPr/>
        </p:nvSpPr>
        <p:spPr>
          <a:xfrm>
            <a:off x="297933" y="3105834"/>
            <a:ext cx="5140411"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In some birds, blue eggshells are dominant to white eggshells.</a:t>
            </a:r>
            <a:endParaRPr sz="1800">
              <a:solidFill>
                <a:schemeClr val="dk1"/>
              </a:solidFill>
              <a:latin typeface="Cambria"/>
              <a:ea typeface="Cambria"/>
              <a:cs typeface="Cambria"/>
              <a:sym typeface="Cambria"/>
            </a:endParaRPr>
          </a:p>
        </p:txBody>
      </p:sp>
      <p:sp>
        <p:nvSpPr>
          <p:cNvPr id="193" name="Google Shape;193;p27"/>
          <p:cNvSpPr/>
          <p:nvPr/>
        </p:nvSpPr>
        <p:spPr>
          <a:xfrm>
            <a:off x="457200" y="5863506"/>
            <a:ext cx="457200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55595B"/>
                </a:solidFill>
                <a:latin typeface="Cambria"/>
                <a:ea typeface="Cambria"/>
                <a:cs typeface="Cambria"/>
                <a:sym typeface="Cambria"/>
              </a:rPr>
              <a:t>In this Punnett square, </a:t>
            </a:r>
            <a:r>
              <a:rPr i="1" lang="en-US" sz="1600">
                <a:solidFill>
                  <a:srgbClr val="55595B"/>
                </a:solidFill>
                <a:latin typeface="Cambria"/>
                <a:ea typeface="Cambria"/>
                <a:cs typeface="Cambria"/>
                <a:sym typeface="Cambria"/>
              </a:rPr>
              <a:t>p</a:t>
            </a:r>
            <a:r>
              <a:rPr lang="en-US" sz="1600">
                <a:solidFill>
                  <a:srgbClr val="55595B"/>
                </a:solidFill>
                <a:latin typeface="Cambria"/>
                <a:ea typeface="Cambria"/>
                <a:cs typeface="Cambria"/>
                <a:sym typeface="Cambria"/>
              </a:rPr>
              <a:t> represents the dominant allele and </a:t>
            </a:r>
            <a:r>
              <a:rPr i="1" lang="en-US" sz="1600">
                <a:solidFill>
                  <a:srgbClr val="55595B"/>
                </a:solidFill>
                <a:latin typeface="Cambria"/>
                <a:ea typeface="Cambria"/>
                <a:cs typeface="Cambria"/>
                <a:sym typeface="Cambria"/>
              </a:rPr>
              <a:t>q </a:t>
            </a:r>
            <a:r>
              <a:rPr lang="en-US" sz="1600">
                <a:solidFill>
                  <a:srgbClr val="55595B"/>
                </a:solidFill>
                <a:latin typeface="Cambria"/>
                <a:ea typeface="Cambria"/>
                <a:cs typeface="Cambria"/>
                <a:sym typeface="Cambria"/>
              </a:rPr>
              <a:t>represents the recessive allele.</a:t>
            </a:r>
            <a:endParaRPr sz="16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Genetic Variation</a:t>
            </a:r>
            <a:br>
              <a:rPr lang="en-US"/>
            </a:br>
            <a:r>
              <a:rPr lang="en-US">
                <a:solidFill>
                  <a:schemeClr val="accent6"/>
                </a:solidFill>
              </a:rPr>
              <a:t>Data Analysis</a:t>
            </a:r>
            <a:br>
              <a:rPr lang="en-US"/>
            </a:br>
            <a:endParaRPr>
              <a:solidFill>
                <a:srgbClr val="F2A900"/>
              </a:solidFill>
              <a:latin typeface="Cambria"/>
              <a:ea typeface="Cambria"/>
              <a:cs typeface="Cambria"/>
              <a:sym typeface="Cambria"/>
            </a:endParaRPr>
          </a:p>
        </p:txBody>
      </p:sp>
      <p:sp>
        <p:nvSpPr>
          <p:cNvPr id="201" name="Google Shape;201;p2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02" name="Google Shape;202;p28"/>
          <p:cNvSpPr txBox="1"/>
          <p:nvPr/>
        </p:nvSpPr>
        <p:spPr>
          <a:xfrm>
            <a:off x="7298064" y="-39926"/>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
        <p:nvSpPr>
          <p:cNvPr id="203" name="Google Shape;203;p28"/>
          <p:cNvSpPr/>
          <p:nvPr/>
        </p:nvSpPr>
        <p:spPr>
          <a:xfrm>
            <a:off x="132402" y="1190670"/>
            <a:ext cx="9011598" cy="369331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200">
                <a:solidFill>
                  <a:schemeClr val="dk1"/>
                </a:solidFill>
                <a:latin typeface="Cambria"/>
                <a:ea typeface="Cambria"/>
                <a:cs typeface="Cambria"/>
                <a:sym typeface="Cambria"/>
              </a:rPr>
              <a:t>In a population of 1000 chickens, 840 hens lay blue eggs and 160 hens lay white eggs. Use the equation </a:t>
            </a:r>
            <a:r>
              <a:rPr i="1" lang="en-US" sz="2200">
                <a:solidFill>
                  <a:schemeClr val="dk1"/>
                </a:solidFill>
                <a:latin typeface="Cambria"/>
                <a:ea typeface="Cambria"/>
                <a:cs typeface="Cambria"/>
                <a:sym typeface="Cambria"/>
              </a:rPr>
              <a:t>p</a:t>
            </a:r>
            <a:r>
              <a:rPr baseline="30000" lang="en-US" sz="2200">
                <a:solidFill>
                  <a:schemeClr val="dk1"/>
                </a:solidFill>
                <a:latin typeface="Cambria"/>
                <a:ea typeface="Cambria"/>
                <a:cs typeface="Cambria"/>
                <a:sym typeface="Cambria"/>
              </a:rPr>
              <a:t>2</a:t>
            </a:r>
            <a:r>
              <a:rPr lang="en-US" sz="2200">
                <a:solidFill>
                  <a:schemeClr val="dk1"/>
                </a:solidFill>
                <a:latin typeface="Cambria"/>
                <a:ea typeface="Cambria"/>
                <a:cs typeface="Cambria"/>
                <a:sym typeface="Cambria"/>
              </a:rPr>
              <a:t> + 2</a:t>
            </a:r>
            <a:r>
              <a:rPr i="1" lang="en-US" sz="2200">
                <a:solidFill>
                  <a:schemeClr val="dk1"/>
                </a:solidFill>
                <a:latin typeface="Cambria"/>
                <a:ea typeface="Cambria"/>
                <a:cs typeface="Cambria"/>
                <a:sym typeface="Cambria"/>
              </a:rPr>
              <a:t>pq</a:t>
            </a:r>
            <a:r>
              <a:rPr lang="en-US" sz="2200">
                <a:solidFill>
                  <a:schemeClr val="dk1"/>
                </a:solidFill>
                <a:latin typeface="Cambria"/>
                <a:ea typeface="Cambria"/>
                <a:cs typeface="Cambria"/>
                <a:sym typeface="Cambria"/>
              </a:rPr>
              <a:t> + </a:t>
            </a:r>
            <a:r>
              <a:rPr i="1" lang="en-US" sz="2200">
                <a:solidFill>
                  <a:schemeClr val="dk1"/>
                </a:solidFill>
                <a:latin typeface="Cambria"/>
                <a:ea typeface="Cambria"/>
                <a:cs typeface="Cambria"/>
                <a:sym typeface="Cambria"/>
              </a:rPr>
              <a:t>q</a:t>
            </a:r>
            <a:r>
              <a:rPr baseline="30000" lang="en-US" sz="2200">
                <a:solidFill>
                  <a:schemeClr val="dk1"/>
                </a:solidFill>
                <a:latin typeface="Cambria"/>
                <a:ea typeface="Cambria"/>
                <a:cs typeface="Cambria"/>
                <a:sym typeface="Cambria"/>
              </a:rPr>
              <a:t>2</a:t>
            </a:r>
            <a:r>
              <a:rPr lang="en-US" sz="2200">
                <a:solidFill>
                  <a:schemeClr val="dk1"/>
                </a:solidFill>
                <a:latin typeface="Cambria"/>
                <a:ea typeface="Cambria"/>
                <a:cs typeface="Cambria"/>
                <a:sym typeface="Cambria"/>
              </a:rPr>
              <a:t> = 1 to determine the predicted genotypic frequencies for this population. Then compare those values with the actual genotypic frequencies in the population.</a:t>
            </a:r>
            <a:endParaRPr/>
          </a:p>
          <a:p>
            <a:pPr indent="0" lvl="0" marL="0" marR="0" rtl="0" algn="l">
              <a:spcBef>
                <a:spcPts val="0"/>
              </a:spcBef>
              <a:spcAft>
                <a:spcPts val="0"/>
              </a:spcAft>
              <a:buNone/>
            </a:pPr>
            <a:r>
              <a:t/>
            </a:r>
            <a:endParaRPr sz="22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Variables</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000"/>
              <a:buFont typeface="Arial"/>
              <a:buChar char="•"/>
            </a:pPr>
            <a:r>
              <a:rPr i="1" lang="en-US" sz="2000">
                <a:solidFill>
                  <a:schemeClr val="dk1"/>
                </a:solidFill>
                <a:latin typeface="Cambria"/>
                <a:ea typeface="Cambria"/>
                <a:cs typeface="Cambria"/>
                <a:sym typeface="Cambria"/>
              </a:rPr>
              <a:t>p</a:t>
            </a:r>
            <a:r>
              <a:rPr lang="en-US" sz="2000">
                <a:solidFill>
                  <a:schemeClr val="dk1"/>
                </a:solidFill>
                <a:latin typeface="Cambria"/>
                <a:ea typeface="Cambria"/>
                <a:cs typeface="Cambria"/>
                <a:sym typeface="Cambria"/>
              </a:rPr>
              <a:t> = frequency of </a:t>
            </a:r>
            <a:r>
              <a:rPr i="1" lang="en-US" sz="2000">
                <a:solidFill>
                  <a:schemeClr val="dk1"/>
                </a:solidFill>
                <a:latin typeface="Cambria"/>
                <a:ea typeface="Cambria"/>
                <a:cs typeface="Cambria"/>
                <a:sym typeface="Cambria"/>
              </a:rPr>
              <a:t>O</a:t>
            </a:r>
            <a:r>
              <a:rPr lang="en-US" sz="2000">
                <a:solidFill>
                  <a:schemeClr val="dk1"/>
                </a:solidFill>
                <a:latin typeface="Cambria"/>
                <a:ea typeface="Cambria"/>
                <a:cs typeface="Cambria"/>
                <a:sym typeface="Cambria"/>
              </a:rPr>
              <a:t> (dominant allele, blue shell)</a:t>
            </a:r>
            <a:endParaRPr/>
          </a:p>
          <a:p>
            <a:pPr indent="-342900" lvl="0" marL="342900" marR="0" rtl="0" algn="l">
              <a:spcBef>
                <a:spcPts val="0"/>
              </a:spcBef>
              <a:spcAft>
                <a:spcPts val="0"/>
              </a:spcAft>
              <a:buClr>
                <a:schemeClr val="dk1"/>
              </a:buClr>
              <a:buSzPts val="2000"/>
              <a:buFont typeface="Arial"/>
              <a:buChar char="•"/>
            </a:pPr>
            <a:r>
              <a:rPr i="1" lang="en-US" sz="2000">
                <a:solidFill>
                  <a:schemeClr val="dk1"/>
                </a:solidFill>
                <a:latin typeface="Cambria"/>
                <a:ea typeface="Cambria"/>
                <a:cs typeface="Cambria"/>
                <a:sym typeface="Cambria"/>
              </a:rPr>
              <a:t>q</a:t>
            </a:r>
            <a:r>
              <a:rPr lang="en-US" sz="2000">
                <a:solidFill>
                  <a:schemeClr val="dk1"/>
                </a:solidFill>
                <a:latin typeface="Cambria"/>
                <a:ea typeface="Cambria"/>
                <a:cs typeface="Cambria"/>
                <a:sym typeface="Cambria"/>
              </a:rPr>
              <a:t> = frequency of </a:t>
            </a:r>
            <a:r>
              <a:rPr i="1" lang="en-US" sz="2000">
                <a:solidFill>
                  <a:schemeClr val="dk1"/>
                </a:solidFill>
                <a:latin typeface="Cambria"/>
                <a:ea typeface="Cambria"/>
                <a:cs typeface="Cambria"/>
                <a:sym typeface="Cambria"/>
              </a:rPr>
              <a:t>o</a:t>
            </a:r>
            <a:r>
              <a:rPr lang="en-US" sz="2000">
                <a:solidFill>
                  <a:schemeClr val="dk1"/>
                </a:solidFill>
                <a:latin typeface="Cambria"/>
                <a:ea typeface="Cambria"/>
                <a:cs typeface="Cambria"/>
                <a:sym typeface="Cambria"/>
              </a:rPr>
              <a:t> (recessive allele, white shell)</a:t>
            </a:r>
            <a:endParaRPr/>
          </a:p>
          <a:p>
            <a:pPr indent="-342900" lvl="0" marL="342900" marR="0" rtl="0" algn="l">
              <a:spcBef>
                <a:spcPts val="0"/>
              </a:spcBef>
              <a:spcAft>
                <a:spcPts val="0"/>
              </a:spcAft>
              <a:buClr>
                <a:schemeClr val="dk1"/>
              </a:buClr>
              <a:buSzPts val="2000"/>
              <a:buFont typeface="Arial"/>
              <a:buChar char="•"/>
            </a:pPr>
            <a:r>
              <a:rPr i="1" lang="en-US" sz="2000">
                <a:solidFill>
                  <a:schemeClr val="dk1"/>
                </a:solidFill>
                <a:latin typeface="Cambria"/>
                <a:ea typeface="Cambria"/>
                <a:cs typeface="Cambria"/>
                <a:sym typeface="Cambria"/>
              </a:rPr>
              <a:t>p</a:t>
            </a:r>
            <a:r>
              <a:rPr baseline="30000" i="1" lang="en-US" sz="2000">
                <a:solidFill>
                  <a:schemeClr val="dk1"/>
                </a:solidFill>
                <a:latin typeface="Cambria"/>
                <a:ea typeface="Cambria"/>
                <a:cs typeface="Cambria"/>
                <a:sym typeface="Cambria"/>
              </a:rPr>
              <a:t>2</a:t>
            </a:r>
            <a:r>
              <a:rPr lang="en-US" sz="2000">
                <a:solidFill>
                  <a:schemeClr val="dk1"/>
                </a:solidFill>
                <a:latin typeface="Cambria"/>
                <a:ea typeface="Cambria"/>
                <a:cs typeface="Cambria"/>
                <a:sym typeface="Cambria"/>
              </a:rPr>
              <a:t> = frequency of chickens with </a:t>
            </a:r>
            <a:r>
              <a:rPr i="1" lang="en-US" sz="2000">
                <a:solidFill>
                  <a:schemeClr val="dk1"/>
                </a:solidFill>
                <a:latin typeface="Cambria"/>
                <a:ea typeface="Cambria"/>
                <a:cs typeface="Cambria"/>
                <a:sym typeface="Cambria"/>
              </a:rPr>
              <a:t>OO</a:t>
            </a:r>
            <a:r>
              <a:rPr lang="en-US" sz="2000">
                <a:solidFill>
                  <a:schemeClr val="dk1"/>
                </a:solidFill>
                <a:latin typeface="Cambria"/>
                <a:ea typeface="Cambria"/>
                <a:cs typeface="Cambria"/>
                <a:sym typeface="Cambria"/>
              </a:rPr>
              <a:t> (homozygous dominant genotype)</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2</a:t>
            </a:r>
            <a:r>
              <a:rPr i="1" lang="en-US" sz="2000">
                <a:solidFill>
                  <a:schemeClr val="dk1"/>
                </a:solidFill>
                <a:latin typeface="Cambria"/>
                <a:ea typeface="Cambria"/>
                <a:cs typeface="Cambria"/>
                <a:sym typeface="Cambria"/>
              </a:rPr>
              <a:t>pq</a:t>
            </a:r>
            <a:r>
              <a:rPr lang="en-US" sz="2000">
                <a:solidFill>
                  <a:schemeClr val="dk1"/>
                </a:solidFill>
                <a:latin typeface="Cambria"/>
                <a:ea typeface="Cambria"/>
                <a:cs typeface="Cambria"/>
                <a:sym typeface="Cambria"/>
              </a:rPr>
              <a:t> = frequency of chickens </a:t>
            </a:r>
            <a:r>
              <a:rPr i="1" lang="en-US" sz="2000">
                <a:solidFill>
                  <a:schemeClr val="dk1"/>
                </a:solidFill>
                <a:latin typeface="Cambria"/>
                <a:ea typeface="Cambria"/>
                <a:cs typeface="Cambria"/>
                <a:sym typeface="Cambria"/>
              </a:rPr>
              <a:t>Oo</a:t>
            </a:r>
            <a:r>
              <a:rPr lang="en-US" sz="2000">
                <a:solidFill>
                  <a:schemeClr val="dk1"/>
                </a:solidFill>
                <a:latin typeface="Cambria"/>
                <a:ea typeface="Cambria"/>
                <a:cs typeface="Cambria"/>
                <a:sym typeface="Cambria"/>
              </a:rPr>
              <a:t> (heterozygous genotype)</a:t>
            </a:r>
            <a:endParaRPr/>
          </a:p>
          <a:p>
            <a:pPr indent="-342900" lvl="0" marL="342900" marR="0" rtl="0" algn="l">
              <a:spcBef>
                <a:spcPts val="0"/>
              </a:spcBef>
              <a:spcAft>
                <a:spcPts val="0"/>
              </a:spcAft>
              <a:buClr>
                <a:schemeClr val="dk1"/>
              </a:buClr>
              <a:buSzPts val="2000"/>
              <a:buFont typeface="Arial"/>
              <a:buChar char="•"/>
            </a:pPr>
            <a:r>
              <a:rPr i="1" lang="en-US" sz="2000">
                <a:solidFill>
                  <a:schemeClr val="dk1"/>
                </a:solidFill>
                <a:latin typeface="Cambria"/>
                <a:ea typeface="Cambria"/>
                <a:cs typeface="Cambria"/>
                <a:sym typeface="Cambria"/>
              </a:rPr>
              <a:t>q</a:t>
            </a:r>
            <a:r>
              <a:rPr baseline="30000" i="1" lang="en-US" sz="2000">
                <a:solidFill>
                  <a:schemeClr val="dk1"/>
                </a:solidFill>
                <a:latin typeface="Cambria"/>
                <a:ea typeface="Cambria"/>
                <a:cs typeface="Cambria"/>
                <a:sym typeface="Cambria"/>
              </a:rPr>
              <a:t>2</a:t>
            </a:r>
            <a:r>
              <a:rPr lang="en-US" sz="2000">
                <a:solidFill>
                  <a:schemeClr val="dk1"/>
                </a:solidFill>
                <a:latin typeface="Cambria"/>
                <a:ea typeface="Cambria"/>
                <a:cs typeface="Cambria"/>
                <a:sym typeface="Cambria"/>
              </a:rPr>
              <a:t> = frequency of chickens with </a:t>
            </a:r>
            <a:r>
              <a:rPr i="1" lang="en-US" sz="2000">
                <a:solidFill>
                  <a:schemeClr val="dk1"/>
                </a:solidFill>
                <a:latin typeface="Cambria"/>
                <a:ea typeface="Cambria"/>
                <a:cs typeface="Cambria"/>
                <a:sym typeface="Cambria"/>
              </a:rPr>
              <a:t>oo </a:t>
            </a:r>
            <a:r>
              <a:rPr lang="en-US" sz="2000">
                <a:solidFill>
                  <a:schemeClr val="dk1"/>
                </a:solidFill>
                <a:latin typeface="Cambria"/>
                <a:ea typeface="Cambria"/>
                <a:cs typeface="Cambria"/>
                <a:sym typeface="Cambria"/>
              </a:rPr>
              <a:t>(homozygous recessive genotype)</a:t>
            </a:r>
            <a:endParaRPr/>
          </a:p>
        </p:txBody>
      </p:sp>
      <p:sp>
        <p:nvSpPr>
          <p:cNvPr id="204" name="Google Shape;204;p28"/>
          <p:cNvSpPr/>
          <p:nvPr/>
        </p:nvSpPr>
        <p:spPr>
          <a:xfrm>
            <a:off x="132402" y="5234148"/>
            <a:ext cx="9011597" cy="132343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4C4E50"/>
                </a:solidFill>
                <a:latin typeface="Cambria"/>
                <a:ea typeface="Cambria"/>
                <a:cs typeface="Cambria"/>
                <a:sym typeface="Cambria"/>
              </a:rPr>
              <a:t>Through genetic analysis, scientists discovered the actual genotypic frequencies for the above population to be OO = 0.60, Oo = 0.14, and oo = 0.26. What can you infer by comparing these data to the values predicted above?</a:t>
            </a:r>
            <a:endParaRPr b="1" sz="2000">
              <a:solidFill>
                <a:schemeClr val="dk1"/>
              </a:solidFill>
              <a:latin typeface="Cambria"/>
              <a:ea typeface="Cambria"/>
              <a:cs typeface="Cambria"/>
              <a:sym typeface="Cambria"/>
            </a:endParaRPr>
          </a:p>
        </p:txBody>
      </p:sp>
      <p:pic>
        <p:nvPicPr>
          <p:cNvPr descr="A drawing of a person&#10;&#10;Description automatically generated" id="205" name="Google Shape;205;p28"/>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Genetic Variation</a:t>
            </a:r>
            <a:br>
              <a:rPr lang="en-US">
                <a:solidFill>
                  <a:srgbClr val="F2A900"/>
                </a:solidFill>
                <a:latin typeface="Cambria"/>
                <a:ea typeface="Cambria"/>
                <a:cs typeface="Cambria"/>
                <a:sym typeface="Cambria"/>
              </a:rPr>
            </a:br>
            <a:r>
              <a:rPr lang="en-US">
                <a:solidFill>
                  <a:srgbClr val="00B050"/>
                </a:solidFill>
                <a:latin typeface="Cambria"/>
                <a:ea typeface="Cambria"/>
                <a:cs typeface="Cambria"/>
                <a:sym typeface="Cambria"/>
              </a:rPr>
              <a:t>Cause and Effect</a:t>
            </a:r>
            <a:endParaRPr/>
          </a:p>
        </p:txBody>
      </p:sp>
      <p:sp>
        <p:nvSpPr>
          <p:cNvPr id="213" name="Google Shape;213;p2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14" name="Google Shape;214;p29"/>
          <p:cNvSpPr/>
          <p:nvPr/>
        </p:nvSpPr>
        <p:spPr>
          <a:xfrm>
            <a:off x="457200" y="1881365"/>
            <a:ext cx="8429105" cy="861774"/>
          </a:xfrm>
          <a:prstGeom prst="rect">
            <a:avLst/>
          </a:prstGeom>
          <a:noFill/>
          <a:ln>
            <a:noFill/>
          </a:ln>
        </p:spPr>
        <p:txBody>
          <a:bodyPr anchorCtr="0" anchor="t" bIns="45700" lIns="91425" spcFirstLastPara="1" rIns="91425" wrap="square" tIns="45700">
            <a:noAutofit/>
          </a:bodyPr>
          <a:lstStyle/>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p:txBody>
      </p:sp>
      <p:sp>
        <p:nvSpPr>
          <p:cNvPr id="215" name="Google Shape;215;p29"/>
          <p:cNvSpPr txBox="1"/>
          <p:nvPr/>
        </p:nvSpPr>
        <p:spPr>
          <a:xfrm>
            <a:off x="357447" y="1521986"/>
            <a:ext cx="8628610" cy="3785652"/>
          </a:xfrm>
          <a:prstGeom prst="rect">
            <a:avLst/>
          </a:prstGeom>
          <a:noFill/>
          <a:ln>
            <a:noFill/>
          </a:ln>
        </p:spPr>
        <p:txBody>
          <a:bodyPr anchorCtr="0" anchor="t" bIns="45700" lIns="91425" spcFirstLastPara="1" rIns="91425" wrap="square" tIns="45700">
            <a:spAutoFit/>
          </a:bodyPr>
          <a:lstStyle/>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 peppered moth, ranges in color from light to dark.</a:t>
            </a:r>
            <a:endParaRPr/>
          </a:p>
          <a:p>
            <a:pPr indent="-30162" lvl="0" marL="182563"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Before the Industrial Revolution, light moths were more prevalent than dark moths. </a:t>
            </a:r>
            <a:endParaRPr/>
          </a:p>
          <a:p>
            <a:pPr indent="-30162" lvl="0" marL="182563"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Over time, scientists observed that the number of dark moths increased relative to light moths.</a:t>
            </a:r>
            <a:endParaRPr/>
          </a:p>
          <a:p>
            <a:pPr indent="-30162" lvl="0" marL="182563"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Recent studies found bird predation was one possible driving force behind the population shift.</a:t>
            </a:r>
            <a:endParaRPr sz="2300">
              <a:solidFill>
                <a:schemeClr val="dk1"/>
              </a:solidFill>
              <a:latin typeface="Cambria"/>
              <a:ea typeface="Cambria"/>
              <a:cs typeface="Cambria"/>
              <a:sym typeface="Cambria"/>
            </a:endParaRPr>
          </a:p>
        </p:txBody>
      </p:sp>
      <p:sp>
        <p:nvSpPr>
          <p:cNvPr id="216" name="Google Shape;216;p29"/>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147538" y="170121"/>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Genetic Variation</a:t>
            </a:r>
            <a:br>
              <a:rPr lang="en-US">
                <a:solidFill>
                  <a:srgbClr val="F2A900"/>
                </a:solidFill>
                <a:latin typeface="Cambria"/>
                <a:ea typeface="Cambria"/>
                <a:cs typeface="Cambria"/>
                <a:sym typeface="Cambria"/>
              </a:rPr>
            </a:br>
            <a:r>
              <a:rPr lang="en-US">
                <a:solidFill>
                  <a:srgbClr val="00B050"/>
                </a:solidFill>
                <a:latin typeface="Cambria"/>
                <a:ea typeface="Cambria"/>
                <a:cs typeface="Cambria"/>
                <a:sym typeface="Cambria"/>
              </a:rPr>
              <a:t>Cause and Effect</a:t>
            </a:r>
            <a:endParaRPr/>
          </a:p>
        </p:txBody>
      </p:sp>
      <p:sp>
        <p:nvSpPr>
          <p:cNvPr id="224" name="Google Shape;224;p3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25" name="Google Shape;225;p30"/>
          <p:cNvSpPr/>
          <p:nvPr/>
        </p:nvSpPr>
        <p:spPr>
          <a:xfrm>
            <a:off x="457200" y="1881365"/>
            <a:ext cx="8429105" cy="861774"/>
          </a:xfrm>
          <a:prstGeom prst="rect">
            <a:avLst/>
          </a:prstGeom>
          <a:noFill/>
          <a:ln>
            <a:noFill/>
          </a:ln>
        </p:spPr>
        <p:txBody>
          <a:bodyPr anchorCtr="0" anchor="t" bIns="45700" lIns="91425" spcFirstLastPara="1" rIns="91425" wrap="square" tIns="45700">
            <a:noAutofit/>
          </a:bodyPr>
          <a:lstStyle/>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p:txBody>
      </p:sp>
      <p:sp>
        <p:nvSpPr>
          <p:cNvPr id="226" name="Google Shape;226;p30"/>
          <p:cNvSpPr txBox="1"/>
          <p:nvPr/>
        </p:nvSpPr>
        <p:spPr>
          <a:xfrm>
            <a:off x="4386649" y="549521"/>
            <a:ext cx="4699161" cy="60016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ANALYZE</a:t>
            </a:r>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Make a graph of the shift observed in the peppered moth population. Place the color range on the </a:t>
            </a:r>
            <a:r>
              <a:rPr b="1" i="1" lang="en-US" sz="2400">
                <a:solidFill>
                  <a:schemeClr val="dk1"/>
                </a:solidFill>
                <a:latin typeface="Cambria"/>
                <a:ea typeface="Cambria"/>
                <a:cs typeface="Cambria"/>
                <a:sym typeface="Cambria"/>
              </a:rPr>
              <a:t>x</a:t>
            </a:r>
            <a:r>
              <a:rPr b="1" lang="en-US" sz="2400">
                <a:solidFill>
                  <a:schemeClr val="dk1"/>
                </a:solidFill>
                <a:latin typeface="Cambria"/>
                <a:ea typeface="Cambria"/>
                <a:cs typeface="Cambria"/>
                <a:sym typeface="Cambria"/>
              </a:rPr>
              <a:t>-axis and frequency of the trait on the </a:t>
            </a:r>
            <a:r>
              <a:rPr b="1" i="1" lang="en-US" sz="2400">
                <a:solidFill>
                  <a:schemeClr val="dk1"/>
                </a:solidFill>
                <a:latin typeface="Cambria"/>
                <a:ea typeface="Cambria"/>
                <a:cs typeface="Cambria"/>
                <a:sym typeface="Cambria"/>
              </a:rPr>
              <a:t>y</a:t>
            </a:r>
            <a:r>
              <a:rPr b="1" lang="en-US" sz="2400">
                <a:solidFill>
                  <a:schemeClr val="dk1"/>
                </a:solidFill>
                <a:latin typeface="Cambria"/>
                <a:ea typeface="Cambria"/>
                <a:cs typeface="Cambria"/>
                <a:sym typeface="Cambria"/>
              </a:rPr>
              <a:t>-axis.</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EXPLAIN</a:t>
            </a:r>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How does the Hardy-Weinberg equilibrium equation use genetic variation and allele frequencies in a population to describe whether a population is evolving?</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p:txBody>
      </p:sp>
      <p:sp>
        <p:nvSpPr>
          <p:cNvPr id="227" name="Google Shape;227;p30"/>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drawing of a person&#10;&#10;Description automatically generated" id="228" name="Google Shape;228;p30"/>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pic>
        <p:nvPicPr>
          <p:cNvPr descr="A close up of a tree&#10;&#10;Description automatically generated" id="229" name="Google Shape;229;p30"/>
          <p:cNvPicPr preferRelativeResize="0"/>
          <p:nvPr/>
        </p:nvPicPr>
        <p:blipFill rotWithShape="1">
          <a:blip r:embed="rId4">
            <a:alphaModFix/>
          </a:blip>
          <a:srcRect b="0" l="0" r="0" t="0"/>
          <a:stretch/>
        </p:blipFill>
        <p:spPr>
          <a:xfrm>
            <a:off x="257695" y="1208275"/>
            <a:ext cx="3830595" cy="4277549"/>
          </a:xfrm>
          <a:prstGeom prst="rect">
            <a:avLst/>
          </a:prstGeom>
          <a:noFill/>
          <a:ln>
            <a:noFill/>
          </a:ln>
        </p:spPr>
      </p:pic>
      <p:sp>
        <p:nvSpPr>
          <p:cNvPr id="230" name="Google Shape;230;p30"/>
          <p:cNvSpPr/>
          <p:nvPr/>
        </p:nvSpPr>
        <p:spPr>
          <a:xfrm>
            <a:off x="99752" y="5450082"/>
            <a:ext cx="4572000" cy="9233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The two variations of the peppered moth, </a:t>
            </a:r>
            <a:r>
              <a:rPr i="1" lang="en-US" sz="1800">
                <a:solidFill>
                  <a:srgbClr val="55595B"/>
                </a:solidFill>
                <a:latin typeface="Cambria"/>
                <a:ea typeface="Cambria"/>
                <a:cs typeface="Cambria"/>
                <a:sym typeface="Cambria"/>
              </a:rPr>
              <a:t>Biston betularia</a:t>
            </a:r>
            <a:r>
              <a:rPr lang="en-US" sz="1800">
                <a:solidFill>
                  <a:srgbClr val="55595B"/>
                </a:solidFill>
                <a:latin typeface="Cambria"/>
                <a:ea typeface="Cambria"/>
                <a:cs typeface="Cambria"/>
                <a:sym typeface="Cambria"/>
              </a:rPr>
              <a:t>. One variety is light (</a:t>
            </a:r>
            <a:r>
              <a:rPr i="1" lang="en-US" sz="1800">
                <a:solidFill>
                  <a:srgbClr val="55595B"/>
                </a:solidFill>
                <a:latin typeface="Cambria"/>
                <a:ea typeface="Cambria"/>
                <a:cs typeface="Cambria"/>
                <a:sym typeface="Cambria"/>
              </a:rPr>
              <a:t>typica</a:t>
            </a:r>
            <a:r>
              <a:rPr lang="en-US" sz="1800">
                <a:solidFill>
                  <a:srgbClr val="55595B"/>
                </a:solidFill>
                <a:latin typeface="Cambria"/>
                <a:ea typeface="Cambria"/>
                <a:cs typeface="Cambria"/>
                <a:sym typeface="Cambria"/>
              </a:rPr>
              <a:t>) and the other is dark (</a:t>
            </a:r>
            <a:r>
              <a:rPr i="1" lang="en-US" sz="1800">
                <a:solidFill>
                  <a:srgbClr val="55595B"/>
                </a:solidFill>
                <a:latin typeface="Cambria"/>
                <a:ea typeface="Cambria"/>
                <a:cs typeface="Cambria"/>
                <a:sym typeface="Cambria"/>
              </a:rPr>
              <a:t>carbonaria</a:t>
            </a:r>
            <a:r>
              <a:rPr lang="en-US" sz="1800">
                <a:solidFill>
                  <a:srgbClr val="55595B"/>
                </a:solidFill>
                <a:latin typeface="Cambria"/>
                <a:ea typeface="Cambria"/>
                <a:cs typeface="Cambria"/>
                <a:sym typeface="Cambria"/>
              </a:rPr>
              <a:t>).</a:t>
            </a:r>
            <a:endParaRPr sz="18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 Selection on Populations</a:t>
            </a:r>
            <a:endParaRPr>
              <a:solidFill>
                <a:srgbClr val="00B050"/>
              </a:solidFill>
              <a:latin typeface="Cambria"/>
              <a:ea typeface="Cambria"/>
              <a:cs typeface="Cambria"/>
              <a:sym typeface="Cambria"/>
            </a:endParaRPr>
          </a:p>
        </p:txBody>
      </p:sp>
      <p:sp>
        <p:nvSpPr>
          <p:cNvPr id="238" name="Google Shape;238;p3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39" name="Google Shape;239;p31"/>
          <p:cNvSpPr/>
          <p:nvPr/>
        </p:nvSpPr>
        <p:spPr>
          <a:xfrm>
            <a:off x="4190761" y="2454507"/>
            <a:ext cx="4665372"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40" name="Google Shape;240;p31"/>
          <p:cNvSpPr/>
          <p:nvPr/>
        </p:nvSpPr>
        <p:spPr>
          <a:xfrm>
            <a:off x="4665281" y="408529"/>
            <a:ext cx="4556706" cy="6001643"/>
          </a:xfrm>
          <a:prstGeom prst="rect">
            <a:avLst/>
          </a:prstGeom>
          <a:noFill/>
          <a:ln>
            <a:noFill/>
          </a:ln>
        </p:spPr>
        <p:txBody>
          <a:bodyPr anchorCtr="0" anchor="t" bIns="45700" lIns="91425" spcFirstLastPara="1" rIns="91425" wrap="square" tIns="45700">
            <a:noAutofit/>
          </a:bodyPr>
          <a:lstStyle/>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Members of the King Penguin population differ in their physical traits - some may have either long or short beaks.</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If penguin beak lengths and their frequencies are graphed, the result is a bell-shaped curve like the one shown in the Normal Distribution graph.</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 </a:t>
            </a:r>
            <a:r>
              <a:rPr b="1" lang="en-US" sz="2400" u="sng">
                <a:solidFill>
                  <a:schemeClr val="dk2"/>
                </a:solidFill>
                <a:latin typeface="Cambria"/>
                <a:ea typeface="Cambria"/>
                <a:cs typeface="Cambria"/>
                <a:sym typeface="Cambria"/>
                <a:hlinkClick r:id="rId3">
                  <a:extLst>
                    <a:ext uri="{A12FA001-AC4F-418D-AE19-62706E023703}">
                      <ahyp:hlinkClr val="tx"/>
                    </a:ext>
                  </a:extLst>
                </a:hlinkClick>
              </a:rPr>
              <a:t>normal distribution</a:t>
            </a:r>
            <a:r>
              <a:rPr lang="en-US" sz="2400">
                <a:solidFill>
                  <a:schemeClr val="dk1"/>
                </a:solidFill>
                <a:latin typeface="Cambria"/>
                <a:ea typeface="Cambria"/>
                <a:cs typeface="Cambria"/>
                <a:sym typeface="Cambria"/>
              </a:rPr>
              <a:t> shows an arrangement of data in which most of the values fall in the middle of the data set, represented by the mean. </a:t>
            </a:r>
            <a:endParaRPr b="1" sz="2500">
              <a:solidFill>
                <a:schemeClr val="dk1"/>
              </a:solidFill>
              <a:latin typeface="Cambria"/>
              <a:ea typeface="Cambria"/>
              <a:cs typeface="Cambria"/>
              <a:sym typeface="Cambria"/>
            </a:endParaRPr>
          </a:p>
        </p:txBody>
      </p:sp>
      <p:sp>
        <p:nvSpPr>
          <p:cNvPr id="241" name="Google Shape;241;p31"/>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close up of a penguin&#10;&#10;Description automatically generated" id="242" name="Google Shape;242;p31"/>
          <p:cNvPicPr preferRelativeResize="0"/>
          <p:nvPr/>
        </p:nvPicPr>
        <p:blipFill rotWithShape="1">
          <a:blip r:embed="rId4">
            <a:alphaModFix/>
          </a:blip>
          <a:srcRect b="0" l="0" r="0" t="0"/>
          <a:stretch/>
        </p:blipFill>
        <p:spPr>
          <a:xfrm>
            <a:off x="664783" y="858772"/>
            <a:ext cx="3733561" cy="2130619"/>
          </a:xfrm>
          <a:prstGeom prst="rect">
            <a:avLst/>
          </a:prstGeom>
          <a:noFill/>
          <a:ln>
            <a:noFill/>
          </a:ln>
        </p:spPr>
      </p:pic>
      <p:pic>
        <p:nvPicPr>
          <p:cNvPr descr="A close up of a device&#10;&#10;Description automatically generated" id="243" name="Google Shape;243;p31"/>
          <p:cNvPicPr preferRelativeResize="0"/>
          <p:nvPr/>
        </p:nvPicPr>
        <p:blipFill rotWithShape="1">
          <a:blip r:embed="rId5">
            <a:alphaModFix/>
          </a:blip>
          <a:srcRect b="0" l="0" r="0" t="0"/>
          <a:stretch/>
        </p:blipFill>
        <p:spPr>
          <a:xfrm>
            <a:off x="457200" y="3364258"/>
            <a:ext cx="4019438" cy="2454707"/>
          </a:xfrm>
          <a:prstGeom prst="rect">
            <a:avLst/>
          </a:prstGeom>
          <a:noFill/>
          <a:ln>
            <a:noFill/>
          </a:ln>
        </p:spPr>
      </p:pic>
      <p:sp>
        <p:nvSpPr>
          <p:cNvPr id="244" name="Google Shape;244;p31"/>
          <p:cNvSpPr/>
          <p:nvPr/>
        </p:nvSpPr>
        <p:spPr>
          <a:xfrm>
            <a:off x="172995" y="5803140"/>
            <a:ext cx="4805698"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Most individuals in this population have traits that fall between two extreme phenotypes.</a:t>
            </a:r>
            <a:endParaRPr sz="1800">
              <a:solidFill>
                <a:schemeClr val="dk1"/>
              </a:solidFill>
              <a:latin typeface="Cambria"/>
              <a:ea typeface="Cambria"/>
              <a:cs typeface="Cambria"/>
              <a:sym typeface="Cambria"/>
            </a:endParaRPr>
          </a:p>
        </p:txBody>
      </p:sp>
      <p:sp>
        <p:nvSpPr>
          <p:cNvPr id="245" name="Google Shape;245;p31"/>
          <p:cNvSpPr txBox="1"/>
          <p:nvPr/>
        </p:nvSpPr>
        <p:spPr>
          <a:xfrm>
            <a:off x="1668547" y="2961478"/>
            <a:ext cx="20723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mbria"/>
                <a:ea typeface="Cambria"/>
                <a:cs typeface="Cambria"/>
                <a:sym typeface="Cambria"/>
              </a:rPr>
              <a:t>King Penguins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53" name="Google Shape;253;p32"/>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Selection on Populations</a:t>
            </a:r>
            <a:endParaRPr/>
          </a:p>
        </p:txBody>
      </p:sp>
      <p:sp>
        <p:nvSpPr>
          <p:cNvPr id="254" name="Google Shape;254;p32"/>
          <p:cNvSpPr/>
          <p:nvPr/>
        </p:nvSpPr>
        <p:spPr>
          <a:xfrm>
            <a:off x="339421" y="974482"/>
            <a:ext cx="8533645" cy="527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King penguins live and breed on islands around Antarctica. Like other penguin species that live in cold areas, king penguins have features that allow them to live in this type of environment. They have layers of feathers as well as thick layers of fat to help keep them warm. Suppose the climate in this area warms up and continues to warm. How might this continuing change in temperature affect the population?</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COLLABORATE</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Suppose as a result of increasing temperatures, the trait for having a thick layer of fat was selected against and the thinner layer of fat was selected for. With a partner, discuss how the normal distribution graph will be affected.</a:t>
            </a:r>
            <a:endParaRPr/>
          </a:p>
        </p:txBody>
      </p:sp>
      <p:sp>
        <p:nvSpPr>
          <p:cNvPr id="255" name="Google Shape;255;p3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63" name="Google Shape;263;p33"/>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Selection on Populations</a:t>
            </a:r>
            <a:endParaRPr/>
          </a:p>
        </p:txBody>
      </p:sp>
      <p:sp>
        <p:nvSpPr>
          <p:cNvPr id="264" name="Google Shape;264;p33"/>
          <p:cNvSpPr/>
          <p:nvPr/>
        </p:nvSpPr>
        <p:spPr>
          <a:xfrm>
            <a:off x="339421" y="974482"/>
            <a:ext cx="8533645" cy="5262979"/>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3">
                  <a:extLst>
                    <a:ext uri="{A12FA001-AC4F-418D-AE19-62706E023703}">
                      <ahyp:hlinkClr val="tx"/>
                    </a:ext>
                  </a:extLst>
                </a:hlinkClick>
              </a:rPr>
              <a:t>Natural selection</a:t>
            </a:r>
            <a:r>
              <a:rPr lang="en-US" sz="2400">
                <a:solidFill>
                  <a:schemeClr val="dk1"/>
                </a:solidFill>
                <a:latin typeface="Cambria"/>
                <a:ea typeface="Cambria"/>
                <a:cs typeface="Cambria"/>
                <a:sym typeface="Cambria"/>
              </a:rPr>
              <a:t> favors phenotypes that allow individuals in the population to adapt to their environment and selects against phenotypes that make individuals less able to adapt to their environment. This "favoring" and "selecting against" result in observable changes in the allele frequencies in a population. </a:t>
            </a:r>
            <a:endParaRPr/>
          </a:p>
          <a:p>
            <a:pPr indent="-185738" lvl="0" marL="185738"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4">
                  <a:extLst>
                    <a:ext uri="{A12FA001-AC4F-418D-AE19-62706E023703}">
                      <ahyp:hlinkClr val="tx"/>
                    </a:ext>
                  </a:extLst>
                </a:hlinkClick>
              </a:rPr>
              <a:t>Microevolution</a:t>
            </a:r>
            <a:r>
              <a:rPr lang="en-US" sz="2400">
                <a:solidFill>
                  <a:schemeClr val="dk1"/>
                </a:solidFill>
                <a:latin typeface="Cambria"/>
                <a:ea typeface="Cambria"/>
                <a:cs typeface="Cambria"/>
                <a:sym typeface="Cambria"/>
              </a:rPr>
              <a:t> is the observable change in the allele frequencies of a population over time. Microevolution occurs on a small scale—within a single population.</a:t>
            </a:r>
            <a:endParaRPr/>
          </a:p>
          <a:p>
            <a:pPr indent="-185738" lvl="0" marL="185738"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5">
                  <a:extLst>
                    <a:ext uri="{A12FA001-AC4F-418D-AE19-62706E023703}">
                      <ahyp:hlinkClr val="tx"/>
                    </a:ext>
                  </a:extLst>
                </a:hlinkClick>
              </a:rPr>
              <a:t>Stabilizing selection</a:t>
            </a:r>
            <a:r>
              <a:rPr lang="en-US" sz="2400">
                <a:solidFill>
                  <a:schemeClr val="dk1"/>
                </a:solidFill>
                <a:latin typeface="Cambria"/>
                <a:ea typeface="Cambria"/>
                <a:cs typeface="Cambria"/>
                <a:sym typeface="Cambria"/>
              </a:rPr>
              <a:t> is the type of natural selection in which intermediate phenotypes are selected over phenotypes at both extremes. </a:t>
            </a:r>
            <a:endParaRPr b="1" sz="2400">
              <a:solidFill>
                <a:schemeClr val="dk1"/>
              </a:solidFill>
              <a:latin typeface="Cambria"/>
              <a:ea typeface="Cambria"/>
              <a:cs typeface="Cambria"/>
              <a:sym typeface="Cambria"/>
            </a:endParaRPr>
          </a:p>
        </p:txBody>
      </p:sp>
      <p:sp>
        <p:nvSpPr>
          <p:cNvPr id="265" name="Google Shape;265;p3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73" name="Google Shape;273;p34"/>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Selection on Populations</a:t>
            </a:r>
            <a:endParaRPr/>
          </a:p>
        </p:txBody>
      </p:sp>
      <p:sp>
        <p:nvSpPr>
          <p:cNvPr id="274" name="Google Shape;274;p3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
        <p:nvSpPr>
          <p:cNvPr id="275" name="Google Shape;275;p34"/>
          <p:cNvSpPr/>
          <p:nvPr/>
        </p:nvSpPr>
        <p:spPr>
          <a:xfrm>
            <a:off x="457200" y="4630236"/>
            <a:ext cx="4572000"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rgbClr val="4C4E50"/>
                </a:solidFill>
                <a:latin typeface="Cambria"/>
                <a:ea typeface="Cambria"/>
                <a:cs typeface="Cambria"/>
                <a:sym typeface="Cambria"/>
              </a:rPr>
              <a:t>Observe how stabilizing selection affects the frequency of traits in a population.</a:t>
            </a:r>
            <a:endParaRPr sz="2000">
              <a:solidFill>
                <a:schemeClr val="dk1"/>
              </a:solidFill>
              <a:latin typeface="Cambria"/>
              <a:ea typeface="Cambria"/>
              <a:cs typeface="Cambria"/>
              <a:sym typeface="Cambria"/>
            </a:endParaRPr>
          </a:p>
        </p:txBody>
      </p:sp>
      <p:pic>
        <p:nvPicPr>
          <p:cNvPr descr="main (2).mp4" id="276" name="Google Shape;276;p34"/>
          <p:cNvPicPr preferRelativeResize="0"/>
          <p:nvPr/>
        </p:nvPicPr>
        <p:blipFill rotWithShape="1">
          <a:blip r:embed="rId3">
            <a:alphaModFix/>
          </a:blip>
          <a:srcRect b="0" l="6745" r="12311" t="0"/>
          <a:stretch/>
        </p:blipFill>
        <p:spPr>
          <a:xfrm>
            <a:off x="284205" y="1332806"/>
            <a:ext cx="4744995" cy="3297430"/>
          </a:xfrm>
          <a:prstGeom prst="rect">
            <a:avLst/>
          </a:prstGeom>
          <a:noFill/>
          <a:ln>
            <a:noFill/>
          </a:ln>
        </p:spPr>
      </p:pic>
      <p:sp>
        <p:nvSpPr>
          <p:cNvPr id="277" name="Google Shape;277;p34"/>
          <p:cNvSpPr/>
          <p:nvPr/>
        </p:nvSpPr>
        <p:spPr>
          <a:xfrm>
            <a:off x="4850969" y="1866676"/>
            <a:ext cx="4219805"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u="sng">
                <a:solidFill>
                  <a:schemeClr val="dk2"/>
                </a:solidFill>
                <a:latin typeface="Cambria"/>
                <a:ea typeface="Cambria"/>
                <a:cs typeface="Cambria"/>
                <a:sym typeface="Cambria"/>
                <a:hlinkClick r:id="rId4">
                  <a:extLst>
                    <a:ext uri="{A12FA001-AC4F-418D-AE19-62706E023703}">
                      <ahyp:hlinkClr val="tx"/>
                    </a:ext>
                  </a:extLst>
                </a:hlinkClick>
              </a:rPr>
              <a:t>Stabilizing selection</a:t>
            </a:r>
            <a:r>
              <a:rPr lang="en-US" sz="2400">
                <a:solidFill>
                  <a:schemeClr val="dk1"/>
                </a:solidFill>
                <a:latin typeface="Cambria"/>
                <a:ea typeface="Cambria"/>
                <a:cs typeface="Cambria"/>
                <a:sym typeface="Cambria"/>
              </a:rPr>
              <a:t> is the type of natural selection in which intermediate phenotypes are selected over phenotypes at both extremes. </a:t>
            </a:r>
            <a:endParaRPr b="1"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85" name="Google Shape;285;p35"/>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Selection on Populations</a:t>
            </a:r>
            <a:endParaRPr/>
          </a:p>
        </p:txBody>
      </p:sp>
      <p:sp>
        <p:nvSpPr>
          <p:cNvPr id="286" name="Google Shape;286;p35"/>
          <p:cNvSpPr/>
          <p:nvPr/>
        </p:nvSpPr>
        <p:spPr>
          <a:xfrm>
            <a:off x="5029200" y="1132585"/>
            <a:ext cx="4041574" cy="5262979"/>
          </a:xfrm>
          <a:prstGeom prst="rect">
            <a:avLst/>
          </a:prstGeom>
          <a:noFill/>
          <a:ln>
            <a:noFill/>
          </a:ln>
        </p:spPr>
        <p:txBody>
          <a:bodyPr anchorCtr="0" anchor="t" bIns="45700" lIns="91425" spcFirstLastPara="1" rIns="91425" wrap="square" tIns="45700">
            <a:noAutofit/>
          </a:bodyPr>
          <a:lstStyle/>
          <a:p>
            <a:pPr indent="-182563" lvl="0" marL="182563"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3">
                  <a:extLst>
                    <a:ext uri="{A12FA001-AC4F-418D-AE19-62706E023703}">
                      <ahyp:hlinkClr val="tx"/>
                    </a:ext>
                  </a:extLst>
                </a:hlinkClick>
              </a:rPr>
              <a:t>Directional selection</a:t>
            </a:r>
            <a:r>
              <a:rPr b="1" lang="en-US" sz="2400">
                <a:solidFill>
                  <a:schemeClr val="dk1"/>
                </a:solidFill>
                <a:latin typeface="Cambria"/>
                <a:ea typeface="Cambria"/>
                <a:cs typeface="Cambria"/>
                <a:sym typeface="Cambria"/>
              </a:rPr>
              <a:t> </a:t>
            </a:r>
            <a:r>
              <a:rPr lang="en-US" sz="2400">
                <a:solidFill>
                  <a:schemeClr val="dk1"/>
                </a:solidFill>
                <a:latin typeface="Cambria"/>
                <a:ea typeface="Cambria"/>
                <a:cs typeface="Cambria"/>
                <a:sym typeface="Cambria"/>
              </a:rPr>
              <a:t>is the type of natural selection in which one extreme phenotype is selected over the other extreme phenotype, shifting the mean toward one of the extremes.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In the case of the peppered moths, the dark phenotype was selected over the light phenotype during the Industrial Revolution.</a:t>
            </a:r>
            <a:endParaRPr b="1" sz="2400">
              <a:solidFill>
                <a:schemeClr val="dk1"/>
              </a:solidFill>
              <a:latin typeface="Cambria"/>
              <a:ea typeface="Cambria"/>
              <a:cs typeface="Cambria"/>
              <a:sym typeface="Cambria"/>
            </a:endParaRPr>
          </a:p>
        </p:txBody>
      </p:sp>
      <p:sp>
        <p:nvSpPr>
          <p:cNvPr id="287" name="Google Shape;287;p35"/>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
        <p:nvSpPr>
          <p:cNvPr id="288" name="Google Shape;288;p35"/>
          <p:cNvSpPr/>
          <p:nvPr/>
        </p:nvSpPr>
        <p:spPr>
          <a:xfrm>
            <a:off x="172995" y="4630236"/>
            <a:ext cx="4856205"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rgbClr val="4C4E50"/>
                </a:solidFill>
                <a:latin typeface="Cambria"/>
                <a:ea typeface="Cambria"/>
                <a:cs typeface="Cambria"/>
                <a:sym typeface="Cambria"/>
              </a:rPr>
              <a:t>Observe how directional selection affects the frequency of traits in a population.</a:t>
            </a:r>
            <a:endParaRPr sz="2000">
              <a:solidFill>
                <a:schemeClr val="dk1"/>
              </a:solidFill>
              <a:latin typeface="Cambria"/>
              <a:ea typeface="Cambria"/>
              <a:cs typeface="Cambria"/>
              <a:sym typeface="Cambria"/>
            </a:endParaRPr>
          </a:p>
        </p:txBody>
      </p:sp>
      <p:pic>
        <p:nvPicPr>
          <p:cNvPr descr="main (3).mp4" id="289" name="Google Shape;289;p35"/>
          <p:cNvPicPr preferRelativeResize="0"/>
          <p:nvPr/>
        </p:nvPicPr>
        <p:blipFill rotWithShape="1">
          <a:blip r:embed="rId4">
            <a:alphaModFix/>
          </a:blip>
          <a:srcRect b="0" l="8918" r="11757" t="0"/>
          <a:stretch/>
        </p:blipFill>
        <p:spPr>
          <a:xfrm>
            <a:off x="286385" y="1132585"/>
            <a:ext cx="4763170" cy="337763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97" name="Google Shape;297;p36"/>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Selection on Populations</a:t>
            </a:r>
            <a:endParaRPr/>
          </a:p>
        </p:txBody>
      </p:sp>
      <p:sp>
        <p:nvSpPr>
          <p:cNvPr id="298" name="Google Shape;298;p36"/>
          <p:cNvSpPr/>
          <p:nvPr/>
        </p:nvSpPr>
        <p:spPr>
          <a:xfrm>
            <a:off x="4592082" y="612844"/>
            <a:ext cx="4572000" cy="5632311"/>
          </a:xfrm>
          <a:prstGeom prst="rect">
            <a:avLst/>
          </a:prstGeom>
          <a:noFill/>
          <a:ln>
            <a:noFill/>
          </a:ln>
        </p:spPr>
        <p:txBody>
          <a:bodyPr anchorCtr="0" anchor="t" bIns="45700" lIns="91425" spcFirstLastPara="1" rIns="91425" wrap="square" tIns="45700">
            <a:noAutofit/>
          </a:bodyPr>
          <a:lstStyle/>
          <a:p>
            <a:pPr indent="-182563" lvl="0" marL="182563"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3">
                  <a:extLst>
                    <a:ext uri="{A12FA001-AC4F-418D-AE19-62706E023703}">
                      <ahyp:hlinkClr val="tx"/>
                    </a:ext>
                  </a:extLst>
                </a:hlinkClick>
              </a:rPr>
              <a:t>Disruptive selection</a:t>
            </a:r>
            <a:r>
              <a:rPr b="1" lang="en-US" sz="2400">
                <a:solidFill>
                  <a:schemeClr val="dk1"/>
                </a:solidFill>
                <a:latin typeface="Cambria"/>
                <a:ea typeface="Cambria"/>
                <a:cs typeface="Cambria"/>
                <a:sym typeface="Cambria"/>
              </a:rPr>
              <a:t> </a:t>
            </a:r>
            <a:r>
              <a:rPr lang="en-US" sz="2400">
                <a:solidFill>
                  <a:schemeClr val="dk1"/>
                </a:solidFill>
                <a:latin typeface="Cambria"/>
                <a:ea typeface="Cambria"/>
                <a:cs typeface="Cambria"/>
                <a:sym typeface="Cambria"/>
              </a:rPr>
              <a:t>is the type of natural selection in which both extreme phenotypes are favored, while individuals with the intermediate phenotype are selected against.</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Both extreme phenotypes are favored, while intermediate forms are selected against. By favoring both extreme phenotypes, disruptive selection can lead to the formation of new species.</a:t>
            </a:r>
            <a:endParaRPr/>
          </a:p>
          <a:p>
            <a:pPr indent="-30162" lvl="0" marL="182563" marR="0" rtl="0" algn="l">
              <a:spcBef>
                <a:spcPts val="0"/>
              </a:spcBef>
              <a:spcAft>
                <a:spcPts val="0"/>
              </a:spcAft>
              <a:buClr>
                <a:schemeClr val="dk1"/>
              </a:buClr>
              <a:buSzPts val="2400"/>
              <a:buFont typeface="Arial"/>
              <a:buNone/>
            </a:pPr>
            <a:r>
              <a:t/>
            </a:r>
            <a:endParaRPr b="1" sz="2400">
              <a:solidFill>
                <a:schemeClr val="dk1"/>
              </a:solidFill>
              <a:latin typeface="Cambria"/>
              <a:ea typeface="Cambria"/>
              <a:cs typeface="Cambria"/>
              <a:sym typeface="Cambria"/>
            </a:endParaRPr>
          </a:p>
        </p:txBody>
      </p:sp>
      <p:sp>
        <p:nvSpPr>
          <p:cNvPr id="299" name="Google Shape;299;p36"/>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
        <p:nvSpPr>
          <p:cNvPr id="300" name="Google Shape;300;p36"/>
          <p:cNvSpPr/>
          <p:nvPr/>
        </p:nvSpPr>
        <p:spPr>
          <a:xfrm>
            <a:off x="204395" y="4257162"/>
            <a:ext cx="4856205"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rgbClr val="4C4E50"/>
                </a:solidFill>
                <a:latin typeface="Cambria"/>
                <a:ea typeface="Cambria"/>
                <a:cs typeface="Cambria"/>
                <a:sym typeface="Cambria"/>
              </a:rPr>
              <a:t>Observe how disruptive selection affects the frequency of traits in a population.</a:t>
            </a:r>
            <a:endParaRPr sz="2000">
              <a:solidFill>
                <a:schemeClr val="dk1"/>
              </a:solidFill>
              <a:latin typeface="Cambria"/>
              <a:ea typeface="Cambria"/>
              <a:cs typeface="Cambria"/>
              <a:sym typeface="Cambria"/>
            </a:endParaRPr>
          </a:p>
        </p:txBody>
      </p:sp>
      <p:pic>
        <p:nvPicPr>
          <p:cNvPr descr="main (4).mp4" id="301" name="Google Shape;301;p36"/>
          <p:cNvPicPr preferRelativeResize="0"/>
          <p:nvPr/>
        </p:nvPicPr>
        <p:blipFill rotWithShape="1">
          <a:blip r:embed="rId4">
            <a:alphaModFix/>
          </a:blip>
          <a:srcRect b="0" l="10941" r="14117" t="0"/>
          <a:stretch/>
        </p:blipFill>
        <p:spPr>
          <a:xfrm>
            <a:off x="204395" y="1089726"/>
            <a:ext cx="4367605" cy="32782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0"/>
                                        <p:tgtEl>
                                          <p:spTgt spid="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09" name="Google Shape;309;p37"/>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Selection on Populations</a:t>
            </a:r>
            <a:endParaRPr/>
          </a:p>
        </p:txBody>
      </p:sp>
      <p:sp>
        <p:nvSpPr>
          <p:cNvPr id="310" name="Google Shape;310;p37"/>
          <p:cNvSpPr/>
          <p:nvPr/>
        </p:nvSpPr>
        <p:spPr>
          <a:xfrm>
            <a:off x="457200" y="2041163"/>
            <a:ext cx="8686800"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Using evidence from this lesson, explain why populations, not individuals, evolve.</a:t>
            </a:r>
            <a:endParaRPr/>
          </a:p>
        </p:txBody>
      </p:sp>
      <p:sp>
        <p:nvSpPr>
          <p:cNvPr id="311" name="Google Shape;311;p37"/>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drawing of a person&#10;&#10;Description automatically generated" id="312" name="Google Shape;312;p37"/>
          <p:cNvPicPr preferRelativeResize="0"/>
          <p:nvPr/>
        </p:nvPicPr>
        <p:blipFill rotWithShape="1">
          <a:blip r:embed="rId3">
            <a:alphaModFix/>
          </a:blip>
          <a:srcRect b="0" l="0" r="0" t="0"/>
          <a:stretch/>
        </p:blipFill>
        <p:spPr>
          <a:xfrm>
            <a:off x="8313739" y="594757"/>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20" name="Google Shape;320;p38"/>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Effects of Gene Flow</a:t>
            </a:r>
            <a:endParaRPr/>
          </a:p>
        </p:txBody>
      </p:sp>
      <p:sp>
        <p:nvSpPr>
          <p:cNvPr id="321" name="Google Shape;321;p38"/>
          <p:cNvSpPr/>
          <p:nvPr/>
        </p:nvSpPr>
        <p:spPr>
          <a:xfrm>
            <a:off x="155549" y="1348666"/>
            <a:ext cx="8832901" cy="4524315"/>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Roses can grow in the wild or be cultivated. A bee may transport pollen from a farm that cultivates roses of different colors to a nearby area where wild red roses grow. The pollen can fertilize a wild rose flower, introducing new genetic material into the wild population. </a:t>
            </a:r>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This is an example of </a:t>
            </a:r>
            <a:r>
              <a:rPr b="1" lang="en-US" sz="2400" u="sng">
                <a:solidFill>
                  <a:schemeClr val="dk2"/>
                </a:solidFill>
                <a:latin typeface="Cambria"/>
                <a:ea typeface="Cambria"/>
                <a:cs typeface="Cambria"/>
                <a:sym typeface="Cambria"/>
                <a:hlinkClick r:id="rId3">
                  <a:extLst>
                    <a:ext uri="{A12FA001-AC4F-418D-AE19-62706E023703}">
                      <ahyp:hlinkClr val="tx"/>
                    </a:ext>
                  </a:extLst>
                </a:hlinkClick>
              </a:rPr>
              <a:t>gene flow</a:t>
            </a:r>
            <a:r>
              <a:rPr lang="en-US" sz="2400">
                <a:solidFill>
                  <a:schemeClr val="dk1"/>
                </a:solidFill>
                <a:latin typeface="Cambria"/>
                <a:ea typeface="Cambria"/>
                <a:cs typeface="Cambria"/>
                <a:sym typeface="Cambria"/>
              </a:rPr>
              <a:t>, which is the movement of alleles from one population to another. Gene flow can cause a population to evolve.</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rgbClr val="4C4E50"/>
                </a:solidFill>
                <a:latin typeface="Cambria"/>
                <a:ea typeface="Cambria"/>
                <a:cs typeface="Cambria"/>
                <a:sym typeface="Cambria"/>
              </a:rPr>
              <a:t>Explain how the difference in gene flow between populations could cause them to evolve in different or similar ways.</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p:txBody>
      </p:sp>
      <p:sp>
        <p:nvSpPr>
          <p:cNvPr id="322" name="Google Shape;322;p38"/>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Effects of Gene Flow</a:t>
            </a:r>
            <a:br>
              <a:rPr lang="en-US">
                <a:solidFill>
                  <a:srgbClr val="F2A900"/>
                </a:solidFill>
                <a:latin typeface="Cambria"/>
                <a:ea typeface="Cambria"/>
                <a:cs typeface="Cambria"/>
                <a:sym typeface="Cambria"/>
              </a:rPr>
            </a:br>
            <a:r>
              <a:rPr lang="en-US">
                <a:solidFill>
                  <a:srgbClr val="0070C0"/>
                </a:solidFill>
                <a:latin typeface="Cambria"/>
                <a:ea typeface="Cambria"/>
                <a:cs typeface="Cambria"/>
                <a:sym typeface="Cambria"/>
              </a:rPr>
              <a:t>Hands-On Activity: Modeling Population Changes</a:t>
            </a:r>
            <a:endParaRPr/>
          </a:p>
        </p:txBody>
      </p:sp>
      <p:sp>
        <p:nvSpPr>
          <p:cNvPr id="330" name="Google Shape;330;p3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31" name="Google Shape;331;p39"/>
          <p:cNvSpPr/>
          <p:nvPr/>
        </p:nvSpPr>
        <p:spPr>
          <a:xfrm>
            <a:off x="457200" y="1881365"/>
            <a:ext cx="8429105" cy="861774"/>
          </a:xfrm>
          <a:prstGeom prst="rect">
            <a:avLst/>
          </a:prstGeom>
          <a:noFill/>
          <a:ln>
            <a:noFill/>
          </a:ln>
        </p:spPr>
        <p:txBody>
          <a:bodyPr anchorCtr="0" anchor="t" bIns="45700" lIns="91425" spcFirstLastPara="1" rIns="91425" wrap="square" tIns="45700">
            <a:noAutofit/>
          </a:bodyPr>
          <a:lstStyle/>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p:txBody>
      </p:sp>
      <p:sp>
        <p:nvSpPr>
          <p:cNvPr id="332" name="Google Shape;332;p39"/>
          <p:cNvSpPr txBox="1"/>
          <p:nvPr/>
        </p:nvSpPr>
        <p:spPr>
          <a:xfrm>
            <a:off x="395765" y="2036310"/>
            <a:ext cx="8160977" cy="26930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mbria"/>
                <a:ea typeface="Cambria"/>
                <a:cs typeface="Cambria"/>
                <a:sym typeface="Cambria"/>
              </a:rPr>
              <a:t>Use a deck of cards to represent the lizard population. The four suits represent four different alleles for tail shape. The allele frequencies of the original population are 25% spade, 25% heart, 25% club, and 25% diamond tail shapes.</a:t>
            </a:r>
            <a:endParaRPr/>
          </a:p>
          <a:p>
            <a:pPr indent="0" lvl="0" marL="0" marR="0" rtl="0" algn="ctr">
              <a:spcBef>
                <a:spcPts val="0"/>
              </a:spcBef>
              <a:spcAft>
                <a:spcPts val="0"/>
              </a:spcAft>
              <a:buNone/>
            </a:pPr>
            <a:r>
              <a:t/>
            </a:r>
            <a:endParaRPr sz="2500">
              <a:solidFill>
                <a:schemeClr val="dk1"/>
              </a:solidFill>
              <a:latin typeface="Cambria"/>
              <a:ea typeface="Cambria"/>
              <a:cs typeface="Cambria"/>
              <a:sym typeface="Cambria"/>
            </a:endParaRPr>
          </a:p>
          <a:p>
            <a:pPr indent="0" lvl="0" marL="0" marR="0" rtl="0" algn="ctr">
              <a:spcBef>
                <a:spcPts val="0"/>
              </a:spcBef>
              <a:spcAft>
                <a:spcPts val="0"/>
              </a:spcAft>
              <a:buNone/>
            </a:pPr>
            <a:r>
              <a:rPr b="1" lang="en-US" sz="2400">
                <a:solidFill>
                  <a:schemeClr val="dk1"/>
                </a:solidFill>
                <a:latin typeface="Cambria"/>
                <a:ea typeface="Cambria"/>
                <a:cs typeface="Cambria"/>
                <a:sym typeface="Cambria"/>
              </a:rPr>
              <a:t>How can random chance affect the allele frequencies in a population?</a:t>
            </a:r>
            <a:endParaRPr b="1" sz="2500">
              <a:solidFill>
                <a:schemeClr val="dk1"/>
              </a:solidFill>
              <a:latin typeface="Cambria"/>
              <a:ea typeface="Cambria"/>
              <a:cs typeface="Cambria"/>
              <a:sym typeface="Cambria"/>
            </a:endParaRPr>
          </a:p>
        </p:txBody>
      </p:sp>
      <p:sp>
        <p:nvSpPr>
          <p:cNvPr id="333" name="Google Shape;333;p39"/>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id="334" name="Google Shape;334;p39"/>
          <p:cNvPicPr preferRelativeResize="0"/>
          <p:nvPr/>
        </p:nvPicPr>
        <p:blipFill rotWithShape="1">
          <a:blip r:embed="rId3">
            <a:alphaModFix/>
          </a:blip>
          <a:srcRect b="0" l="0" r="0" t="0"/>
          <a:stretch/>
        </p:blipFill>
        <p:spPr>
          <a:xfrm>
            <a:off x="2781300" y="5435225"/>
            <a:ext cx="3581400" cy="9398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42" name="Google Shape;342;p40"/>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Effects of Gene Flow</a:t>
            </a:r>
            <a:endParaRPr/>
          </a:p>
        </p:txBody>
      </p:sp>
      <p:sp>
        <p:nvSpPr>
          <p:cNvPr id="343" name="Google Shape;343;p40"/>
          <p:cNvSpPr/>
          <p:nvPr/>
        </p:nvSpPr>
        <p:spPr>
          <a:xfrm>
            <a:off x="228457" y="846622"/>
            <a:ext cx="8687086" cy="5632311"/>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3">
                  <a:extLst>
                    <a:ext uri="{A12FA001-AC4F-418D-AE19-62706E023703}">
                      <ahyp:hlinkClr val="tx"/>
                    </a:ext>
                  </a:extLst>
                </a:hlinkClick>
              </a:rPr>
              <a:t>Genetic drift</a:t>
            </a:r>
            <a:r>
              <a:rPr b="1" lang="en-US" sz="2400">
                <a:solidFill>
                  <a:schemeClr val="dk1"/>
                </a:solidFill>
                <a:latin typeface="Cambria"/>
                <a:ea typeface="Cambria"/>
                <a:cs typeface="Cambria"/>
                <a:sym typeface="Cambria"/>
              </a:rPr>
              <a:t> </a:t>
            </a:r>
            <a:r>
              <a:rPr lang="en-US" sz="2400">
                <a:solidFill>
                  <a:schemeClr val="dk1"/>
                </a:solidFill>
                <a:latin typeface="Cambria"/>
                <a:ea typeface="Cambria"/>
                <a:cs typeface="Cambria"/>
                <a:sym typeface="Cambria"/>
              </a:rPr>
              <a:t>is a change in allele frequencies due to chance. For example, chance events such as natural disasters or birds dropping seeds on an island can change allele frequencies in a population.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Typically observed in small populations because small populations are more likely to be affected by chance.</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 chance event causes some alleles to decrease in frequency, which may cause them to eventually disappear altogether.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Scientists have identified two processes that can cause population sizes to decrease enough for genetic drift to occur:</a:t>
            </a:r>
            <a:endParaRPr/>
          </a:p>
          <a:p>
            <a:pPr indent="-185737" lvl="1" marL="642938"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Bottleneck Effect</a:t>
            </a:r>
            <a:endParaRPr/>
          </a:p>
          <a:p>
            <a:pPr indent="-185737" lvl="1" marL="642938"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Founder Effect</a:t>
            </a:r>
            <a:endParaRPr/>
          </a:p>
        </p:txBody>
      </p:sp>
      <p:sp>
        <p:nvSpPr>
          <p:cNvPr id="344" name="Google Shape;344;p40"/>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52" name="Google Shape;352;p41"/>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Effects of Gene Flow</a:t>
            </a:r>
            <a:endParaRPr/>
          </a:p>
        </p:txBody>
      </p:sp>
      <p:sp>
        <p:nvSpPr>
          <p:cNvPr id="353" name="Google Shape;353;p41"/>
          <p:cNvSpPr/>
          <p:nvPr/>
        </p:nvSpPr>
        <p:spPr>
          <a:xfrm>
            <a:off x="4472680" y="532602"/>
            <a:ext cx="4711485" cy="6370975"/>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In the 1800s, northern elephant seals were overhunted for their blubber. By 1890, there were fewer than 100 individuals left.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After hunting ended, the population rebounded, and now there are more than 100,000 individuals.</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 northern elephant seal suffered from the </a:t>
            </a:r>
            <a:r>
              <a:rPr b="1" lang="en-US" sz="2400" u="sng">
                <a:solidFill>
                  <a:schemeClr val="dk2"/>
                </a:solidFill>
                <a:latin typeface="Cambria"/>
                <a:ea typeface="Cambria"/>
                <a:cs typeface="Cambria"/>
                <a:sym typeface="Cambria"/>
                <a:hlinkClick r:id="rId3">
                  <a:extLst>
                    <a:ext uri="{A12FA001-AC4F-418D-AE19-62706E023703}">
                      <ahyp:hlinkClr val="tx"/>
                    </a:ext>
                  </a:extLst>
                </a:hlinkClick>
              </a:rPr>
              <a:t>bottleneck effect</a:t>
            </a:r>
            <a:r>
              <a:rPr lang="en-US" sz="2400">
                <a:solidFill>
                  <a:schemeClr val="dk1"/>
                </a:solidFill>
                <a:latin typeface="Cambria"/>
                <a:ea typeface="Cambria"/>
                <a:cs typeface="Cambria"/>
                <a:sym typeface="Cambria"/>
              </a:rPr>
              <a:t>. This is genetic drift resulting from an event that drastically reduces the size of a population. </a:t>
            </a:r>
            <a:endParaRPr/>
          </a:p>
          <a:p>
            <a:pPr indent="-33337" lvl="0" marL="185738"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p:txBody>
      </p:sp>
      <p:sp>
        <p:nvSpPr>
          <p:cNvPr id="354" name="Google Shape;354;p41"/>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person and a seal&#10;&#10;Description automatically generated" id="355" name="Google Shape;355;p41"/>
          <p:cNvPicPr preferRelativeResize="0"/>
          <p:nvPr/>
        </p:nvPicPr>
        <p:blipFill rotWithShape="1">
          <a:blip r:embed="rId4">
            <a:alphaModFix/>
          </a:blip>
          <a:srcRect b="0" l="0" r="0" t="0"/>
          <a:stretch/>
        </p:blipFill>
        <p:spPr>
          <a:xfrm>
            <a:off x="0" y="846622"/>
            <a:ext cx="4432515" cy="3501280"/>
          </a:xfrm>
          <a:prstGeom prst="rect">
            <a:avLst/>
          </a:prstGeom>
          <a:noFill/>
          <a:ln>
            <a:noFill/>
          </a:ln>
        </p:spPr>
      </p:pic>
      <p:sp>
        <p:nvSpPr>
          <p:cNvPr id="356" name="Google Shape;356;p41"/>
          <p:cNvSpPr/>
          <p:nvPr/>
        </p:nvSpPr>
        <p:spPr>
          <a:xfrm>
            <a:off x="139487" y="4052612"/>
            <a:ext cx="4572000" cy="9233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mbria"/>
                <a:ea typeface="Cambria"/>
                <a:cs typeface="Cambria"/>
                <a:sym typeface="Cambria"/>
              </a:rPr>
              <a:t>The hunting of northern elephant seals greatly depleted the species' numbers and genetic diversity.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64" name="Google Shape;364;p42"/>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Effects of Gene Flow</a:t>
            </a:r>
            <a:endParaRPr/>
          </a:p>
        </p:txBody>
      </p:sp>
      <p:sp>
        <p:nvSpPr>
          <p:cNvPr id="365" name="Google Shape;365;p42"/>
          <p:cNvSpPr/>
          <p:nvPr/>
        </p:nvSpPr>
        <p:spPr>
          <a:xfrm>
            <a:off x="311099" y="4072386"/>
            <a:ext cx="8415866"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ANALYZE</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Use the model to explain the change in genetic variation between the initial elephant seal population and the population after it rebounded.</a:t>
            </a:r>
            <a:endParaRPr/>
          </a:p>
        </p:txBody>
      </p:sp>
      <p:sp>
        <p:nvSpPr>
          <p:cNvPr id="366" name="Google Shape;366;p4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drawing of a person&#10;&#10;Description automatically generated" id="367" name="Google Shape;367;p42"/>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pic>
        <p:nvPicPr>
          <p:cNvPr descr="A person and a seal&#10;&#10;Description automatically generated" id="368" name="Google Shape;368;p42"/>
          <p:cNvPicPr preferRelativeResize="0"/>
          <p:nvPr/>
        </p:nvPicPr>
        <p:blipFill rotWithShape="1">
          <a:blip r:embed="rId4">
            <a:alphaModFix/>
          </a:blip>
          <a:srcRect b="0" l="0" r="0" t="0"/>
          <a:stretch/>
        </p:blipFill>
        <p:spPr>
          <a:xfrm>
            <a:off x="880238" y="676606"/>
            <a:ext cx="7423688" cy="339578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76" name="Google Shape;376;p43"/>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Effects of Gene Flow</a:t>
            </a:r>
            <a:endParaRPr/>
          </a:p>
        </p:txBody>
      </p:sp>
      <p:sp>
        <p:nvSpPr>
          <p:cNvPr id="377" name="Google Shape;377;p43"/>
          <p:cNvSpPr/>
          <p:nvPr/>
        </p:nvSpPr>
        <p:spPr>
          <a:xfrm>
            <a:off x="4918606" y="373382"/>
            <a:ext cx="4099588" cy="5847755"/>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The </a:t>
            </a:r>
            <a:r>
              <a:rPr b="1" lang="en-US" sz="2200" u="sng">
                <a:solidFill>
                  <a:schemeClr val="dk2"/>
                </a:solidFill>
                <a:latin typeface="Cambria"/>
                <a:ea typeface="Cambria"/>
                <a:cs typeface="Cambria"/>
                <a:sym typeface="Cambria"/>
                <a:hlinkClick r:id="rId3">
                  <a:extLst>
                    <a:ext uri="{A12FA001-AC4F-418D-AE19-62706E023703}">
                      <ahyp:hlinkClr val="tx"/>
                    </a:ext>
                  </a:extLst>
                </a:hlinkClick>
              </a:rPr>
              <a:t>founder effect</a:t>
            </a:r>
            <a:r>
              <a:rPr lang="en-US" sz="2200">
                <a:solidFill>
                  <a:schemeClr val="dk1"/>
                </a:solidFill>
                <a:latin typeface="Cambria"/>
                <a:ea typeface="Cambria"/>
                <a:cs typeface="Cambria"/>
                <a:sym typeface="Cambria"/>
              </a:rPr>
              <a:t> is genetic drift that occurs when a small number of individuals become isolated from the original population and colonize a new area. </a:t>
            </a:r>
            <a:endParaRPr/>
          </a:p>
          <a:p>
            <a:pPr indent="-46037" lvl="0" marL="185738" marR="0" rtl="0" algn="l">
              <a:spcBef>
                <a:spcPts val="0"/>
              </a:spcBef>
              <a:spcAft>
                <a:spcPts val="0"/>
              </a:spcAft>
              <a:buClr>
                <a:schemeClr val="dk1"/>
              </a:buClr>
              <a:buSzPts val="2200"/>
              <a:buFont typeface="Arial"/>
              <a:buNone/>
            </a:pPr>
            <a:r>
              <a:t/>
            </a:r>
            <a:endParaRPr sz="22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The founding populations each represent a distinct gene pool observed in the founding population.</a:t>
            </a:r>
            <a:endParaRPr/>
          </a:p>
          <a:p>
            <a:pPr indent="-46037" lvl="0" marL="185738" marR="0" rtl="0" algn="l">
              <a:spcBef>
                <a:spcPts val="0"/>
              </a:spcBef>
              <a:spcAft>
                <a:spcPts val="0"/>
              </a:spcAft>
              <a:buClr>
                <a:schemeClr val="dk1"/>
              </a:buClr>
              <a:buSzPts val="2200"/>
              <a:buFont typeface="Arial"/>
              <a:buNone/>
            </a:pPr>
            <a:r>
              <a:t/>
            </a:r>
            <a:endParaRPr sz="22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As a result, allele frequencies within the founding populations change from the original population, reducing genetic variation.</a:t>
            </a:r>
            <a:endParaRPr/>
          </a:p>
        </p:txBody>
      </p:sp>
      <p:sp>
        <p:nvSpPr>
          <p:cNvPr id="378" name="Google Shape;378;p4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
        <p:nvSpPr>
          <p:cNvPr id="379" name="Google Shape;379;p43"/>
          <p:cNvSpPr/>
          <p:nvPr/>
        </p:nvSpPr>
        <p:spPr>
          <a:xfrm>
            <a:off x="104211" y="3915917"/>
            <a:ext cx="4838109"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mbria"/>
                <a:ea typeface="Cambria"/>
                <a:cs typeface="Cambria"/>
                <a:sym typeface="Cambria"/>
              </a:rPr>
              <a:t>Beetle Population Variation | Genetic variation decreases when a small number of individuals colonize new areas.</a:t>
            </a:r>
            <a:endParaRPr sz="1400">
              <a:solidFill>
                <a:schemeClr val="dk1"/>
              </a:solidFill>
              <a:latin typeface="Cambria"/>
              <a:ea typeface="Cambria"/>
              <a:cs typeface="Cambria"/>
              <a:sym typeface="Cambria"/>
            </a:endParaRPr>
          </a:p>
        </p:txBody>
      </p:sp>
      <p:pic>
        <p:nvPicPr>
          <p:cNvPr descr="A picture containing drawing&#10;&#10;Description automatically generated" id="380" name="Google Shape;380;p43"/>
          <p:cNvPicPr preferRelativeResize="0"/>
          <p:nvPr/>
        </p:nvPicPr>
        <p:blipFill rotWithShape="1">
          <a:blip r:embed="rId4">
            <a:alphaModFix/>
          </a:blip>
          <a:srcRect b="0" l="0" r="0" t="0"/>
          <a:stretch/>
        </p:blipFill>
        <p:spPr>
          <a:xfrm>
            <a:off x="80497" y="1121172"/>
            <a:ext cx="4838109" cy="27947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88" name="Google Shape;388;p44"/>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Effects of Gene Flow</a:t>
            </a:r>
            <a:endParaRPr/>
          </a:p>
        </p:txBody>
      </p:sp>
      <p:sp>
        <p:nvSpPr>
          <p:cNvPr id="389" name="Google Shape;389;p44"/>
          <p:cNvSpPr/>
          <p:nvPr/>
        </p:nvSpPr>
        <p:spPr>
          <a:xfrm>
            <a:off x="4334204" y="403738"/>
            <a:ext cx="4809796" cy="6524863"/>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200"/>
              <a:buFont typeface="Arial"/>
              <a:buChar char="•"/>
            </a:pPr>
            <a:r>
              <a:rPr b="1" lang="en-US" sz="2200" u="sng">
                <a:solidFill>
                  <a:schemeClr val="dk2"/>
                </a:solidFill>
                <a:latin typeface="Cambria"/>
                <a:ea typeface="Cambria"/>
                <a:cs typeface="Cambria"/>
                <a:sym typeface="Cambria"/>
                <a:hlinkClick r:id="rId3">
                  <a:extLst>
                    <a:ext uri="{A12FA001-AC4F-418D-AE19-62706E023703}">
                      <ahyp:hlinkClr val="tx"/>
                    </a:ext>
                  </a:extLst>
                </a:hlinkClick>
              </a:rPr>
              <a:t>Sexual selection</a:t>
            </a:r>
            <a:r>
              <a:rPr lang="en-US" sz="2200">
                <a:solidFill>
                  <a:schemeClr val="dk1"/>
                </a:solidFill>
                <a:latin typeface="Cambria"/>
                <a:ea typeface="Cambria"/>
                <a:cs typeface="Cambria"/>
                <a:sym typeface="Cambria"/>
              </a:rPr>
              <a:t> occurs when certain traits increase reproductive success.</a:t>
            </a:r>
            <a:endParaRPr/>
          </a:p>
          <a:p>
            <a:pPr indent="0" lvl="0" marL="0" marR="0" rtl="0" algn="l">
              <a:spcBef>
                <a:spcPts val="0"/>
              </a:spcBef>
              <a:spcAft>
                <a:spcPts val="0"/>
              </a:spcAft>
              <a:buNone/>
            </a:pPr>
            <a:r>
              <a:t/>
            </a:r>
            <a:endParaRPr sz="2200">
              <a:solidFill>
                <a:schemeClr val="dk1"/>
              </a:solidFill>
              <a:latin typeface="Cambria"/>
              <a:ea typeface="Cambria"/>
              <a:cs typeface="Cambria"/>
              <a:sym typeface="Cambria"/>
            </a:endParaRPr>
          </a:p>
          <a:p>
            <a:pPr indent="-231775" lvl="0" marL="231775" marR="0" rtl="0" algn="l">
              <a:spcBef>
                <a:spcPts val="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Intrasexual selection is the  competition between members of the same sex for a potential mate.</a:t>
            </a:r>
            <a:endParaRPr/>
          </a:p>
          <a:p>
            <a:pPr indent="0" lvl="0" marL="0" marR="0" rtl="0" algn="l">
              <a:spcBef>
                <a:spcPts val="0"/>
              </a:spcBef>
              <a:spcAft>
                <a:spcPts val="0"/>
              </a:spcAft>
              <a:buNone/>
            </a:pPr>
            <a:r>
              <a:t/>
            </a:r>
            <a:endParaRPr sz="2200">
              <a:solidFill>
                <a:schemeClr val="dk1"/>
              </a:solidFill>
              <a:latin typeface="Cambria"/>
              <a:ea typeface="Cambria"/>
              <a:cs typeface="Cambria"/>
              <a:sym typeface="Cambria"/>
            </a:endParaRPr>
          </a:p>
          <a:p>
            <a:pPr indent="-231775" lvl="0" marL="231775" marR="0" rtl="0" algn="l">
              <a:spcBef>
                <a:spcPts val="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Intersexual selection occurs when males display certain traits that attract females.</a:t>
            </a:r>
            <a:endParaRPr/>
          </a:p>
          <a:p>
            <a:pPr indent="0" lvl="0" marL="0" marR="0" rtl="0" algn="l">
              <a:spcBef>
                <a:spcPts val="0"/>
              </a:spcBef>
              <a:spcAft>
                <a:spcPts val="0"/>
              </a:spcAft>
              <a:buNone/>
            </a:pPr>
            <a:r>
              <a:t/>
            </a:r>
            <a:endParaRPr sz="22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200" cap="none">
                <a:solidFill>
                  <a:schemeClr val="dk1"/>
                </a:solidFill>
                <a:latin typeface="Cambria"/>
                <a:ea typeface="Cambria"/>
                <a:cs typeface="Cambria"/>
                <a:sym typeface="Cambria"/>
              </a:rPr>
              <a:t>COLLABORATE</a:t>
            </a:r>
            <a:endParaRPr/>
          </a:p>
          <a:p>
            <a:pPr indent="0" lvl="0" marL="0" marR="0" rtl="0" algn="l">
              <a:spcBef>
                <a:spcPts val="0"/>
              </a:spcBef>
              <a:spcAft>
                <a:spcPts val="0"/>
              </a:spcAft>
              <a:buNone/>
            </a:pPr>
            <a:r>
              <a:rPr b="1" lang="en-US" sz="2200">
                <a:solidFill>
                  <a:schemeClr val="dk1"/>
                </a:solidFill>
                <a:latin typeface="Cambria"/>
                <a:ea typeface="Cambria"/>
                <a:cs typeface="Cambria"/>
                <a:sym typeface="Cambria"/>
              </a:rPr>
              <a:t>With a partner, discuss what a female might learn about a male through his color, size, and ornamental features, such as bright tail feathers.</a:t>
            </a:r>
            <a:endParaRPr/>
          </a:p>
          <a:p>
            <a:pPr indent="-92075" lvl="0" marL="231775" marR="0" rtl="0" algn="l">
              <a:spcBef>
                <a:spcPts val="0"/>
              </a:spcBef>
              <a:spcAft>
                <a:spcPts val="0"/>
              </a:spcAft>
              <a:buClr>
                <a:schemeClr val="dk1"/>
              </a:buClr>
              <a:buSzPts val="2200"/>
              <a:buFont typeface="Arial"/>
              <a:buNone/>
            </a:pPr>
            <a:r>
              <a:t/>
            </a:r>
            <a:endParaRPr sz="2200">
              <a:solidFill>
                <a:schemeClr val="dk1"/>
              </a:solidFill>
              <a:latin typeface="Cambria"/>
              <a:ea typeface="Cambria"/>
              <a:cs typeface="Cambria"/>
              <a:sym typeface="Cambria"/>
            </a:endParaRPr>
          </a:p>
        </p:txBody>
      </p:sp>
      <p:sp>
        <p:nvSpPr>
          <p:cNvPr id="390" name="Google Shape;390;p4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
        <p:nvSpPr>
          <p:cNvPr id="391" name="Google Shape;391;p44"/>
          <p:cNvSpPr/>
          <p:nvPr/>
        </p:nvSpPr>
        <p:spPr>
          <a:xfrm>
            <a:off x="36652" y="3123143"/>
            <a:ext cx="4197279"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rgbClr val="55595B"/>
                </a:solidFill>
                <a:latin typeface="Cambria"/>
                <a:ea typeface="Cambria"/>
                <a:cs typeface="Cambria"/>
                <a:sym typeface="Cambria"/>
              </a:rPr>
              <a:t>The winner of a fight increases his chances of mating with a female.</a:t>
            </a:r>
            <a:endParaRPr sz="1800">
              <a:solidFill>
                <a:schemeClr val="dk1"/>
              </a:solidFill>
              <a:latin typeface="Cambria"/>
              <a:ea typeface="Cambria"/>
              <a:cs typeface="Cambria"/>
              <a:sym typeface="Cambria"/>
            </a:endParaRPr>
          </a:p>
        </p:txBody>
      </p:sp>
      <p:pic>
        <p:nvPicPr>
          <p:cNvPr descr="A group of sheep standing on top of a dry grass field&#10;&#10;Description automatically generated" id="392" name="Google Shape;392;p44"/>
          <p:cNvPicPr preferRelativeResize="0"/>
          <p:nvPr/>
        </p:nvPicPr>
        <p:blipFill rotWithShape="1">
          <a:blip r:embed="rId4">
            <a:alphaModFix/>
          </a:blip>
          <a:srcRect b="0" l="0" r="0" t="0"/>
          <a:stretch/>
        </p:blipFill>
        <p:spPr>
          <a:xfrm>
            <a:off x="210825" y="874198"/>
            <a:ext cx="4023106" cy="2236834"/>
          </a:xfrm>
          <a:prstGeom prst="rect">
            <a:avLst/>
          </a:prstGeom>
          <a:noFill/>
          <a:ln>
            <a:noFill/>
          </a:ln>
        </p:spPr>
      </p:pic>
      <p:pic>
        <p:nvPicPr>
          <p:cNvPr descr="A small bird perched on a tree branch&#10;&#10;Description automatically generated" id="393" name="Google Shape;393;p44"/>
          <p:cNvPicPr preferRelativeResize="0"/>
          <p:nvPr/>
        </p:nvPicPr>
        <p:blipFill rotWithShape="1">
          <a:blip r:embed="rId5">
            <a:alphaModFix/>
          </a:blip>
          <a:srcRect b="0" l="0" r="0" t="0"/>
          <a:stretch/>
        </p:blipFill>
        <p:spPr>
          <a:xfrm>
            <a:off x="210825" y="3781586"/>
            <a:ext cx="4036301" cy="2202702"/>
          </a:xfrm>
          <a:prstGeom prst="rect">
            <a:avLst/>
          </a:prstGeom>
          <a:noFill/>
          <a:ln>
            <a:noFill/>
          </a:ln>
        </p:spPr>
      </p:pic>
      <p:sp>
        <p:nvSpPr>
          <p:cNvPr id="394" name="Google Shape;394;p44"/>
          <p:cNvSpPr/>
          <p:nvPr/>
        </p:nvSpPr>
        <p:spPr>
          <a:xfrm>
            <a:off x="210825" y="5972812"/>
            <a:ext cx="4197279"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rgbClr val="55595B"/>
                </a:solidFill>
                <a:latin typeface="Cambria"/>
                <a:ea typeface="Cambria"/>
                <a:cs typeface="Cambria"/>
                <a:sym typeface="Cambria"/>
              </a:rPr>
              <a:t>The male superb bird of paradise has bright feathers and large plumes to attract females.</a:t>
            </a:r>
            <a:endParaRPr sz="16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5"/>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Effects of Gene Flow</a:t>
            </a:r>
            <a:br>
              <a:rPr lang="en-US"/>
            </a:br>
            <a:r>
              <a:rPr lang="en-US">
                <a:solidFill>
                  <a:srgbClr val="00B050"/>
                </a:solidFill>
              </a:rPr>
              <a:t>Stability and Change</a:t>
            </a:r>
            <a:br>
              <a:rPr lang="en-US"/>
            </a:br>
            <a:endParaRPr>
              <a:solidFill>
                <a:srgbClr val="F2A900"/>
              </a:solidFill>
              <a:latin typeface="Cambria"/>
              <a:ea typeface="Cambria"/>
              <a:cs typeface="Cambria"/>
              <a:sym typeface="Cambria"/>
            </a:endParaRPr>
          </a:p>
        </p:txBody>
      </p:sp>
      <p:sp>
        <p:nvSpPr>
          <p:cNvPr id="402" name="Google Shape;402;p4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403" name="Google Shape;403;p45"/>
          <p:cNvSpPr txBox="1"/>
          <p:nvPr/>
        </p:nvSpPr>
        <p:spPr>
          <a:xfrm>
            <a:off x="7298064" y="-39926"/>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pic>
        <p:nvPicPr>
          <p:cNvPr descr="A drawing of a person&#10;&#10;Description automatically generated" id="404" name="Google Shape;404;p45"/>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
        <p:nvSpPr>
          <p:cNvPr id="405" name="Google Shape;405;p45"/>
          <p:cNvSpPr/>
          <p:nvPr/>
        </p:nvSpPr>
        <p:spPr>
          <a:xfrm>
            <a:off x="457200" y="1308707"/>
            <a:ext cx="8474506" cy="526297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MODEL</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Draw a simple diagram to describe each of the mechanisms of evolution.</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Why is genetic drift more likely in small populations than in large populations? Consider the male ruffs from the beginning of this lesson. How could genetic drift or sexual selection explain the different types of males in the population? Use evidence from the lesson to support your claims.</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413" name="Google Shape;413;p46"/>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7030A0"/>
              </a:buClr>
              <a:buSzPts val="2800"/>
              <a:buFont typeface="Cambria"/>
              <a:buNone/>
            </a:pPr>
            <a:r>
              <a:rPr b="1" lang="en-US" sz="2800">
                <a:solidFill>
                  <a:srgbClr val="7030A0"/>
                </a:solidFill>
                <a:latin typeface="Cambria"/>
                <a:ea typeface="Cambria"/>
                <a:cs typeface="Cambria"/>
                <a:sym typeface="Cambria"/>
              </a:rPr>
              <a:t>Continue Your Exploration</a:t>
            </a:r>
            <a:endParaRPr/>
          </a:p>
        </p:txBody>
      </p:sp>
      <p:sp>
        <p:nvSpPr>
          <p:cNvPr id="414" name="Google Shape;414;p46"/>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415" name="Google Shape;415;p46"/>
          <p:cNvSpPr/>
          <p:nvPr/>
        </p:nvSpPr>
        <p:spPr>
          <a:xfrm>
            <a:off x="311099" y="1366719"/>
            <a:ext cx="8375701" cy="387798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300">
                <a:solidFill>
                  <a:schemeClr val="dk1"/>
                </a:solidFill>
                <a:latin typeface="Cambria"/>
                <a:ea typeface="Cambria"/>
                <a:cs typeface="Cambria"/>
                <a:sym typeface="Cambria"/>
              </a:rPr>
              <a:t>Choose one of the paths below to continue your exploration:</a:t>
            </a:r>
            <a:endParaRPr/>
          </a:p>
          <a:p>
            <a:pPr indent="0" lvl="0" marL="0" marR="0" rtl="0" algn="ctr">
              <a:spcBef>
                <a:spcPts val="0"/>
              </a:spcBef>
              <a:spcAft>
                <a:spcPts val="0"/>
              </a:spcAft>
              <a:buNone/>
            </a:pPr>
            <a:r>
              <a:t/>
            </a:r>
            <a:endParaRPr b="1" sz="23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Antibiotic-Resistant Bacteria</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Examining Selection</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Natural Selection in African Swallowtails</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Runaway Selection</a:t>
            </a:r>
            <a:endParaRPr/>
          </a:p>
        </p:txBody>
      </p:sp>
      <p:sp>
        <p:nvSpPr>
          <p:cNvPr id="416" name="Google Shape;416;p46"/>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7"/>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424" name="Google Shape;424;p4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425" name="Google Shape;425;p47"/>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1</a:t>
            </a:r>
            <a:endParaRPr/>
          </a:p>
        </p:txBody>
      </p:sp>
      <p:sp>
        <p:nvSpPr>
          <p:cNvPr id="426" name="Google Shape;426;p47"/>
          <p:cNvSpPr/>
          <p:nvPr/>
        </p:nvSpPr>
        <p:spPr>
          <a:xfrm>
            <a:off x="409906" y="1488211"/>
            <a:ext cx="8521800"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Refer to the notes in your Evidence Notebook to explain how three very different types of males evolved in a single population.</a:t>
            </a:r>
            <a:endParaRPr/>
          </a:p>
        </p:txBody>
      </p:sp>
      <p:pic>
        <p:nvPicPr>
          <p:cNvPr descr="A drawing of a person&#10;&#10;Description automatically generated" id="427" name="Google Shape;427;p47"/>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8"/>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Image Credits</a:t>
            </a:r>
            <a:endParaRPr/>
          </a:p>
        </p:txBody>
      </p:sp>
      <p:sp>
        <p:nvSpPr>
          <p:cNvPr id="433" name="Google Shape;433;p48"/>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2400"/>
              <a:buNone/>
            </a:pPr>
            <a:r>
              <a:rPr b="1" lang="en-US"/>
              <a:t>Unit 9 Lesson 1</a:t>
            </a:r>
            <a:endParaRPr/>
          </a:p>
          <a:p>
            <a:pPr indent="0" lvl="0" marL="0" rtl="0" algn="l">
              <a:spcBef>
                <a:spcPts val="0"/>
              </a:spcBef>
              <a:spcAft>
                <a:spcPts val="0"/>
              </a:spcAft>
              <a:buClr>
                <a:schemeClr val="dk1"/>
              </a:buClr>
              <a:buSzPts val="2400"/>
              <a:buNone/>
            </a:pPr>
            <a:r>
              <a:t/>
            </a:r>
            <a:endParaRPr b="1"/>
          </a:p>
          <a:p>
            <a:pPr indent="0" lvl="0" marL="0" rtl="0" algn="l">
              <a:spcBef>
                <a:spcPts val="0"/>
              </a:spcBef>
              <a:spcAft>
                <a:spcPts val="0"/>
              </a:spcAft>
              <a:buClr>
                <a:schemeClr val="dk1"/>
              </a:buClr>
              <a:buSzPts val="2400"/>
              <a:buNone/>
            </a:pPr>
            <a:r>
              <a:rPr i="1" lang="en-US"/>
              <a:t>male ruff bird</a:t>
            </a:r>
            <a:r>
              <a:rPr lang="en-US"/>
              <a:t> ©Arco Images GmbH/C. Wermter/Alamy; </a:t>
            </a:r>
            <a:r>
              <a:rPr i="1" lang="en-US"/>
              <a:t>meerkats</a:t>
            </a:r>
            <a:r>
              <a:rPr lang="en-US"/>
              <a:t> ©EcoView/Fotolia; </a:t>
            </a:r>
            <a:r>
              <a:rPr i="1" lang="en-US"/>
              <a:t>peppered moths</a:t>
            </a:r>
            <a:r>
              <a:rPr lang="en-US"/>
              <a:t> ©Perennou Nuridsany/Science Source; </a:t>
            </a:r>
            <a:r>
              <a:rPr i="1" lang="en-US"/>
              <a:t>penguins</a:t>
            </a:r>
            <a:r>
              <a:rPr lang="en-US"/>
              <a:t> ©Digital Vision/Getty Images; </a:t>
            </a:r>
            <a:r>
              <a:rPr i="1" lang="en-US"/>
              <a:t>elephant seals</a:t>
            </a:r>
            <a:r>
              <a:rPr lang="en-US"/>
              <a:t> ©National Geographic Magazines/Marc Moritsch/Getty Images; </a:t>
            </a:r>
            <a:r>
              <a:rPr i="1" lang="en-US"/>
              <a:t>rams fighting</a:t>
            </a:r>
            <a:r>
              <a:rPr lang="en-US"/>
              <a:t> ©Corbis/W. Perry Conway/Getty Images; </a:t>
            </a:r>
            <a:r>
              <a:rPr i="1" lang="en-US"/>
              <a:t>bird of paradise</a:t>
            </a:r>
            <a:r>
              <a:rPr lang="en-US"/>
              <a:t> ©National Geographic Magazines/Tim Laman/Getty Images; </a:t>
            </a:r>
            <a:r>
              <a:rPr i="1" lang="en-US"/>
              <a:t>male ruff satellite bird</a:t>
            </a:r>
            <a:r>
              <a:rPr lang="en-US"/>
              <a:t> ©Matthijs Kuijpers/Alamy; </a:t>
            </a:r>
            <a:r>
              <a:rPr i="1" lang="en-US"/>
              <a:t>female ruff bird</a:t>
            </a:r>
            <a:r>
              <a:rPr lang="en-US"/>
              <a:t> ©Arco Images GmbH/C. Wermter/Alamy; </a:t>
            </a:r>
            <a:r>
              <a:rPr i="1" lang="en-US"/>
              <a:t> meerkats</a:t>
            </a:r>
            <a:r>
              <a:rPr lang="en-US"/>
              <a:t> ©EcoView/Fotolia;</a:t>
            </a:r>
            <a:r>
              <a:rPr i="1" lang="en-US"/>
              <a:t> penguins</a:t>
            </a:r>
            <a:r>
              <a:rPr lang="en-US"/>
              <a:t> ©Digital Vision/Getty Images; </a:t>
            </a:r>
            <a:r>
              <a:rPr i="1" lang="en-US"/>
              <a:t>elephant seals</a:t>
            </a:r>
            <a:r>
              <a:rPr lang="en-US"/>
              <a:t> ©National Geographic Magazines/Marc Moritsch/Getty Images;</a:t>
            </a:r>
            <a:r>
              <a:rPr i="1" lang="en-US"/>
              <a:t> bird of paradise</a:t>
            </a:r>
            <a:r>
              <a:rPr lang="en-US"/>
              <a:t> ©National Geographic Magazines/Tim Laman/Getty Images</a:t>
            </a:r>
            <a:endParaRPr/>
          </a:p>
          <a:p>
            <a:pPr indent="0" lvl="0" marL="0" rtl="0" algn="l">
              <a:spcBef>
                <a:spcPts val="0"/>
              </a:spcBef>
              <a:spcAft>
                <a:spcPts val="0"/>
              </a:spcAft>
              <a:buClr>
                <a:schemeClr val="dk1"/>
              </a:buClr>
              <a:buSzPts val="2400"/>
              <a:buNone/>
            </a:pPr>
            <a:r>
              <a:t/>
            </a:r>
            <a:endParaRPr b="1"/>
          </a:p>
          <a:p>
            <a:pPr indent="0" lvl="0" marL="0" rtl="0" algn="l">
              <a:spcBef>
                <a:spcPts val="0"/>
              </a:spcBef>
              <a:spcAft>
                <a:spcPts val="0"/>
              </a:spcAft>
              <a:buClr>
                <a:schemeClr val="dk1"/>
              </a:buClr>
              <a:buSzPts val="2400"/>
              <a:buNone/>
            </a:pPr>
            <a:r>
              <a:t/>
            </a:r>
            <a:endParaRPr b="1" i="1"/>
          </a:p>
        </p:txBody>
      </p:sp>
      <p:sp>
        <p:nvSpPr>
          <p:cNvPr id="434" name="Google Shape;434;p4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HMH_PPT_TemplateF">
  <a:themeElements>
    <a:clrScheme name="HMH">
      <a:dk1>
        <a:srgbClr val="54585A"/>
      </a:dk1>
      <a:lt1>
        <a:srgbClr val="FFFFFF"/>
      </a:lt1>
      <a:dk2>
        <a:srgbClr val="F2A900"/>
      </a:dk2>
      <a:lt2>
        <a:srgbClr val="898D8D"/>
      </a:lt2>
      <a:accent1>
        <a:srgbClr val="6F83C1"/>
      </a:accent1>
      <a:accent2>
        <a:srgbClr val="CE3D95"/>
      </a:accent2>
      <a:accent3>
        <a:srgbClr val="00A8C8"/>
      </a:accent3>
      <a:accent4>
        <a:srgbClr val="EF4E45"/>
      </a:accent4>
      <a:accent5>
        <a:srgbClr val="B2B935"/>
      </a:accent5>
      <a:accent6>
        <a:srgbClr val="ED2C67"/>
      </a:accent6>
      <a:hlink>
        <a:srgbClr val="F48132"/>
      </a:hlink>
      <a:folHlink>
        <a:srgbClr val="72BE4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