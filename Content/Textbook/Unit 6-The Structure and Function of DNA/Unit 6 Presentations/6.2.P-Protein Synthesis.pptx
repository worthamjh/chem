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9144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68625" y="692700"/>
            <a:ext cx="4673825" cy="34635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1025" y="4387125"/>
            <a:ext cx="5608300" cy="41562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 name="Google Shape;37;p3: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rPr b="1" i="0" lang="en-US" sz="1200">
                <a:solidFill>
                  <a:schemeClr val="dk1"/>
                </a:solidFill>
                <a:latin typeface="Times New Roman"/>
                <a:ea typeface="Times New Roman"/>
                <a:cs typeface="Times New Roman"/>
                <a:sym typeface="Times New Roman"/>
              </a:rPr>
              <a:t>Lesson Objective:</a:t>
            </a:r>
            <a:endParaRPr/>
          </a:p>
          <a:p>
            <a:pPr indent="0" lvl="0" marL="0" rtl="0" algn="l">
              <a:spcBef>
                <a:spcPts val="360"/>
              </a:spcBef>
              <a:spcAft>
                <a:spcPts val="0"/>
              </a:spcAft>
              <a:buNone/>
            </a:pPr>
            <a:r>
              <a:rPr b="0" i="0" lang="en-US" sz="1200">
                <a:solidFill>
                  <a:schemeClr val="dk1"/>
                </a:solidFill>
                <a:latin typeface="Times New Roman"/>
                <a:ea typeface="Times New Roman"/>
                <a:cs typeface="Times New Roman"/>
                <a:sym typeface="Times New Roman"/>
              </a:rPr>
              <a:t>Construct an explanation based on evidence for how the language of DNA is translated into the language of proteins.</a:t>
            </a:r>
            <a:endParaRPr/>
          </a:p>
        </p:txBody>
      </p:sp>
      <p:sp>
        <p:nvSpPr>
          <p:cNvPr id="38" name="Google Shape;38;p3: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9" name="Google Shape;39;p3: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 name="Google Shape;44;p4: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45" name="Google Shape;45;p4: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46" name="Google Shape;46;p4: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5: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5: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57" name="Google Shape;57;p5: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58" name="Google Shape;58;p5: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6: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6: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68" name="Google Shape;68;p6: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69" name="Google Shape;69;p6: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7: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7: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79" name="Google Shape;79;p7: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80" name="Google Shape;80;p7: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8: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8: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91" name="Google Shape;91;p8: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92" name="Google Shape;92;p8: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9: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9: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03" name="Google Shape;103;p9: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04" name="Google Shape;104;p9: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0: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10: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14" name="Google Shape;114;p10: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15" name="Google Shape;115;p10: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1: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11: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125" name="Google Shape;125;p11: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26" name="Google Shape;126;p11: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2: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12: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37" name="Google Shape;137;p12: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38" name="Google Shape;138;p12: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3: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13: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48" name="Google Shape;148;p13: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49" name="Google Shape;149;p13: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4: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14: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59" name="Google Shape;159;p14: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60" name="Google Shape;160;p14: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5: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15: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70" name="Google Shape;170;p15: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71" name="Google Shape;171;p15: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6: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16: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marR="0" rtl="0" algn="l">
              <a:lnSpc>
                <a:spcPct val="100000"/>
              </a:lnSpc>
              <a:spcBef>
                <a:spcPts val="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81" name="Google Shape;181;p16: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82" name="Google Shape;182;p16: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7: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7: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191" name="Google Shape;191;p17: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92" name="Google Shape;192;p17: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8: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18: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203" name="Google Shape;203;p18: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04" name="Google Shape;204;p18: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9: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19: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15" name="Google Shape;215;p19: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16" name="Google Shape;216;p19: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0: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20: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226" name="Google Shape;226;p20: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27" name="Google Shape;227;p20: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1:notes"/>
          <p:cNvSpPr txBox="1"/>
          <p:nvPr>
            <p:ph idx="1" type="body"/>
          </p:nvPr>
        </p:nvSpPr>
        <p:spPr>
          <a:xfrm>
            <a:off x="701025" y="4387125"/>
            <a:ext cx="5608300" cy="41562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1:notes"/>
          <p:cNvSpPr/>
          <p:nvPr>
            <p:ph idx="2" type="sldImg"/>
          </p:nvPr>
        </p:nvSpPr>
        <p:spPr>
          <a:xfrm>
            <a:off x="1168625" y="692700"/>
            <a:ext cx="4673825" cy="34635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2"/>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2A900"/>
              </a:buClr>
              <a:buSzPts val="2800"/>
              <a:buFont typeface="Cambria"/>
              <a:buNone/>
              <a:defRPr>
                <a:solidFill>
                  <a:srgbClr val="F2A900"/>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lvl1pPr indent="-411480" lvl="0" marL="457200" algn="l">
              <a:spcBef>
                <a:spcPts val="0"/>
              </a:spcBef>
              <a:spcAft>
                <a:spcPts val="0"/>
              </a:spcAft>
              <a:buClr>
                <a:schemeClr val="dk1"/>
              </a:buClr>
              <a:buSzPts val="2880"/>
              <a:buChar char="•"/>
              <a:defRPr sz="2400">
                <a:latin typeface="Cambria"/>
                <a:ea typeface="Cambria"/>
                <a:cs typeface="Cambria"/>
                <a:sym typeface="Cambria"/>
              </a:defRPr>
            </a:lvl1pPr>
            <a:lvl2pPr indent="-381000" lvl="1" marL="914400" algn="l">
              <a:spcBef>
                <a:spcPts val="0"/>
              </a:spcBef>
              <a:spcAft>
                <a:spcPts val="0"/>
              </a:spcAft>
              <a:buClr>
                <a:schemeClr val="dk1"/>
              </a:buClr>
              <a:buSzPts val="2400"/>
              <a:buChar char="–"/>
              <a:defRPr sz="2400">
                <a:latin typeface="Cambria"/>
                <a:ea typeface="Cambria"/>
                <a:cs typeface="Cambria"/>
                <a:sym typeface="Cambria"/>
              </a:defRPr>
            </a:lvl2pPr>
            <a:lvl3pPr indent="-381000" lvl="2" marL="1371600" algn="l">
              <a:spcBef>
                <a:spcPts val="0"/>
              </a:spcBef>
              <a:spcAft>
                <a:spcPts val="0"/>
              </a:spcAft>
              <a:buClr>
                <a:schemeClr val="dk1"/>
              </a:buClr>
              <a:buSzPts val="2400"/>
              <a:buChar char="•"/>
              <a:defRPr sz="2400">
                <a:latin typeface="Cambria"/>
                <a:ea typeface="Cambria"/>
                <a:cs typeface="Cambria"/>
                <a:sym typeface="Cambria"/>
              </a:defRPr>
            </a:lvl3pPr>
            <a:lvl4pPr indent="-381000" lvl="3" marL="1828800" algn="l">
              <a:spcBef>
                <a:spcPts val="0"/>
              </a:spcBef>
              <a:spcAft>
                <a:spcPts val="0"/>
              </a:spcAft>
              <a:buClr>
                <a:schemeClr val="dk1"/>
              </a:buClr>
              <a:buSzPts val="2400"/>
              <a:buChar char="-"/>
              <a:defRPr sz="2400">
                <a:latin typeface="Cambria"/>
                <a:ea typeface="Cambria"/>
                <a:cs typeface="Cambria"/>
                <a:sym typeface="Cambria"/>
              </a:defRPr>
            </a:lvl4pPr>
            <a:lvl5pPr indent="-381000" lvl="4" marL="2286000" algn="l">
              <a:spcBef>
                <a:spcPts val="0"/>
              </a:spcBef>
              <a:spcAft>
                <a:spcPts val="0"/>
              </a:spcAft>
              <a:buClr>
                <a:schemeClr val="dk1"/>
              </a:buClr>
              <a:buSzPts val="2400"/>
              <a:buChar char="»"/>
              <a:defRPr sz="2400">
                <a:latin typeface="Cambria"/>
                <a:ea typeface="Cambria"/>
                <a:cs typeface="Cambria"/>
                <a:sym typeface="Cambri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 name="Google Shape;15;p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6" name="Shape 16"/>
        <p:cNvGrpSpPr/>
        <p:nvPr/>
      </p:nvGrpSpPr>
      <p:grpSpPr>
        <a:xfrm>
          <a:off x="0" y="0"/>
          <a:ext cx="0" cy="0"/>
          <a:chOff x="0" y="0"/>
          <a:chExt cx="0" cy="0"/>
        </a:xfrm>
      </p:grpSpPr>
      <p:grpSp>
        <p:nvGrpSpPr>
          <p:cNvPr id="17" name="Google Shape;17;p3"/>
          <p:cNvGrpSpPr/>
          <p:nvPr/>
        </p:nvGrpSpPr>
        <p:grpSpPr>
          <a:xfrm>
            <a:off x="457200" y="442000"/>
            <a:ext cx="8235757" cy="5504790"/>
            <a:chOff x="457200" y="442000"/>
            <a:chExt cx="8235757" cy="5504790"/>
          </a:xfrm>
        </p:grpSpPr>
        <p:sp>
          <p:nvSpPr>
            <p:cNvPr id="18" name="Google Shape;18;p3"/>
            <p:cNvSpPr/>
            <p:nvPr/>
          </p:nvSpPr>
          <p:spPr>
            <a:xfrm>
              <a:off x="457200" y="1603390"/>
              <a:ext cx="7251192" cy="43434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pic>
          <p:nvPicPr>
            <p:cNvPr descr="HMH_vertical logo.png" id="19" name="Google Shape;19;p3"/>
            <p:cNvPicPr preferRelativeResize="0"/>
            <p:nvPr/>
          </p:nvPicPr>
          <p:blipFill rotWithShape="1">
            <a:blip r:embed="rId2">
              <a:alphaModFix/>
            </a:blip>
            <a:srcRect b="0" l="0" r="0" t="0"/>
            <a:stretch/>
          </p:blipFill>
          <p:spPr>
            <a:xfrm>
              <a:off x="7042912" y="442000"/>
              <a:ext cx="1650045" cy="1039328"/>
            </a:xfrm>
            <a:prstGeom prst="rect">
              <a:avLst/>
            </a:prstGeom>
            <a:noFill/>
            <a:ln>
              <a:noFill/>
            </a:ln>
          </p:spPr>
        </p:pic>
      </p:grpSp>
      <p:sp>
        <p:nvSpPr>
          <p:cNvPr id="20" name="Google Shape;20;p3"/>
          <p:cNvSpPr txBox="1"/>
          <p:nvPr>
            <p:ph type="ctrTitle"/>
          </p:nvPr>
        </p:nvSpPr>
        <p:spPr>
          <a:xfrm>
            <a:off x="706001" y="1662793"/>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mbria"/>
              <a:buNone/>
              <a:defRPr b="1" sz="4000">
                <a:solidFill>
                  <a:srgbClr val="FFFFFF"/>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1" name="Shape 21"/>
        <p:cNvGrpSpPr/>
        <p:nvPr/>
      </p:nvGrpSpPr>
      <p:grpSpPr>
        <a:xfrm>
          <a:off x="0" y="0"/>
          <a:ext cx="0" cy="0"/>
          <a:chOff x="0" y="0"/>
          <a:chExt cx="0" cy="0"/>
        </a:xfrm>
      </p:grpSpPr>
      <p:sp>
        <p:nvSpPr>
          <p:cNvPr id="22" name="Google Shape;22;p4"/>
          <p:cNvSpPr txBox="1"/>
          <p:nvPr>
            <p:ph idx="1" type="body"/>
          </p:nvPr>
        </p:nvSpPr>
        <p:spPr>
          <a:xfrm>
            <a:off x="457200" y="1146175"/>
            <a:ext cx="3994150" cy="4525963"/>
          </a:xfrm>
          <a:prstGeom prst="rect">
            <a:avLst/>
          </a:prstGeom>
          <a:noFill/>
          <a:ln>
            <a:noFill/>
          </a:ln>
        </p:spPr>
        <p:txBody>
          <a:bodyPr anchorCtr="0" anchor="t" bIns="45700" lIns="0" spcFirstLastPara="1" rIns="0" wrap="square" tIns="45700">
            <a:noAutofit/>
          </a:bodyPr>
          <a:lstStyle>
            <a:lvl1pPr indent="-411480" lvl="0" marL="457200" algn="l">
              <a:spcBef>
                <a:spcPts val="0"/>
              </a:spcBef>
              <a:spcAft>
                <a:spcPts val="0"/>
              </a:spcAft>
              <a:buClr>
                <a:schemeClr val="dk1"/>
              </a:buClr>
              <a:buSzPts val="2880"/>
              <a:buChar char="•"/>
              <a:defRPr sz="2400">
                <a:latin typeface="Cambria"/>
                <a:ea typeface="Cambria"/>
                <a:cs typeface="Cambria"/>
                <a:sym typeface="Cambria"/>
              </a:defRPr>
            </a:lvl1pPr>
            <a:lvl2pPr indent="-381000" lvl="1" marL="914400" algn="l">
              <a:spcBef>
                <a:spcPts val="0"/>
              </a:spcBef>
              <a:spcAft>
                <a:spcPts val="0"/>
              </a:spcAft>
              <a:buClr>
                <a:schemeClr val="dk1"/>
              </a:buClr>
              <a:buSzPts val="2400"/>
              <a:buChar char="–"/>
              <a:defRPr sz="2400">
                <a:latin typeface="Cambria"/>
                <a:ea typeface="Cambria"/>
                <a:cs typeface="Cambria"/>
                <a:sym typeface="Cambria"/>
              </a:defRPr>
            </a:lvl2pPr>
            <a:lvl3pPr indent="-381000" lvl="2" marL="1371600" algn="l">
              <a:spcBef>
                <a:spcPts val="0"/>
              </a:spcBef>
              <a:spcAft>
                <a:spcPts val="0"/>
              </a:spcAft>
              <a:buClr>
                <a:schemeClr val="dk1"/>
              </a:buClr>
              <a:buSzPts val="2400"/>
              <a:buChar char="•"/>
              <a:defRPr sz="2400">
                <a:latin typeface="Cambria"/>
                <a:ea typeface="Cambria"/>
                <a:cs typeface="Cambria"/>
                <a:sym typeface="Cambria"/>
              </a:defRPr>
            </a:lvl3pPr>
            <a:lvl4pPr indent="-381000" lvl="3" marL="1828800" algn="l">
              <a:spcBef>
                <a:spcPts val="0"/>
              </a:spcBef>
              <a:spcAft>
                <a:spcPts val="0"/>
              </a:spcAft>
              <a:buClr>
                <a:schemeClr val="dk1"/>
              </a:buClr>
              <a:buSzPts val="2400"/>
              <a:buChar char="-"/>
              <a:defRPr sz="2400">
                <a:latin typeface="Cambria"/>
                <a:ea typeface="Cambria"/>
                <a:cs typeface="Cambria"/>
                <a:sym typeface="Cambria"/>
              </a:defRPr>
            </a:lvl4pPr>
            <a:lvl5pPr indent="-381000" lvl="4" marL="2286000" algn="l">
              <a:spcBef>
                <a:spcPts val="0"/>
              </a:spcBef>
              <a:spcAft>
                <a:spcPts val="0"/>
              </a:spcAft>
              <a:buClr>
                <a:schemeClr val="dk1"/>
              </a:buClr>
              <a:buSzPts val="2400"/>
              <a:buChar char="»"/>
              <a:defRPr sz="2400">
                <a:latin typeface="Cambria"/>
                <a:ea typeface="Cambria"/>
                <a:cs typeface="Cambria"/>
                <a:sym typeface="Cambria"/>
              </a:defRPr>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3" name="Google Shape;23;p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
        <p:nvSpPr>
          <p:cNvPr id="24" name="Google Shape;24;p4"/>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00"/>
              <a:buFont typeface="Cambria"/>
              <a:buNone/>
              <a:defRPr b="1" sz="2800">
                <a:solidFill>
                  <a:schemeClr val="dk2"/>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5" name="Shape 25"/>
        <p:cNvGrpSpPr/>
        <p:nvPr/>
      </p:nvGrpSpPr>
      <p:grpSpPr>
        <a:xfrm>
          <a:off x="0" y="0"/>
          <a:ext cx="0" cy="0"/>
          <a:chOff x="0" y="0"/>
          <a:chExt cx="0" cy="0"/>
        </a:xfrm>
      </p:grpSpPr>
      <p:sp>
        <p:nvSpPr>
          <p:cNvPr id="26" name="Google Shape;26;p5"/>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00"/>
              <a:buFont typeface="Cambria"/>
              <a:buNone/>
              <a:defRPr b="1" sz="2800">
                <a:solidFill>
                  <a:schemeClr val="dk2"/>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457200" y="1146175"/>
            <a:ext cx="3994150" cy="639762"/>
          </a:xfrm>
          <a:prstGeom prst="rect">
            <a:avLst/>
          </a:prstGeom>
          <a:noFill/>
          <a:ln>
            <a:noFill/>
          </a:ln>
        </p:spPr>
        <p:txBody>
          <a:bodyPr anchorCtr="0" anchor="b" bIns="45700" lIns="0" spcFirstLastPara="1" rIns="0" wrap="square" tIns="45700">
            <a:noAutofit/>
          </a:bodyPr>
          <a:lstStyle>
            <a:lvl1pPr indent="-228600" lvl="0" marL="457200" algn="l">
              <a:spcBef>
                <a:spcPts val="0"/>
              </a:spcBef>
              <a:spcAft>
                <a:spcPts val="0"/>
              </a:spcAft>
              <a:buClr>
                <a:schemeClr val="dk1"/>
              </a:buClr>
              <a:buSzPts val="2160"/>
              <a:buNone/>
              <a:defRPr b="1" sz="1800">
                <a:latin typeface="Cambria"/>
                <a:ea typeface="Cambria"/>
                <a:cs typeface="Cambria"/>
                <a:sym typeface="Cambria"/>
              </a:defRPr>
            </a:lvl1pPr>
            <a:lvl2pPr indent="-228600" lvl="1" marL="914400" algn="l">
              <a:spcBef>
                <a:spcPts val="0"/>
              </a:spcBef>
              <a:spcAft>
                <a:spcPts val="0"/>
              </a:spcAft>
              <a:buClr>
                <a:schemeClr val="dk1"/>
              </a:buClr>
              <a:buSzPts val="2000"/>
              <a:buNone/>
              <a:defRPr b="1" sz="2000"/>
            </a:lvl2pPr>
            <a:lvl3pPr indent="-228600" lvl="2" marL="1371600" algn="l">
              <a:spcBef>
                <a:spcPts val="0"/>
              </a:spcBef>
              <a:spcAft>
                <a:spcPts val="0"/>
              </a:spcAft>
              <a:buClr>
                <a:schemeClr val="dk1"/>
              </a:buClr>
              <a:buSzPts val="1800"/>
              <a:buNone/>
              <a:defRPr b="1" sz="1800"/>
            </a:lvl3pPr>
            <a:lvl4pPr indent="-228600" lvl="3" marL="1828800" algn="l">
              <a:spcBef>
                <a:spcPts val="0"/>
              </a:spcBef>
              <a:spcAft>
                <a:spcPts val="0"/>
              </a:spcAft>
              <a:buClr>
                <a:schemeClr val="dk1"/>
              </a:buClr>
              <a:buSzPts val="1600"/>
              <a:buNone/>
              <a:defRPr b="1" sz="1600"/>
            </a:lvl4pPr>
            <a:lvl5pPr indent="-228600" lvl="4" marL="2286000" algn="l">
              <a:spcBef>
                <a:spcPts val="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8" name="Google Shape;28;p5"/>
          <p:cNvSpPr txBox="1"/>
          <p:nvPr>
            <p:ph idx="2" type="body"/>
          </p:nvPr>
        </p:nvSpPr>
        <p:spPr>
          <a:xfrm>
            <a:off x="457200" y="1785937"/>
            <a:ext cx="3994150" cy="3951288"/>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sz="1800">
                <a:latin typeface="Cambria"/>
                <a:ea typeface="Cambria"/>
                <a:cs typeface="Cambria"/>
                <a:sym typeface="Cambria"/>
              </a:defRPr>
            </a:lvl1pPr>
            <a:lvl2pPr indent="-342900" lvl="1" marL="914400" algn="l">
              <a:spcBef>
                <a:spcPts val="0"/>
              </a:spcBef>
              <a:spcAft>
                <a:spcPts val="0"/>
              </a:spcAft>
              <a:buClr>
                <a:schemeClr val="dk1"/>
              </a:buClr>
              <a:buSzPts val="1800"/>
              <a:buChar char="–"/>
              <a:defRPr sz="1800">
                <a:latin typeface="Cambria"/>
                <a:ea typeface="Cambria"/>
                <a:cs typeface="Cambria"/>
                <a:sym typeface="Cambria"/>
              </a:defRPr>
            </a:lvl2pPr>
            <a:lvl3pPr indent="-342900" lvl="2" marL="1371600" algn="l">
              <a:spcBef>
                <a:spcPts val="0"/>
              </a:spcBef>
              <a:spcAft>
                <a:spcPts val="0"/>
              </a:spcAft>
              <a:buClr>
                <a:schemeClr val="dk1"/>
              </a:buClr>
              <a:buSzPts val="1800"/>
              <a:buChar char="•"/>
              <a:defRPr sz="1800">
                <a:latin typeface="Cambria"/>
                <a:ea typeface="Cambria"/>
                <a:cs typeface="Cambria"/>
                <a:sym typeface="Cambria"/>
              </a:defRPr>
            </a:lvl3pPr>
            <a:lvl4pPr indent="-342900" lvl="3" marL="1828800" algn="l">
              <a:spcBef>
                <a:spcPts val="0"/>
              </a:spcBef>
              <a:spcAft>
                <a:spcPts val="0"/>
              </a:spcAft>
              <a:buClr>
                <a:schemeClr val="dk1"/>
              </a:buClr>
              <a:buSzPts val="1800"/>
              <a:buChar char="-"/>
              <a:defRPr sz="1800">
                <a:latin typeface="Cambria"/>
                <a:ea typeface="Cambria"/>
                <a:cs typeface="Cambria"/>
                <a:sym typeface="Cambria"/>
              </a:defRPr>
            </a:lvl4pPr>
            <a:lvl5pPr indent="-342900" lvl="4" marL="2286000" algn="l">
              <a:spcBef>
                <a:spcPts val="0"/>
              </a:spcBef>
              <a:spcAft>
                <a:spcPts val="0"/>
              </a:spcAft>
              <a:buClr>
                <a:schemeClr val="dk1"/>
              </a:buClr>
              <a:buSzPts val="1800"/>
              <a:buChar char="»"/>
              <a:defRPr sz="1800">
                <a:latin typeface="Cambria"/>
                <a:ea typeface="Cambria"/>
                <a:cs typeface="Cambria"/>
                <a:sym typeface="Cambria"/>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9" name="Google Shape;29;p5"/>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00"/>
              <a:buFont typeface="Cambria"/>
              <a:buNone/>
              <a:defRPr>
                <a:solidFill>
                  <a:schemeClr val="dk2"/>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6"/>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7"/>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marR="0" rtl="0" algn="l">
              <a:spcBef>
                <a:spcPts val="0"/>
              </a:spcBef>
              <a:spcAft>
                <a:spcPts val="0"/>
              </a:spcAft>
              <a:buClr>
                <a:schemeClr val="dk2"/>
              </a:buClr>
              <a:buSzPts val="2800"/>
              <a:buFont typeface="Cambria"/>
              <a:buNone/>
              <a:defRPr b="1" i="0" sz="28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lvl1pPr indent="-411480" lvl="0" marL="457200" marR="0" rtl="0" algn="l">
              <a:spcBef>
                <a:spcPts val="0"/>
              </a:spcBef>
              <a:spcAft>
                <a:spcPts val="0"/>
              </a:spcAft>
              <a:buClr>
                <a:schemeClr val="dk1"/>
              </a:buClr>
              <a:buSzPts val="2880"/>
              <a:buFont typeface="Arial"/>
              <a:buChar char="•"/>
              <a:defRPr b="0" i="0" sz="2400" u="none" cap="none" strike="noStrike">
                <a:solidFill>
                  <a:schemeClr val="dk1"/>
                </a:solidFill>
                <a:latin typeface="Cambria"/>
                <a:ea typeface="Cambria"/>
                <a:cs typeface="Cambria"/>
                <a:sym typeface="Cambria"/>
              </a:defRPr>
            </a:lvl1pPr>
            <a:lvl2pPr indent="-381000" lvl="1" marL="914400" marR="0" rtl="0" algn="l">
              <a:spcBef>
                <a:spcPts val="0"/>
              </a:spcBef>
              <a:spcAft>
                <a:spcPts val="0"/>
              </a:spcAft>
              <a:buClr>
                <a:schemeClr val="dk1"/>
              </a:buClr>
              <a:buSzPts val="2400"/>
              <a:buFont typeface="Arial"/>
              <a:buChar char="–"/>
              <a:defRPr b="0" i="0" sz="2400" u="none" cap="none" strike="noStrike">
                <a:solidFill>
                  <a:schemeClr val="dk1"/>
                </a:solidFill>
                <a:latin typeface="Cambria"/>
                <a:ea typeface="Cambria"/>
                <a:cs typeface="Cambria"/>
                <a:sym typeface="Cambria"/>
              </a:defRPr>
            </a:lvl2pPr>
            <a:lvl3pPr indent="-381000" lvl="2" marL="1371600" marR="0" rtl="0" algn="l">
              <a:spcBef>
                <a:spcPts val="0"/>
              </a:spcBef>
              <a:spcAft>
                <a:spcPts val="0"/>
              </a:spcAft>
              <a:buClr>
                <a:schemeClr val="dk1"/>
              </a:buClr>
              <a:buSzPts val="2400"/>
              <a:buFont typeface="Arial"/>
              <a:buChar char="•"/>
              <a:defRPr b="0" i="0" sz="2400" u="none" cap="none" strike="noStrike">
                <a:solidFill>
                  <a:schemeClr val="dk1"/>
                </a:solidFill>
                <a:latin typeface="Cambria"/>
                <a:ea typeface="Cambria"/>
                <a:cs typeface="Cambria"/>
                <a:sym typeface="Cambria"/>
              </a:defRPr>
            </a:lvl3pPr>
            <a:lvl4pPr indent="-381000" lvl="3" marL="1828800" marR="0" rtl="0" algn="l">
              <a:spcBef>
                <a:spcPts val="0"/>
              </a:spcBef>
              <a:spcAft>
                <a:spcPts val="0"/>
              </a:spcAft>
              <a:buClr>
                <a:schemeClr val="dk1"/>
              </a:buClr>
              <a:buSzPts val="2400"/>
              <a:buFont typeface="Merriweather Sans"/>
              <a:buChar char="-"/>
              <a:defRPr b="0" i="0" sz="2400" u="none" cap="none" strike="noStrike">
                <a:solidFill>
                  <a:schemeClr val="dk1"/>
                </a:solidFill>
                <a:latin typeface="Cambria"/>
                <a:ea typeface="Cambria"/>
                <a:cs typeface="Cambria"/>
                <a:sym typeface="Cambria"/>
              </a:defRPr>
            </a:lvl4pPr>
            <a:lvl5pPr indent="-381000" lvl="4" marL="2286000" marR="0" rtl="0" algn="l">
              <a:spcBef>
                <a:spcPts val="0"/>
              </a:spcBef>
              <a:spcAft>
                <a:spcPts val="0"/>
              </a:spcAft>
              <a:buClr>
                <a:schemeClr val="dk1"/>
              </a:buClr>
              <a:buSzPts val="2400"/>
              <a:buFont typeface="Merriweather Sans"/>
              <a:buChar char="»"/>
              <a:defRPr b="0" i="0" sz="2400" u="none" cap="none" strike="noStrike">
                <a:solidFill>
                  <a:schemeClr val="dk1"/>
                </a:solidFill>
                <a:latin typeface="Cambria"/>
                <a:ea typeface="Cambria"/>
                <a:cs typeface="Cambria"/>
                <a:sym typeface="Cambri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9pPr>
          </a:lstStyle>
          <a:p/>
        </p:txBody>
      </p:sp>
      <p:sp>
        <p:nvSpPr>
          <p:cNvPr id="8" name="Google Shape;8;p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marR="0" rtl="0" algn="l">
              <a:spcBef>
                <a:spcPts val="0"/>
              </a:spcBef>
              <a:spcAft>
                <a:spcPts val="0"/>
              </a:spcAft>
              <a:buNone/>
              <a:defRPr b="0" i="0" sz="1200" u="none" cap="none" strike="noStrike">
                <a:solidFill>
                  <a:srgbClr val="54585A"/>
                </a:solidFill>
                <a:latin typeface="Arial"/>
                <a:ea typeface="Arial"/>
                <a:cs typeface="Arial"/>
                <a:sym typeface="Arial"/>
              </a:defRPr>
            </a:lvl1pPr>
            <a:lvl2pPr indent="0" lvl="1" marL="0" marR="0" rtl="0" algn="l">
              <a:spcBef>
                <a:spcPts val="0"/>
              </a:spcBef>
              <a:spcAft>
                <a:spcPts val="0"/>
              </a:spcAft>
              <a:buNone/>
              <a:defRPr b="0" i="0" sz="1200" u="none" cap="none" strike="noStrike">
                <a:solidFill>
                  <a:srgbClr val="54585A"/>
                </a:solidFill>
                <a:latin typeface="Arial"/>
                <a:ea typeface="Arial"/>
                <a:cs typeface="Arial"/>
                <a:sym typeface="Arial"/>
              </a:defRPr>
            </a:lvl2pPr>
            <a:lvl3pPr indent="0" lvl="2" marL="0" marR="0" rtl="0" algn="l">
              <a:spcBef>
                <a:spcPts val="0"/>
              </a:spcBef>
              <a:spcAft>
                <a:spcPts val="0"/>
              </a:spcAft>
              <a:buNone/>
              <a:defRPr b="0" i="0" sz="1200" u="none" cap="none" strike="noStrike">
                <a:solidFill>
                  <a:srgbClr val="54585A"/>
                </a:solidFill>
                <a:latin typeface="Arial"/>
                <a:ea typeface="Arial"/>
                <a:cs typeface="Arial"/>
                <a:sym typeface="Arial"/>
              </a:defRPr>
            </a:lvl3pPr>
            <a:lvl4pPr indent="0" lvl="3" marL="0" marR="0" rtl="0" algn="l">
              <a:spcBef>
                <a:spcPts val="0"/>
              </a:spcBef>
              <a:spcAft>
                <a:spcPts val="0"/>
              </a:spcAft>
              <a:buNone/>
              <a:defRPr b="0" i="0" sz="1200" u="none" cap="none" strike="noStrike">
                <a:solidFill>
                  <a:srgbClr val="54585A"/>
                </a:solidFill>
                <a:latin typeface="Arial"/>
                <a:ea typeface="Arial"/>
                <a:cs typeface="Arial"/>
                <a:sym typeface="Arial"/>
              </a:defRPr>
            </a:lvl4pPr>
            <a:lvl5pPr indent="0" lvl="4" marL="0" marR="0" rtl="0" algn="l">
              <a:spcBef>
                <a:spcPts val="0"/>
              </a:spcBef>
              <a:spcAft>
                <a:spcPts val="0"/>
              </a:spcAft>
              <a:buNone/>
              <a:defRPr b="0" i="0" sz="1200" u="none" cap="none" strike="noStrike">
                <a:solidFill>
                  <a:srgbClr val="54585A"/>
                </a:solidFill>
                <a:latin typeface="Arial"/>
                <a:ea typeface="Arial"/>
                <a:cs typeface="Arial"/>
                <a:sym typeface="Arial"/>
              </a:defRPr>
            </a:lvl5pPr>
            <a:lvl6pPr indent="0" lvl="5" marL="0" marR="0" rtl="0" algn="l">
              <a:spcBef>
                <a:spcPts val="0"/>
              </a:spcBef>
              <a:spcAft>
                <a:spcPts val="0"/>
              </a:spcAft>
              <a:buNone/>
              <a:defRPr b="0" i="0" sz="1200" u="none" cap="none" strike="noStrike">
                <a:solidFill>
                  <a:srgbClr val="54585A"/>
                </a:solidFill>
                <a:latin typeface="Arial"/>
                <a:ea typeface="Arial"/>
                <a:cs typeface="Arial"/>
                <a:sym typeface="Arial"/>
              </a:defRPr>
            </a:lvl6pPr>
            <a:lvl7pPr indent="0" lvl="6" marL="0" marR="0" rtl="0" algn="l">
              <a:spcBef>
                <a:spcPts val="0"/>
              </a:spcBef>
              <a:spcAft>
                <a:spcPts val="0"/>
              </a:spcAft>
              <a:buNone/>
              <a:defRPr b="0" i="0" sz="1200" u="none" cap="none" strike="noStrike">
                <a:solidFill>
                  <a:srgbClr val="54585A"/>
                </a:solidFill>
                <a:latin typeface="Arial"/>
                <a:ea typeface="Arial"/>
                <a:cs typeface="Arial"/>
                <a:sym typeface="Arial"/>
              </a:defRPr>
            </a:lvl7pPr>
            <a:lvl8pPr indent="0" lvl="7" marL="0" marR="0" rtl="0" algn="l">
              <a:spcBef>
                <a:spcPts val="0"/>
              </a:spcBef>
              <a:spcAft>
                <a:spcPts val="0"/>
              </a:spcAft>
              <a:buNone/>
              <a:defRPr b="0" i="0" sz="1200" u="none" cap="none" strike="noStrike">
                <a:solidFill>
                  <a:srgbClr val="54585A"/>
                </a:solidFill>
                <a:latin typeface="Arial"/>
                <a:ea typeface="Arial"/>
                <a:cs typeface="Arial"/>
                <a:sym typeface="Arial"/>
              </a:defRPr>
            </a:lvl8pPr>
            <a:lvl9pPr indent="0" lvl="8" marL="0" marR="0" rtl="0" algn="l">
              <a:spcBef>
                <a:spcPts val="0"/>
              </a:spcBef>
              <a:spcAft>
                <a:spcPts val="0"/>
              </a:spcAft>
              <a:buNone/>
              <a:defRPr b="0" i="0" sz="1200" u="none" cap="none" strike="noStrike">
                <a:solidFill>
                  <a:srgbClr val="54585A"/>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pic>
        <p:nvPicPr>
          <p:cNvPr descr="HMH_horizontal logo.png" id="9" name="Google Shape;9;p1"/>
          <p:cNvPicPr preferRelativeResize="0"/>
          <p:nvPr/>
        </p:nvPicPr>
        <p:blipFill rotWithShape="1">
          <a:blip r:embed="rId1">
            <a:alphaModFix/>
          </a:blip>
          <a:srcRect b="0" l="0" r="0" t="0"/>
          <a:stretch/>
        </p:blipFill>
        <p:spPr>
          <a:xfrm>
            <a:off x="6824799" y="6399660"/>
            <a:ext cx="1912424" cy="348185"/>
          </a:xfrm>
          <a:prstGeom prst="rect">
            <a:avLst/>
          </a:prstGeom>
          <a:noFill/>
          <a:ln>
            <a:noFill/>
          </a:ln>
        </p:spPr>
      </p:pic>
      <p:sp>
        <p:nvSpPr>
          <p:cNvPr id="10" name="Google Shape;10;p1"/>
          <p:cNvSpPr/>
          <p:nvPr/>
        </p:nvSpPr>
        <p:spPr>
          <a:xfrm>
            <a:off x="0" y="0"/>
            <a:ext cx="6775704" cy="17373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Times New Roman"/>
              <a:ea typeface="Times New Roman"/>
              <a:cs typeface="Times New Roman"/>
              <a:sym typeface="Times New Roman"/>
            </a:endParaRPr>
          </a:p>
        </p:txBody>
      </p:sp>
      <p:sp>
        <p:nvSpPr>
          <p:cNvPr id="11" name="Google Shape;11;p1"/>
          <p:cNvSpPr/>
          <p:nvPr/>
        </p:nvSpPr>
        <p:spPr>
          <a:xfrm>
            <a:off x="6821424" y="0"/>
            <a:ext cx="2340864" cy="17417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www.hmhco.com/content/science/sciencedimensions/na/gr9-12/ete_biology_9780544535855_/book_pages/OPS/s9ml/glossary.xhtml#key-transcription" TargetMode="Externa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www.hmhco.com/content/science/sciencedimensions/na/gr9-12/ete_biology_9780544535855_/book_pages/OPS/s9ml/glossary.xhtml#key-translation" TargetMode="External"/><Relationship Id="rId4" Type="http://schemas.openxmlformats.org/officeDocument/2006/relationships/hyperlink" Target="https://www.hmhco.com/content/science/sciencedimensions/na/gr9-12/ete_biology_9780544535855_/book_pages/OPS/s9ml/glossary.xhtml#key-ribosome" TargetMode="External"/><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hyperlink" Target="https://www.hmhco.com/content/science/sciencedimensions/na/gr9-12/ete_biology_9780544535855_/book_pages/OPS/s9ml/glossary.xhtml#key-00948t9tjgnjg495yguhr"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8"/>
          <p:cNvSpPr txBox="1"/>
          <p:nvPr>
            <p:ph idx="4294967295" type="subTitle"/>
          </p:nvPr>
        </p:nvSpPr>
        <p:spPr>
          <a:xfrm>
            <a:off x="696995" y="1840108"/>
            <a:ext cx="6928755" cy="175260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F2F2"/>
              </a:buClr>
              <a:buSzPts val="3840"/>
              <a:buFont typeface="Arial"/>
              <a:buNone/>
            </a:pPr>
            <a:r>
              <a:rPr b="1" i="0" lang="en-US" sz="3200" u="none" cap="none" strike="noStrike">
                <a:solidFill>
                  <a:srgbClr val="F2F2F2"/>
                </a:solidFill>
                <a:latin typeface="Cambria"/>
                <a:ea typeface="Cambria"/>
                <a:cs typeface="Cambria"/>
                <a:sym typeface="Cambria"/>
              </a:rPr>
              <a:t>Biology</a:t>
            </a:r>
            <a:endParaRPr/>
          </a:p>
          <a:p>
            <a:pPr indent="0" lvl="0" marL="0" marR="0" rtl="0" algn="l">
              <a:spcBef>
                <a:spcPts val="0"/>
              </a:spcBef>
              <a:spcAft>
                <a:spcPts val="0"/>
              </a:spcAft>
              <a:buClr>
                <a:srgbClr val="F2F2F2"/>
              </a:buClr>
              <a:buSzPts val="3840"/>
              <a:buFont typeface="Arial"/>
              <a:buNone/>
            </a:pPr>
            <a:r>
              <a:rPr b="1" i="0" lang="en-US" sz="3200" u="none" cap="none" strike="noStrike">
                <a:solidFill>
                  <a:srgbClr val="F2F2F2"/>
                </a:solidFill>
                <a:latin typeface="Cambria"/>
                <a:ea typeface="Cambria"/>
                <a:cs typeface="Cambria"/>
                <a:sym typeface="Cambria"/>
              </a:rPr>
              <a:t>Unit 6: The Structure and Function of DNA</a:t>
            </a:r>
            <a:endParaRPr/>
          </a:p>
          <a:p>
            <a:pPr indent="0" lvl="0" marL="0" marR="0" rtl="0" algn="l">
              <a:spcBef>
                <a:spcPts val="0"/>
              </a:spcBef>
              <a:spcAft>
                <a:spcPts val="0"/>
              </a:spcAft>
              <a:buClr>
                <a:srgbClr val="F2F2F2"/>
              </a:buClr>
              <a:buSzPts val="3840"/>
              <a:buFont typeface="Arial"/>
              <a:buNone/>
            </a:pPr>
            <a:r>
              <a:rPr b="1" i="0" lang="en-US" sz="3200" u="none" cap="none" strike="noStrike">
                <a:solidFill>
                  <a:srgbClr val="F2F2F2"/>
                </a:solidFill>
                <a:latin typeface="Cambria"/>
                <a:ea typeface="Cambria"/>
                <a:cs typeface="Cambria"/>
                <a:sym typeface="Cambria"/>
              </a:rPr>
              <a:t>Lesson 2: Protein Synthesis</a:t>
            </a:r>
            <a:endParaRPr/>
          </a:p>
          <a:p>
            <a:pPr indent="0" lvl="0" marL="230188" marR="0" rtl="0" algn="l">
              <a:spcBef>
                <a:spcPts val="0"/>
              </a:spcBef>
              <a:spcAft>
                <a:spcPts val="0"/>
              </a:spcAft>
              <a:buClr>
                <a:schemeClr val="dk1"/>
              </a:buClr>
              <a:buSzPts val="3840"/>
              <a:buFont typeface="Arial"/>
              <a:buNone/>
            </a:pPr>
            <a:r>
              <a:t/>
            </a:r>
            <a:endParaRPr b="0" i="0" sz="3200" u="none" cap="none" strike="noStrike">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9"/>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Can You Explain It?</a:t>
            </a:r>
            <a:endParaRPr/>
          </a:p>
        </p:txBody>
      </p:sp>
      <p:sp>
        <p:nvSpPr>
          <p:cNvPr id="49" name="Google Shape;49;p9"/>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50" name="Google Shape;50;p9"/>
          <p:cNvSpPr/>
          <p:nvPr/>
        </p:nvSpPr>
        <p:spPr>
          <a:xfrm>
            <a:off x="457200" y="5174696"/>
            <a:ext cx="8288923" cy="120032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How do you think a code consisting of so few characters can encode the instructions for building thousands of different proteins?</a:t>
            </a:r>
            <a:endParaRPr b="1" sz="2200">
              <a:solidFill>
                <a:schemeClr val="dk1"/>
              </a:solidFill>
              <a:latin typeface="Cambria"/>
              <a:ea typeface="Cambria"/>
              <a:cs typeface="Cambria"/>
              <a:sym typeface="Cambria"/>
            </a:endParaRPr>
          </a:p>
        </p:txBody>
      </p:sp>
      <p:pic>
        <p:nvPicPr>
          <p:cNvPr descr="A drawing of a person&#10;&#10;Description automatically generated" id="51" name="Google Shape;51;p9"/>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
        <p:nvSpPr>
          <p:cNvPr id="52" name="Google Shape;52;p9"/>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2</a:t>
            </a:r>
            <a:endParaRPr/>
          </a:p>
        </p:txBody>
      </p:sp>
      <p:pic>
        <p:nvPicPr>
          <p:cNvPr id="53" name="Google Shape;53;p9"/>
          <p:cNvPicPr preferRelativeResize="0"/>
          <p:nvPr/>
        </p:nvPicPr>
        <p:blipFill rotWithShape="1">
          <a:blip r:embed="rId4">
            <a:alphaModFix/>
          </a:blip>
          <a:srcRect b="0" l="0" r="0" t="0"/>
          <a:stretch/>
        </p:blipFill>
        <p:spPr>
          <a:xfrm>
            <a:off x="1795934" y="912680"/>
            <a:ext cx="5552131" cy="416206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0"/>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Introduction to Protein Synthesis</a:t>
            </a:r>
            <a:br>
              <a:rPr lang="en-US">
                <a:solidFill>
                  <a:srgbClr val="F2A900"/>
                </a:solidFill>
                <a:latin typeface="Cambria"/>
                <a:ea typeface="Cambria"/>
                <a:cs typeface="Cambria"/>
                <a:sym typeface="Cambria"/>
              </a:rPr>
            </a:br>
            <a:endParaRPr>
              <a:solidFill>
                <a:srgbClr val="F2A900"/>
              </a:solidFill>
              <a:latin typeface="Cambria"/>
              <a:ea typeface="Cambria"/>
              <a:cs typeface="Cambria"/>
              <a:sym typeface="Cambria"/>
            </a:endParaRPr>
          </a:p>
        </p:txBody>
      </p:sp>
      <p:sp>
        <p:nvSpPr>
          <p:cNvPr id="61" name="Google Shape;61;p10"/>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62" name="Google Shape;62;p10"/>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2</a:t>
            </a:r>
            <a:endParaRPr/>
          </a:p>
        </p:txBody>
      </p:sp>
      <p:pic>
        <p:nvPicPr>
          <p:cNvPr id="63" name="Google Shape;63;p10"/>
          <p:cNvPicPr preferRelativeResize="0"/>
          <p:nvPr/>
        </p:nvPicPr>
        <p:blipFill rotWithShape="1">
          <a:blip r:embed="rId3">
            <a:alphaModFix/>
          </a:blip>
          <a:srcRect b="0" l="0" r="0" t="0"/>
          <a:stretch/>
        </p:blipFill>
        <p:spPr>
          <a:xfrm>
            <a:off x="824593" y="979637"/>
            <a:ext cx="7494814" cy="4213776"/>
          </a:xfrm>
          <a:prstGeom prst="rect">
            <a:avLst/>
          </a:prstGeom>
          <a:noFill/>
          <a:ln>
            <a:noFill/>
          </a:ln>
        </p:spPr>
      </p:pic>
      <p:sp>
        <p:nvSpPr>
          <p:cNvPr id="64" name="Google Shape;64;p10"/>
          <p:cNvSpPr txBox="1"/>
          <p:nvPr/>
        </p:nvSpPr>
        <p:spPr>
          <a:xfrm>
            <a:off x="311100" y="4896872"/>
            <a:ext cx="8345749" cy="156966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Each protein is coded for by a section of DNA called a gene. </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A gene is a piece of DNA that provides instructions for a cell to make a certain protein.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1"/>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Introduction to Protein Synthesis</a:t>
            </a:r>
            <a:br>
              <a:rPr lang="en-US">
                <a:solidFill>
                  <a:srgbClr val="F2A900"/>
                </a:solidFill>
                <a:latin typeface="Cambria"/>
                <a:ea typeface="Cambria"/>
                <a:cs typeface="Cambria"/>
                <a:sym typeface="Cambria"/>
              </a:rPr>
            </a:br>
            <a:endParaRPr>
              <a:solidFill>
                <a:srgbClr val="F2A900"/>
              </a:solidFill>
              <a:latin typeface="Cambria"/>
              <a:ea typeface="Cambria"/>
              <a:cs typeface="Cambria"/>
              <a:sym typeface="Cambria"/>
            </a:endParaRPr>
          </a:p>
        </p:txBody>
      </p:sp>
      <p:sp>
        <p:nvSpPr>
          <p:cNvPr id="72" name="Google Shape;72;p1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73" name="Google Shape;73;p11"/>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2</a:t>
            </a:r>
            <a:endParaRPr/>
          </a:p>
        </p:txBody>
      </p:sp>
      <p:sp>
        <p:nvSpPr>
          <p:cNvPr id="74" name="Google Shape;74;p11"/>
          <p:cNvSpPr txBox="1"/>
          <p:nvPr/>
        </p:nvSpPr>
        <p:spPr>
          <a:xfrm>
            <a:off x="530250" y="2269671"/>
            <a:ext cx="8083500"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EXPLAIN </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Create a flow chart to illustrate the flow of information in both protein synthesis and DNA replication</a:t>
            </a:r>
            <a:endParaRPr/>
          </a:p>
        </p:txBody>
      </p:sp>
      <p:pic>
        <p:nvPicPr>
          <p:cNvPr descr="A drawing of a person&#10;&#10;Description automatically generated" id="75" name="Google Shape;75;p11"/>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2"/>
          <p:cNvSpPr txBox="1"/>
          <p:nvPr>
            <p:ph type="title"/>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Introduction to Protein Synthesis</a:t>
            </a:r>
            <a:br>
              <a:rPr lang="en-US">
                <a:solidFill>
                  <a:srgbClr val="F2A900"/>
                </a:solidFill>
                <a:latin typeface="Cambria"/>
                <a:ea typeface="Cambria"/>
                <a:cs typeface="Cambria"/>
                <a:sym typeface="Cambria"/>
              </a:rPr>
            </a:br>
            <a:r>
              <a:rPr lang="en-US">
                <a:solidFill>
                  <a:srgbClr val="00B050"/>
                </a:solidFill>
                <a:latin typeface="Cambria"/>
                <a:ea typeface="Cambria"/>
                <a:cs typeface="Cambria"/>
                <a:sym typeface="Cambria"/>
              </a:rPr>
              <a:t>Structure and Function</a:t>
            </a:r>
            <a:endParaRPr/>
          </a:p>
        </p:txBody>
      </p:sp>
      <p:sp>
        <p:nvSpPr>
          <p:cNvPr id="83" name="Google Shape;83;p1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84" name="Google Shape;84;p12"/>
          <p:cNvSpPr/>
          <p:nvPr/>
        </p:nvSpPr>
        <p:spPr>
          <a:xfrm>
            <a:off x="4190761" y="2454507"/>
            <a:ext cx="4665372"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85" name="Google Shape;85;p12"/>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2</a:t>
            </a:r>
            <a:endParaRPr/>
          </a:p>
        </p:txBody>
      </p:sp>
      <p:pic>
        <p:nvPicPr>
          <p:cNvPr id="86" name="Google Shape;86;p12"/>
          <p:cNvPicPr preferRelativeResize="0"/>
          <p:nvPr/>
        </p:nvPicPr>
        <p:blipFill rotWithShape="1">
          <a:blip r:embed="rId3">
            <a:alphaModFix/>
          </a:blip>
          <a:srcRect b="0" l="0" r="0" t="0"/>
          <a:stretch/>
        </p:blipFill>
        <p:spPr>
          <a:xfrm>
            <a:off x="0" y="1556755"/>
            <a:ext cx="5377935" cy="4031483"/>
          </a:xfrm>
          <a:prstGeom prst="rect">
            <a:avLst/>
          </a:prstGeom>
          <a:noFill/>
          <a:ln>
            <a:noFill/>
          </a:ln>
        </p:spPr>
      </p:pic>
      <p:sp>
        <p:nvSpPr>
          <p:cNvPr id="87" name="Google Shape;87;p12"/>
          <p:cNvSpPr txBox="1"/>
          <p:nvPr/>
        </p:nvSpPr>
        <p:spPr>
          <a:xfrm>
            <a:off x="5176157" y="1802586"/>
            <a:ext cx="3679976"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The structure of maltase allows it to catalyze particular chemical reactions properly.</a:t>
            </a:r>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What types of questions could a researcher investigate using a computer model of the enzyme maltase?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3"/>
          <p:cNvSpPr txBox="1"/>
          <p:nvPr>
            <p:ph type="title"/>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Introduction to Protein Synthesis</a:t>
            </a:r>
            <a:br>
              <a:rPr lang="en-US">
                <a:solidFill>
                  <a:srgbClr val="F2A900"/>
                </a:solidFill>
                <a:latin typeface="Cambria"/>
                <a:ea typeface="Cambria"/>
                <a:cs typeface="Cambria"/>
                <a:sym typeface="Cambria"/>
              </a:rPr>
            </a:br>
            <a:endParaRPr>
              <a:solidFill>
                <a:srgbClr val="00B050"/>
              </a:solidFill>
              <a:latin typeface="Cambria"/>
              <a:ea typeface="Cambria"/>
              <a:cs typeface="Cambria"/>
              <a:sym typeface="Cambria"/>
            </a:endParaRPr>
          </a:p>
        </p:txBody>
      </p:sp>
      <p:sp>
        <p:nvSpPr>
          <p:cNvPr id="95" name="Google Shape;95;p13"/>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96" name="Google Shape;96;p13"/>
          <p:cNvSpPr/>
          <p:nvPr/>
        </p:nvSpPr>
        <p:spPr>
          <a:xfrm>
            <a:off x="4190761" y="2454507"/>
            <a:ext cx="4665372"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97" name="Google Shape;97;p13"/>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2</a:t>
            </a:r>
            <a:endParaRPr/>
          </a:p>
        </p:txBody>
      </p:sp>
      <p:pic>
        <p:nvPicPr>
          <p:cNvPr id="98" name="Google Shape;98;p13"/>
          <p:cNvPicPr preferRelativeResize="0"/>
          <p:nvPr/>
        </p:nvPicPr>
        <p:blipFill rotWithShape="1">
          <a:blip r:embed="rId3">
            <a:alphaModFix/>
          </a:blip>
          <a:srcRect b="0" l="0" r="0" t="0"/>
          <a:stretch/>
        </p:blipFill>
        <p:spPr>
          <a:xfrm>
            <a:off x="164409" y="1047143"/>
            <a:ext cx="5118139" cy="5282999"/>
          </a:xfrm>
          <a:prstGeom prst="rect">
            <a:avLst/>
          </a:prstGeom>
          <a:noFill/>
          <a:ln>
            <a:noFill/>
          </a:ln>
        </p:spPr>
      </p:pic>
      <p:sp>
        <p:nvSpPr>
          <p:cNvPr id="99" name="Google Shape;99;p13"/>
          <p:cNvSpPr txBox="1"/>
          <p:nvPr/>
        </p:nvSpPr>
        <p:spPr>
          <a:xfrm>
            <a:off x="5282548" y="1588014"/>
            <a:ext cx="3445530" cy="4154984"/>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RNA acts as a messenger, carrying information from DNA in the nucleus to protein synthesis in the cytoplasm. </a:t>
            </a:r>
            <a:br>
              <a:rPr lang="en-US" sz="2400">
                <a:solidFill>
                  <a:schemeClr val="dk1"/>
                </a:solidFill>
                <a:latin typeface="Cambria"/>
                <a:ea typeface="Cambria"/>
                <a:cs typeface="Cambria"/>
                <a:sym typeface="Cambria"/>
              </a:rPr>
            </a:br>
            <a:endParaRPr sz="24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RNA is like a temporary copy of DNA that is used and then broken down.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4"/>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Introduction to Protein Synthesis</a:t>
            </a:r>
            <a:br>
              <a:rPr lang="en-US">
                <a:solidFill>
                  <a:srgbClr val="F2A900"/>
                </a:solidFill>
                <a:latin typeface="Cambria"/>
                <a:ea typeface="Cambria"/>
                <a:cs typeface="Cambria"/>
                <a:sym typeface="Cambria"/>
              </a:rPr>
            </a:br>
            <a:endParaRPr>
              <a:solidFill>
                <a:srgbClr val="F2A900"/>
              </a:solidFill>
              <a:latin typeface="Cambria"/>
              <a:ea typeface="Cambria"/>
              <a:cs typeface="Cambria"/>
              <a:sym typeface="Cambria"/>
            </a:endParaRPr>
          </a:p>
        </p:txBody>
      </p:sp>
      <p:sp>
        <p:nvSpPr>
          <p:cNvPr id="107" name="Google Shape;107;p1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08" name="Google Shape;108;p14"/>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2</a:t>
            </a:r>
            <a:endParaRPr/>
          </a:p>
        </p:txBody>
      </p:sp>
      <p:sp>
        <p:nvSpPr>
          <p:cNvPr id="109" name="Google Shape;109;p14"/>
          <p:cNvSpPr txBox="1"/>
          <p:nvPr/>
        </p:nvSpPr>
        <p:spPr>
          <a:xfrm>
            <a:off x="669472" y="2481943"/>
            <a:ext cx="8083500"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cap="none">
                <a:solidFill>
                  <a:schemeClr val="dk1"/>
                </a:solidFill>
                <a:latin typeface="Cambria"/>
                <a:ea typeface="Cambria"/>
                <a:cs typeface="Cambria"/>
                <a:sym typeface="Cambria"/>
              </a:rPr>
              <a:t>EXPLAIN</a:t>
            </a:r>
            <a:br>
              <a:rPr b="1" lang="en-US" sz="2400" cap="none">
                <a:solidFill>
                  <a:schemeClr val="dk1"/>
                </a:solidFill>
                <a:latin typeface="Cambria"/>
                <a:ea typeface="Cambria"/>
                <a:cs typeface="Cambria"/>
                <a:sym typeface="Cambria"/>
              </a:rPr>
            </a:br>
            <a:br>
              <a:rPr b="1" lang="en-US" sz="2400" cap="none">
                <a:solidFill>
                  <a:schemeClr val="dk1"/>
                </a:solidFill>
                <a:latin typeface="Cambria"/>
                <a:ea typeface="Cambria"/>
                <a:cs typeface="Cambria"/>
                <a:sym typeface="Cambria"/>
              </a:rPr>
            </a:br>
            <a:endParaRPr b="1" sz="2400" cap="none">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Why is RNA necessary for protein synthesis?</a:t>
            </a:r>
            <a:endParaRPr/>
          </a:p>
        </p:txBody>
      </p:sp>
      <p:pic>
        <p:nvPicPr>
          <p:cNvPr descr="A drawing of a person&#10;&#10;Description automatically generated" id="110" name="Google Shape;110;p14"/>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5"/>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Transcription </a:t>
            </a:r>
            <a:endParaRPr/>
          </a:p>
        </p:txBody>
      </p:sp>
      <p:sp>
        <p:nvSpPr>
          <p:cNvPr id="118" name="Google Shape;118;p15"/>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19" name="Google Shape;119;p15"/>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2</a:t>
            </a:r>
            <a:endParaRPr/>
          </a:p>
        </p:txBody>
      </p:sp>
      <p:sp>
        <p:nvSpPr>
          <p:cNvPr id="120" name="Google Shape;120;p15"/>
          <p:cNvSpPr txBox="1"/>
          <p:nvPr/>
        </p:nvSpPr>
        <p:spPr>
          <a:xfrm>
            <a:off x="457200" y="1068028"/>
            <a:ext cx="8229600" cy="156990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This first stage of protein synthesis is called transcription. </a:t>
            </a:r>
            <a:br>
              <a:rPr lang="en-US" sz="2400">
                <a:solidFill>
                  <a:schemeClr val="dk1"/>
                </a:solidFill>
                <a:latin typeface="Cambria"/>
                <a:ea typeface="Cambria"/>
                <a:cs typeface="Cambria"/>
                <a:sym typeface="Cambria"/>
              </a:rPr>
            </a:br>
            <a:endParaRPr sz="24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400"/>
              <a:buFont typeface="Arial"/>
              <a:buChar char="•"/>
            </a:pPr>
            <a:r>
              <a:rPr b="1" lang="en-US" sz="2400" u="sng">
                <a:solidFill>
                  <a:schemeClr val="dk2"/>
                </a:solidFill>
                <a:latin typeface="Cambria"/>
                <a:ea typeface="Cambria"/>
                <a:cs typeface="Cambria"/>
                <a:sym typeface="Cambria"/>
                <a:hlinkClick r:id="rId3">
                  <a:extLst>
                    <a:ext uri="{A12FA001-AC4F-418D-AE19-62706E023703}">
                      <ahyp:hlinkClr val="tx"/>
                    </a:ext>
                  </a:extLst>
                </a:hlinkClick>
              </a:rPr>
              <a:t>Transcription</a:t>
            </a:r>
            <a:r>
              <a:rPr lang="en-US" sz="2400">
                <a:solidFill>
                  <a:schemeClr val="dk1"/>
                </a:solidFill>
                <a:latin typeface="Cambria"/>
                <a:ea typeface="Cambria"/>
                <a:cs typeface="Cambria"/>
                <a:sym typeface="Cambria"/>
              </a:rPr>
              <a:t> is the process of copying a sequence of DNA to produce a complementary strand of RNA. </a:t>
            </a:r>
            <a:endParaRPr/>
          </a:p>
        </p:txBody>
      </p:sp>
      <p:pic>
        <p:nvPicPr>
          <p:cNvPr id="121" name="Google Shape;121;p15"/>
          <p:cNvPicPr preferRelativeResize="0"/>
          <p:nvPr/>
        </p:nvPicPr>
        <p:blipFill rotWithShape="1">
          <a:blip r:embed="rId4">
            <a:alphaModFix/>
          </a:blip>
          <a:srcRect b="0" l="0" r="0" t="0"/>
          <a:stretch/>
        </p:blipFill>
        <p:spPr>
          <a:xfrm>
            <a:off x="1016000" y="2842656"/>
            <a:ext cx="7112000" cy="33274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6"/>
          <p:cNvSpPr txBox="1"/>
          <p:nvPr>
            <p:ph type="title"/>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Transcription</a:t>
            </a:r>
            <a:br>
              <a:rPr lang="en-US">
                <a:solidFill>
                  <a:srgbClr val="F2A900"/>
                </a:solidFill>
                <a:latin typeface="Cambria"/>
                <a:ea typeface="Cambria"/>
                <a:cs typeface="Cambria"/>
                <a:sym typeface="Cambria"/>
              </a:rPr>
            </a:br>
            <a:r>
              <a:rPr lang="en-US">
                <a:solidFill>
                  <a:srgbClr val="00B050"/>
                </a:solidFill>
                <a:latin typeface="Cambria"/>
                <a:ea typeface="Cambria"/>
                <a:cs typeface="Cambria"/>
                <a:sym typeface="Cambria"/>
              </a:rPr>
              <a:t>Structure and Function</a:t>
            </a:r>
            <a:endParaRPr/>
          </a:p>
        </p:txBody>
      </p:sp>
      <p:sp>
        <p:nvSpPr>
          <p:cNvPr id="129" name="Google Shape;129;p16"/>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30" name="Google Shape;130;p16"/>
          <p:cNvSpPr/>
          <p:nvPr/>
        </p:nvSpPr>
        <p:spPr>
          <a:xfrm>
            <a:off x="4190761" y="2454507"/>
            <a:ext cx="4665372"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131" name="Google Shape;131;p16"/>
          <p:cNvSpPr/>
          <p:nvPr/>
        </p:nvSpPr>
        <p:spPr>
          <a:xfrm>
            <a:off x="542311" y="2079635"/>
            <a:ext cx="8099542" cy="30623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Cambria"/>
                <a:ea typeface="Cambria"/>
                <a:cs typeface="Cambria"/>
                <a:sym typeface="Cambria"/>
              </a:rPr>
              <a:t>During transcription, the structure of the DNA molecule determines the structure of the RNA molecule. </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EXPLAIN</a:t>
            </a:r>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Explain how the structure of the DNA molecule determines the structure of an RNA molecule during transcription.</a:t>
            </a:r>
            <a:endParaRPr b="1" sz="2500">
              <a:solidFill>
                <a:schemeClr val="dk1"/>
              </a:solidFill>
              <a:latin typeface="Cambria"/>
              <a:ea typeface="Cambria"/>
              <a:cs typeface="Cambria"/>
              <a:sym typeface="Cambria"/>
            </a:endParaRPr>
          </a:p>
        </p:txBody>
      </p:sp>
      <p:sp>
        <p:nvSpPr>
          <p:cNvPr id="132" name="Google Shape;132;p16"/>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3</a:t>
            </a:r>
            <a:endParaRPr/>
          </a:p>
        </p:txBody>
      </p:sp>
      <p:pic>
        <p:nvPicPr>
          <p:cNvPr descr="A drawing of a person&#10;&#10;Description automatically generated" id="133" name="Google Shape;133;p16"/>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7"/>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Transcription </a:t>
            </a:r>
            <a:endParaRPr/>
          </a:p>
        </p:txBody>
      </p:sp>
      <p:sp>
        <p:nvSpPr>
          <p:cNvPr id="141" name="Google Shape;141;p17"/>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42" name="Google Shape;142;p17"/>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2</a:t>
            </a:r>
            <a:endParaRPr/>
          </a:p>
        </p:txBody>
      </p:sp>
      <p:sp>
        <p:nvSpPr>
          <p:cNvPr id="143" name="Google Shape;143;p17"/>
          <p:cNvSpPr/>
          <p:nvPr/>
        </p:nvSpPr>
        <p:spPr>
          <a:xfrm>
            <a:off x="571500" y="1351508"/>
            <a:ext cx="7969200" cy="3416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cap="none">
                <a:solidFill>
                  <a:srgbClr val="393B3C"/>
                </a:solidFill>
                <a:latin typeface="Cambria"/>
                <a:ea typeface="Cambria"/>
                <a:cs typeface="Cambria"/>
                <a:sym typeface="Cambria"/>
              </a:rPr>
              <a:t>EXPLAIN</a:t>
            </a:r>
            <a:br>
              <a:rPr b="1" lang="en-US" sz="2400" cap="none">
                <a:solidFill>
                  <a:srgbClr val="393B3C"/>
                </a:solidFill>
                <a:latin typeface="Cambria"/>
                <a:ea typeface="Cambria"/>
                <a:cs typeface="Cambria"/>
                <a:sym typeface="Cambria"/>
              </a:rPr>
            </a:br>
            <a:br>
              <a:rPr b="1" lang="en-US" sz="2400" cap="none">
                <a:solidFill>
                  <a:srgbClr val="393B3C"/>
                </a:solidFill>
                <a:latin typeface="Cambria"/>
                <a:ea typeface="Cambria"/>
                <a:cs typeface="Cambria"/>
                <a:sym typeface="Cambria"/>
              </a:rPr>
            </a:br>
            <a:endParaRPr b="1" sz="2400" cap="none">
              <a:solidFill>
                <a:srgbClr val="393B3C"/>
              </a:solidFill>
              <a:latin typeface="Cambria"/>
              <a:ea typeface="Cambria"/>
              <a:cs typeface="Cambria"/>
              <a:sym typeface="Cambria"/>
            </a:endParaRPr>
          </a:p>
          <a:p>
            <a:pPr indent="0" lvl="0" marL="0" marR="0" rtl="0" algn="l">
              <a:spcBef>
                <a:spcPts val="0"/>
              </a:spcBef>
              <a:spcAft>
                <a:spcPts val="0"/>
              </a:spcAft>
              <a:buNone/>
            </a:pPr>
            <a:r>
              <a:rPr b="1" lang="en-US" sz="2400">
                <a:solidFill>
                  <a:srgbClr val="393B3C"/>
                </a:solidFill>
                <a:latin typeface="Cambria"/>
                <a:ea typeface="Cambria"/>
                <a:cs typeface="Cambria"/>
                <a:sym typeface="Cambria"/>
              </a:rPr>
              <a:t>Transcription and DNA replication are often compared to one another, because they have many similarities. However, they do not have the same functions. Make a graphic organizer to compare and contrast DNA replication and transcription in terms of their functions, inputs, and final products.</a:t>
            </a:r>
            <a:endParaRPr b="1" i="0" sz="2400">
              <a:solidFill>
                <a:srgbClr val="393B3C"/>
              </a:solidFill>
              <a:latin typeface="Cambria"/>
              <a:ea typeface="Cambria"/>
              <a:cs typeface="Cambria"/>
              <a:sym typeface="Cambria"/>
            </a:endParaRPr>
          </a:p>
        </p:txBody>
      </p:sp>
      <p:pic>
        <p:nvPicPr>
          <p:cNvPr descr="A drawing of a person&#10;&#10;Description automatically generated" id="144" name="Google Shape;144;p17"/>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8"/>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Translation</a:t>
            </a:r>
            <a:endParaRPr/>
          </a:p>
        </p:txBody>
      </p:sp>
      <p:sp>
        <p:nvSpPr>
          <p:cNvPr id="152" name="Google Shape;152;p18"/>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53" name="Google Shape;153;p18"/>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2</a:t>
            </a:r>
            <a:endParaRPr/>
          </a:p>
        </p:txBody>
      </p:sp>
      <p:sp>
        <p:nvSpPr>
          <p:cNvPr id="154" name="Google Shape;154;p18"/>
          <p:cNvSpPr txBox="1"/>
          <p:nvPr/>
        </p:nvSpPr>
        <p:spPr>
          <a:xfrm>
            <a:off x="4865914" y="428175"/>
            <a:ext cx="3968700" cy="600300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Once the RNA is processed and leaves the nucleus through pores, it enters the cytoplasm. </a:t>
            </a:r>
            <a:br>
              <a:rPr lang="en-US" sz="2400">
                <a:solidFill>
                  <a:schemeClr val="dk1"/>
                </a:solidFill>
                <a:latin typeface="Cambria"/>
                <a:ea typeface="Cambria"/>
                <a:cs typeface="Cambria"/>
                <a:sym typeface="Cambria"/>
              </a:rPr>
            </a:br>
            <a:br>
              <a:rPr lang="en-US" sz="2400">
                <a:solidFill>
                  <a:schemeClr val="dk1"/>
                </a:solidFill>
                <a:latin typeface="Cambria"/>
                <a:ea typeface="Cambria"/>
                <a:cs typeface="Cambria"/>
                <a:sym typeface="Cambria"/>
              </a:rPr>
            </a:br>
            <a:r>
              <a:rPr lang="en-US" sz="2400">
                <a:solidFill>
                  <a:schemeClr val="dk1"/>
                </a:solidFill>
                <a:latin typeface="Cambria"/>
                <a:ea typeface="Cambria"/>
                <a:cs typeface="Cambria"/>
                <a:sym typeface="Cambria"/>
              </a:rPr>
              <a:t>This is where the process of </a:t>
            </a:r>
            <a:r>
              <a:rPr b="1" lang="en-US" sz="2400" u="sng">
                <a:solidFill>
                  <a:schemeClr val="dk2"/>
                </a:solidFill>
                <a:latin typeface="Cambria"/>
                <a:ea typeface="Cambria"/>
                <a:cs typeface="Cambria"/>
                <a:sym typeface="Cambria"/>
                <a:hlinkClick r:id="rId3">
                  <a:extLst>
                    <a:ext uri="{A12FA001-AC4F-418D-AE19-62706E023703}">
                      <ahyp:hlinkClr val="tx"/>
                    </a:ext>
                  </a:extLst>
                </a:hlinkClick>
              </a:rPr>
              <a:t>translation</a:t>
            </a:r>
            <a:r>
              <a:rPr lang="en-US" sz="2400">
                <a:solidFill>
                  <a:schemeClr val="dk1"/>
                </a:solidFill>
                <a:latin typeface="Cambria"/>
                <a:ea typeface="Cambria"/>
                <a:cs typeface="Cambria"/>
                <a:sym typeface="Cambria"/>
              </a:rPr>
              <a:t> decodes the mRNA to produce a protein.</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Once it is in the cytoplasm, the mRNA binds to organelles called </a:t>
            </a:r>
            <a:r>
              <a:rPr b="1" lang="en-US" sz="2400" u="sng">
                <a:solidFill>
                  <a:schemeClr val="dk2"/>
                </a:solidFill>
                <a:latin typeface="Cambria"/>
                <a:ea typeface="Cambria"/>
                <a:cs typeface="Cambria"/>
                <a:sym typeface="Cambria"/>
                <a:hlinkClick r:id="rId4">
                  <a:extLst>
                    <a:ext uri="{A12FA001-AC4F-418D-AE19-62706E023703}">
                      <ahyp:hlinkClr val="tx"/>
                    </a:ext>
                  </a:extLst>
                </a:hlinkClick>
              </a:rPr>
              <a:t>ribosomes</a:t>
            </a:r>
            <a:r>
              <a:rPr lang="en-US" sz="2400">
                <a:solidFill>
                  <a:schemeClr val="dk1"/>
                </a:solidFill>
                <a:latin typeface="Cambria"/>
                <a:ea typeface="Cambria"/>
                <a:cs typeface="Cambria"/>
                <a:sym typeface="Cambria"/>
              </a:rPr>
              <a:t>, which are made of rRNA and proteins.</a:t>
            </a:r>
            <a:endParaRPr/>
          </a:p>
        </p:txBody>
      </p:sp>
      <p:pic>
        <p:nvPicPr>
          <p:cNvPr id="155" name="Google Shape;155;p18"/>
          <p:cNvPicPr preferRelativeResize="0"/>
          <p:nvPr/>
        </p:nvPicPr>
        <p:blipFill rotWithShape="1">
          <a:blip r:embed="rId5">
            <a:alphaModFix/>
          </a:blip>
          <a:srcRect b="0" l="0" r="0" t="0"/>
          <a:stretch/>
        </p:blipFill>
        <p:spPr>
          <a:xfrm>
            <a:off x="-15471" y="1494899"/>
            <a:ext cx="4881385" cy="386819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Translation</a:t>
            </a:r>
            <a:endParaRPr/>
          </a:p>
        </p:txBody>
      </p:sp>
      <p:sp>
        <p:nvSpPr>
          <p:cNvPr id="163" name="Google Shape;163;p19"/>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64" name="Google Shape;164;p19"/>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2</a:t>
            </a:r>
            <a:endParaRPr/>
          </a:p>
        </p:txBody>
      </p:sp>
      <p:sp>
        <p:nvSpPr>
          <p:cNvPr id="165" name="Google Shape;165;p19"/>
          <p:cNvSpPr/>
          <p:nvPr/>
        </p:nvSpPr>
        <p:spPr>
          <a:xfrm>
            <a:off x="685799" y="2644170"/>
            <a:ext cx="7641771" cy="15696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cap="none">
                <a:solidFill>
                  <a:srgbClr val="393B3C"/>
                </a:solidFill>
                <a:latin typeface="Cambria"/>
                <a:ea typeface="Cambria"/>
                <a:cs typeface="Cambria"/>
                <a:sym typeface="Cambria"/>
              </a:rPr>
              <a:t>MODEL</a:t>
            </a:r>
            <a:br>
              <a:rPr b="1" lang="en-US" sz="2400" cap="none">
                <a:solidFill>
                  <a:srgbClr val="393B3C"/>
                </a:solidFill>
                <a:latin typeface="Cambria"/>
                <a:ea typeface="Cambria"/>
                <a:cs typeface="Cambria"/>
                <a:sym typeface="Cambria"/>
              </a:rPr>
            </a:br>
            <a:endParaRPr b="1" sz="2400" cap="none">
              <a:solidFill>
                <a:srgbClr val="393B3C"/>
              </a:solidFill>
              <a:latin typeface="Cambria"/>
              <a:ea typeface="Cambria"/>
              <a:cs typeface="Cambria"/>
              <a:sym typeface="Cambria"/>
            </a:endParaRPr>
          </a:p>
          <a:p>
            <a:pPr indent="0" lvl="0" marL="0" marR="0" rtl="0" algn="l">
              <a:spcBef>
                <a:spcPts val="0"/>
              </a:spcBef>
              <a:spcAft>
                <a:spcPts val="0"/>
              </a:spcAft>
              <a:buNone/>
            </a:pPr>
            <a:r>
              <a:rPr b="1" lang="en-US" sz="2400">
                <a:solidFill>
                  <a:srgbClr val="393B3C"/>
                </a:solidFill>
                <a:latin typeface="Cambria"/>
                <a:ea typeface="Cambria"/>
                <a:cs typeface="Cambria"/>
                <a:sym typeface="Cambria"/>
              </a:rPr>
              <a:t>Draw a flow chart to show the flow of RNA and proteins through the cell during protein synthesis.</a:t>
            </a:r>
            <a:endParaRPr b="1" i="0" sz="2400">
              <a:solidFill>
                <a:srgbClr val="393B3C"/>
              </a:solidFill>
              <a:latin typeface="Cambria"/>
              <a:ea typeface="Cambria"/>
              <a:cs typeface="Cambria"/>
              <a:sym typeface="Cambria"/>
            </a:endParaRPr>
          </a:p>
        </p:txBody>
      </p:sp>
      <p:pic>
        <p:nvPicPr>
          <p:cNvPr descr="A drawing of a person&#10;&#10;Description automatically generated" id="166" name="Google Shape;166;p19"/>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0"/>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Translation</a:t>
            </a:r>
            <a:endParaRPr/>
          </a:p>
        </p:txBody>
      </p:sp>
      <p:sp>
        <p:nvSpPr>
          <p:cNvPr id="174" name="Google Shape;174;p20"/>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75" name="Google Shape;175;p20"/>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2</a:t>
            </a:r>
            <a:endParaRPr/>
          </a:p>
        </p:txBody>
      </p:sp>
      <p:pic>
        <p:nvPicPr>
          <p:cNvPr id="176" name="Google Shape;176;p20"/>
          <p:cNvPicPr preferRelativeResize="0"/>
          <p:nvPr/>
        </p:nvPicPr>
        <p:blipFill rotWithShape="1">
          <a:blip r:embed="rId3">
            <a:alphaModFix/>
          </a:blip>
          <a:srcRect b="0" l="0" r="0" t="0"/>
          <a:stretch/>
        </p:blipFill>
        <p:spPr>
          <a:xfrm>
            <a:off x="163285" y="1530976"/>
            <a:ext cx="5639320" cy="4227426"/>
          </a:xfrm>
          <a:prstGeom prst="rect">
            <a:avLst/>
          </a:prstGeom>
          <a:noFill/>
          <a:ln>
            <a:noFill/>
          </a:ln>
        </p:spPr>
      </p:pic>
      <p:sp>
        <p:nvSpPr>
          <p:cNvPr id="177" name="Google Shape;177;p20"/>
          <p:cNvSpPr/>
          <p:nvPr/>
        </p:nvSpPr>
        <p:spPr>
          <a:xfrm>
            <a:off x="5769948" y="1567197"/>
            <a:ext cx="3374052" cy="4154984"/>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93B3C"/>
              </a:buClr>
              <a:buSzPts val="2400"/>
              <a:buFont typeface="Arial"/>
              <a:buChar char="•"/>
            </a:pPr>
            <a:r>
              <a:rPr lang="en-US" sz="2400">
                <a:solidFill>
                  <a:srgbClr val="393B3C"/>
                </a:solidFill>
                <a:latin typeface="Cambria"/>
                <a:ea typeface="Cambria"/>
                <a:cs typeface="Cambria"/>
                <a:sym typeface="Cambria"/>
              </a:rPr>
              <a:t> A </a:t>
            </a:r>
            <a:r>
              <a:rPr b="1" lang="en-US" sz="2400" u="sng">
                <a:solidFill>
                  <a:schemeClr val="dk2"/>
                </a:solidFill>
                <a:latin typeface="Cambria"/>
                <a:ea typeface="Cambria"/>
                <a:cs typeface="Cambria"/>
                <a:sym typeface="Cambria"/>
                <a:hlinkClick r:id="rId4">
                  <a:extLst>
                    <a:ext uri="{A12FA001-AC4F-418D-AE19-62706E023703}">
                      <ahyp:hlinkClr val="tx"/>
                    </a:ext>
                  </a:extLst>
                </a:hlinkClick>
              </a:rPr>
              <a:t>codon</a:t>
            </a:r>
            <a:r>
              <a:rPr lang="en-US" sz="2400">
                <a:solidFill>
                  <a:srgbClr val="393B3C"/>
                </a:solidFill>
                <a:latin typeface="Cambria"/>
                <a:ea typeface="Cambria"/>
                <a:cs typeface="Cambria"/>
                <a:sym typeface="Cambria"/>
              </a:rPr>
              <a:t> is a three-nucleotide mRNA sequence that codes for an amino acid. </a:t>
            </a:r>
            <a:br>
              <a:rPr lang="en-US" sz="2400">
                <a:solidFill>
                  <a:srgbClr val="393B3C"/>
                </a:solidFill>
                <a:latin typeface="Cambria"/>
                <a:ea typeface="Cambria"/>
                <a:cs typeface="Cambria"/>
                <a:sym typeface="Cambria"/>
              </a:rPr>
            </a:br>
            <a:endParaRPr sz="2400">
              <a:solidFill>
                <a:srgbClr val="393B3C"/>
              </a:solidFill>
              <a:latin typeface="Cambria"/>
              <a:ea typeface="Cambria"/>
              <a:cs typeface="Cambria"/>
              <a:sym typeface="Cambria"/>
            </a:endParaRPr>
          </a:p>
          <a:p>
            <a:pPr indent="-342900" lvl="0" marL="342900" marR="0" rtl="0" algn="l">
              <a:spcBef>
                <a:spcPts val="0"/>
              </a:spcBef>
              <a:spcAft>
                <a:spcPts val="0"/>
              </a:spcAft>
              <a:buClr>
                <a:srgbClr val="393B3C"/>
              </a:buClr>
              <a:buSzPts val="2400"/>
              <a:buFont typeface="Arial"/>
              <a:buChar char="•"/>
            </a:pPr>
            <a:r>
              <a:rPr lang="en-US" sz="2400">
                <a:solidFill>
                  <a:srgbClr val="393B3C"/>
                </a:solidFill>
                <a:latin typeface="Cambria"/>
                <a:ea typeface="Cambria"/>
                <a:cs typeface="Cambria"/>
                <a:sym typeface="Cambria"/>
              </a:rPr>
              <a:t>Amino acids are the subunits, or monomers, that make up polypeptides. One or more polypeptides make up a protein.</a:t>
            </a:r>
            <a:endParaRPr sz="24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1"/>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Translation</a:t>
            </a:r>
            <a:endParaRPr/>
          </a:p>
        </p:txBody>
      </p:sp>
      <p:sp>
        <p:nvSpPr>
          <p:cNvPr id="185" name="Google Shape;185;p2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86" name="Google Shape;186;p21"/>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2</a:t>
            </a:r>
            <a:endParaRPr/>
          </a:p>
        </p:txBody>
      </p:sp>
      <p:pic>
        <p:nvPicPr>
          <p:cNvPr id="187" name="Google Shape;187;p21"/>
          <p:cNvPicPr preferRelativeResize="0"/>
          <p:nvPr/>
        </p:nvPicPr>
        <p:blipFill rotWithShape="1">
          <a:blip r:embed="rId3">
            <a:alphaModFix/>
          </a:blip>
          <a:srcRect b="0" l="0" r="0" t="0"/>
          <a:stretch/>
        </p:blipFill>
        <p:spPr>
          <a:xfrm>
            <a:off x="883620" y="979637"/>
            <a:ext cx="7084559" cy="531082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2"/>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Translation</a:t>
            </a:r>
            <a:br>
              <a:rPr lang="en-US">
                <a:solidFill>
                  <a:srgbClr val="F2A900"/>
                </a:solidFill>
                <a:latin typeface="Cambria"/>
                <a:ea typeface="Cambria"/>
                <a:cs typeface="Cambria"/>
                <a:sym typeface="Cambria"/>
              </a:rPr>
            </a:br>
            <a:r>
              <a:rPr lang="en-US">
                <a:solidFill>
                  <a:srgbClr val="0070C0"/>
                </a:solidFill>
                <a:latin typeface="Cambria"/>
                <a:ea typeface="Cambria"/>
                <a:cs typeface="Cambria"/>
                <a:sym typeface="Cambria"/>
              </a:rPr>
              <a:t>Hands-On Lab: Modeling Protein Synthesis and Mutations</a:t>
            </a:r>
            <a:endParaRPr/>
          </a:p>
        </p:txBody>
      </p:sp>
      <p:sp>
        <p:nvSpPr>
          <p:cNvPr id="195" name="Google Shape;195;p2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96" name="Google Shape;196;p22"/>
          <p:cNvSpPr/>
          <p:nvPr/>
        </p:nvSpPr>
        <p:spPr>
          <a:xfrm>
            <a:off x="457200" y="1881365"/>
            <a:ext cx="8429105" cy="861774"/>
          </a:xfrm>
          <a:prstGeom prst="rect">
            <a:avLst/>
          </a:prstGeom>
          <a:noFill/>
          <a:ln>
            <a:noFill/>
          </a:ln>
        </p:spPr>
        <p:txBody>
          <a:bodyPr anchorCtr="0" anchor="t" bIns="45700" lIns="91425" spcFirstLastPara="1" rIns="91425" wrap="square" tIns="45700">
            <a:noAutofit/>
          </a:bodyPr>
          <a:lstStyle/>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p:txBody>
      </p:sp>
      <p:sp>
        <p:nvSpPr>
          <p:cNvPr id="197" name="Google Shape;197;p22"/>
          <p:cNvSpPr txBox="1"/>
          <p:nvPr/>
        </p:nvSpPr>
        <p:spPr>
          <a:xfrm>
            <a:off x="610540" y="2295429"/>
            <a:ext cx="7922919" cy="230832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ambria"/>
                <a:ea typeface="Cambria"/>
                <a:cs typeface="Cambria"/>
                <a:sym typeface="Cambria"/>
              </a:rPr>
              <a:t>Model transcription and translation by analyzing a DNA sequence and writing the corresponding mRNA codons and amino acid sequence. Then, build a model of the protein and fold it into its final shape. Finally, introduce a mutation and use your model to determine how the mutation affects the protein’s structure.</a:t>
            </a:r>
            <a:endParaRPr b="1" sz="2500">
              <a:solidFill>
                <a:schemeClr val="dk1"/>
              </a:solidFill>
              <a:latin typeface="Cambria"/>
              <a:ea typeface="Cambria"/>
              <a:cs typeface="Cambria"/>
              <a:sym typeface="Cambria"/>
            </a:endParaRPr>
          </a:p>
        </p:txBody>
      </p:sp>
      <p:pic>
        <p:nvPicPr>
          <p:cNvPr id="198" name="Google Shape;198;p22"/>
          <p:cNvPicPr preferRelativeResize="0"/>
          <p:nvPr/>
        </p:nvPicPr>
        <p:blipFill rotWithShape="1">
          <a:blip r:embed="rId3">
            <a:alphaModFix/>
          </a:blip>
          <a:srcRect b="0" l="0" r="0" t="0"/>
          <a:stretch/>
        </p:blipFill>
        <p:spPr>
          <a:xfrm>
            <a:off x="2781300" y="5435225"/>
            <a:ext cx="3581400" cy="939800"/>
          </a:xfrm>
          <a:prstGeom prst="rect">
            <a:avLst/>
          </a:prstGeom>
          <a:noFill/>
          <a:ln>
            <a:noFill/>
          </a:ln>
        </p:spPr>
      </p:pic>
      <p:sp>
        <p:nvSpPr>
          <p:cNvPr id="199" name="Google Shape;199;p22"/>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2</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3"/>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Translation</a:t>
            </a:r>
            <a:endParaRPr>
              <a:solidFill>
                <a:srgbClr val="0070C0"/>
              </a:solidFill>
              <a:latin typeface="Cambria"/>
              <a:ea typeface="Cambria"/>
              <a:cs typeface="Cambria"/>
              <a:sym typeface="Cambria"/>
            </a:endParaRPr>
          </a:p>
        </p:txBody>
      </p:sp>
      <p:sp>
        <p:nvSpPr>
          <p:cNvPr id="207" name="Google Shape;207;p23"/>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08" name="Google Shape;208;p23"/>
          <p:cNvSpPr/>
          <p:nvPr/>
        </p:nvSpPr>
        <p:spPr>
          <a:xfrm>
            <a:off x="457200" y="1881365"/>
            <a:ext cx="8429105" cy="861774"/>
          </a:xfrm>
          <a:prstGeom prst="rect">
            <a:avLst/>
          </a:prstGeom>
          <a:noFill/>
          <a:ln>
            <a:noFill/>
          </a:ln>
        </p:spPr>
        <p:txBody>
          <a:bodyPr anchorCtr="0" anchor="t" bIns="45700" lIns="91425" spcFirstLastPara="1" rIns="91425" wrap="square" tIns="45700">
            <a:noAutofit/>
          </a:bodyPr>
          <a:lstStyle/>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p:txBody>
      </p:sp>
      <p:sp>
        <p:nvSpPr>
          <p:cNvPr id="209" name="Google Shape;209;p23"/>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2</a:t>
            </a:r>
            <a:endParaRPr/>
          </a:p>
        </p:txBody>
      </p:sp>
      <p:sp>
        <p:nvSpPr>
          <p:cNvPr id="210" name="Google Shape;210;p23"/>
          <p:cNvSpPr/>
          <p:nvPr/>
        </p:nvSpPr>
        <p:spPr>
          <a:xfrm>
            <a:off x="571500" y="2020979"/>
            <a:ext cx="8115300" cy="30469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cap="none">
                <a:solidFill>
                  <a:srgbClr val="393B3C"/>
                </a:solidFill>
                <a:latin typeface="Cambria"/>
                <a:ea typeface="Cambria"/>
                <a:cs typeface="Cambria"/>
                <a:sym typeface="Cambria"/>
              </a:rPr>
              <a:t>EXPLAIN</a:t>
            </a:r>
            <a:br>
              <a:rPr b="1" lang="en-US" sz="2400" cap="none">
                <a:solidFill>
                  <a:srgbClr val="393B3C"/>
                </a:solidFill>
                <a:latin typeface="Cambria"/>
                <a:ea typeface="Cambria"/>
                <a:cs typeface="Cambria"/>
                <a:sym typeface="Cambria"/>
              </a:rPr>
            </a:br>
            <a:endParaRPr b="1" sz="2400" cap="none">
              <a:solidFill>
                <a:srgbClr val="393B3C"/>
              </a:solidFill>
              <a:latin typeface="Cambria"/>
              <a:ea typeface="Cambria"/>
              <a:cs typeface="Cambria"/>
              <a:sym typeface="Cambria"/>
            </a:endParaRPr>
          </a:p>
          <a:p>
            <a:pPr indent="0" lvl="0" marL="0" marR="0" rtl="0" algn="l">
              <a:spcBef>
                <a:spcPts val="0"/>
              </a:spcBef>
              <a:spcAft>
                <a:spcPts val="0"/>
              </a:spcAft>
              <a:buNone/>
            </a:pPr>
            <a:r>
              <a:rPr b="1" lang="en-US" sz="2400">
                <a:solidFill>
                  <a:srgbClr val="393B3C"/>
                </a:solidFill>
                <a:latin typeface="Cambria"/>
                <a:ea typeface="Cambria"/>
                <a:cs typeface="Cambria"/>
                <a:sym typeface="Cambria"/>
              </a:rPr>
              <a:t>Summarize what you have learned so far to begin constructing an explanation for how the “language” of DNA is translated into the “language” of proteins. Construct a graphic organizer to compare the two phases of protein synthesis in terms of their function, where each process occurs in the cell, and final products.</a:t>
            </a:r>
            <a:endParaRPr b="1" i="0" sz="2400">
              <a:solidFill>
                <a:srgbClr val="393B3C"/>
              </a:solidFill>
              <a:latin typeface="Cambria"/>
              <a:ea typeface="Cambria"/>
              <a:cs typeface="Cambria"/>
              <a:sym typeface="Cambria"/>
            </a:endParaRPr>
          </a:p>
        </p:txBody>
      </p:sp>
      <p:pic>
        <p:nvPicPr>
          <p:cNvPr descr="A drawing of a person&#10;&#10;Description automatically generated" id="211" name="Google Shape;211;p23"/>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19" name="Google Shape;219;p24"/>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7030A0"/>
              </a:buClr>
              <a:buSzPts val="2800"/>
              <a:buFont typeface="Cambria"/>
              <a:buNone/>
            </a:pPr>
            <a:r>
              <a:rPr b="1" lang="en-US" sz="2800">
                <a:solidFill>
                  <a:srgbClr val="7030A0"/>
                </a:solidFill>
                <a:latin typeface="Cambria"/>
                <a:ea typeface="Cambria"/>
                <a:cs typeface="Cambria"/>
                <a:sym typeface="Cambria"/>
              </a:rPr>
              <a:t>Continue Your Exploration</a:t>
            </a:r>
            <a:endParaRPr/>
          </a:p>
        </p:txBody>
      </p:sp>
      <p:sp>
        <p:nvSpPr>
          <p:cNvPr id="220" name="Google Shape;220;p24"/>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221" name="Google Shape;221;p24"/>
          <p:cNvSpPr/>
          <p:nvPr/>
        </p:nvSpPr>
        <p:spPr>
          <a:xfrm>
            <a:off x="311099" y="2056552"/>
            <a:ext cx="8375701" cy="310854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300">
                <a:solidFill>
                  <a:schemeClr val="dk1"/>
                </a:solidFill>
                <a:latin typeface="Cambria"/>
                <a:ea typeface="Cambria"/>
                <a:cs typeface="Cambria"/>
                <a:sym typeface="Cambria"/>
              </a:rPr>
              <a:t>Choose one of the paths below to continue your exploration:</a:t>
            </a:r>
            <a:endParaRPr/>
          </a:p>
          <a:p>
            <a:pPr indent="0" lvl="0" marL="0" marR="0" rtl="0" algn="ctr">
              <a:spcBef>
                <a:spcPts val="0"/>
              </a:spcBef>
              <a:spcAft>
                <a:spcPts val="0"/>
              </a:spcAft>
              <a:buNone/>
            </a:pPr>
            <a:r>
              <a:t/>
            </a:r>
            <a:endParaRPr b="1" sz="2300">
              <a:solidFill>
                <a:schemeClr val="dk1"/>
              </a:solidFill>
              <a:latin typeface="Cambria"/>
              <a:ea typeface="Cambria"/>
              <a:cs typeface="Cambria"/>
              <a:sym typeface="Cambria"/>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b="1" lang="en-US" sz="2500">
                <a:solidFill>
                  <a:schemeClr val="dk1"/>
                </a:solidFill>
                <a:latin typeface="Cambria"/>
                <a:ea typeface="Cambria"/>
                <a:cs typeface="Cambria"/>
                <a:sym typeface="Cambria"/>
              </a:rPr>
              <a:t>Modeling Protein Synthesis and Mutations</a:t>
            </a:r>
            <a:endParaRPr/>
          </a:p>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b="1" lang="en-US" sz="2500">
                <a:solidFill>
                  <a:schemeClr val="dk1"/>
                </a:solidFill>
                <a:latin typeface="Cambria"/>
                <a:ea typeface="Cambria"/>
                <a:cs typeface="Cambria"/>
                <a:sym typeface="Cambria"/>
              </a:rPr>
              <a:t>Explore Protein Crystallization</a:t>
            </a:r>
            <a:endParaRPr/>
          </a:p>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b="1" lang="en-US" sz="2500">
                <a:solidFill>
                  <a:schemeClr val="dk1"/>
                </a:solidFill>
                <a:latin typeface="Cambria"/>
                <a:ea typeface="Cambria"/>
                <a:cs typeface="Cambria"/>
                <a:sym typeface="Cambria"/>
              </a:rPr>
              <a:t>Making Synthetic Cells</a:t>
            </a:r>
            <a:endParaRPr/>
          </a:p>
        </p:txBody>
      </p:sp>
      <p:sp>
        <p:nvSpPr>
          <p:cNvPr id="222" name="Google Shape;222;p24"/>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2</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5"/>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Can You Explain It?</a:t>
            </a:r>
            <a:endParaRPr/>
          </a:p>
        </p:txBody>
      </p:sp>
      <p:sp>
        <p:nvSpPr>
          <p:cNvPr id="230" name="Google Shape;230;p25"/>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descr="A drawing of a person&#10;&#10;Description automatically generated" id="231" name="Google Shape;231;p25"/>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
        <p:nvSpPr>
          <p:cNvPr id="232" name="Google Shape;232;p25"/>
          <p:cNvSpPr txBox="1"/>
          <p:nvPr/>
        </p:nvSpPr>
        <p:spPr>
          <a:xfrm>
            <a:off x="7298064" y="-55968"/>
            <a:ext cx="13019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6 Lesson 2</a:t>
            </a:r>
            <a:endParaRPr/>
          </a:p>
        </p:txBody>
      </p:sp>
      <p:sp>
        <p:nvSpPr>
          <p:cNvPr id="233" name="Google Shape;233;p25"/>
          <p:cNvSpPr/>
          <p:nvPr/>
        </p:nvSpPr>
        <p:spPr>
          <a:xfrm>
            <a:off x="392745" y="905578"/>
            <a:ext cx="8146261" cy="563231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rgbClr val="393B3C"/>
                </a:solidFill>
                <a:latin typeface="Cambria"/>
                <a:ea typeface="Cambria"/>
                <a:cs typeface="Cambria"/>
                <a:sym typeface="Cambria"/>
              </a:rPr>
              <a:t>Refer to the notes in your Evidence Notebook to answer the following questions to explain how the language of DNA is translated to the language of proteins and how this process compares to computer programming.</a:t>
            </a:r>
            <a:br>
              <a:rPr lang="en-US" sz="2400">
                <a:solidFill>
                  <a:srgbClr val="393B3C"/>
                </a:solidFill>
                <a:latin typeface="Cambria"/>
                <a:ea typeface="Cambria"/>
                <a:cs typeface="Cambria"/>
                <a:sym typeface="Cambria"/>
              </a:rPr>
            </a:br>
            <a:endParaRPr sz="2400">
              <a:solidFill>
                <a:srgbClr val="393B3C"/>
              </a:solidFill>
              <a:latin typeface="Cambria"/>
              <a:ea typeface="Cambria"/>
              <a:cs typeface="Cambria"/>
              <a:sym typeface="Cambria"/>
            </a:endParaRPr>
          </a:p>
          <a:p>
            <a:pPr indent="-457200" lvl="0" marL="457200" marR="0" rtl="0" algn="l">
              <a:spcBef>
                <a:spcPts val="0"/>
              </a:spcBef>
              <a:spcAft>
                <a:spcPts val="0"/>
              </a:spcAft>
              <a:buClr>
                <a:srgbClr val="393B3C"/>
              </a:buClr>
              <a:buSzPts val="2400"/>
              <a:buFont typeface="Cambria"/>
              <a:buAutoNum type="arabicPeriod"/>
            </a:pPr>
            <a:r>
              <a:rPr b="1" lang="en-US" sz="2400">
                <a:solidFill>
                  <a:srgbClr val="393B3C"/>
                </a:solidFill>
                <a:latin typeface="Cambria"/>
                <a:ea typeface="Cambria"/>
                <a:cs typeface="Cambria"/>
                <a:sym typeface="Cambria"/>
              </a:rPr>
              <a:t>How does the four-letter DNA language encode instructions for making thousands of different proteins?</a:t>
            </a:r>
            <a:br>
              <a:rPr b="1" lang="en-US" sz="2400">
                <a:solidFill>
                  <a:srgbClr val="393B3C"/>
                </a:solidFill>
                <a:latin typeface="Cambria"/>
                <a:ea typeface="Cambria"/>
                <a:cs typeface="Cambria"/>
                <a:sym typeface="Cambria"/>
              </a:rPr>
            </a:br>
            <a:endParaRPr b="1" sz="2400">
              <a:solidFill>
                <a:srgbClr val="393B3C"/>
              </a:solidFill>
              <a:latin typeface="Cambria"/>
              <a:ea typeface="Cambria"/>
              <a:cs typeface="Cambria"/>
              <a:sym typeface="Cambria"/>
            </a:endParaRPr>
          </a:p>
          <a:p>
            <a:pPr indent="-457200" lvl="0" marL="457200" marR="0" rtl="0" algn="l">
              <a:spcBef>
                <a:spcPts val="0"/>
              </a:spcBef>
              <a:spcAft>
                <a:spcPts val="0"/>
              </a:spcAft>
              <a:buClr>
                <a:srgbClr val="393B3C"/>
              </a:buClr>
              <a:buSzPts val="2400"/>
              <a:buFont typeface="Cambria"/>
              <a:buAutoNum type="arabicPeriod"/>
            </a:pPr>
            <a:r>
              <a:rPr b="1" lang="en-US" sz="2400">
                <a:solidFill>
                  <a:srgbClr val="393B3C"/>
                </a:solidFill>
                <a:latin typeface="Cambria"/>
                <a:ea typeface="Cambria"/>
                <a:cs typeface="Cambria"/>
                <a:sym typeface="Cambria"/>
              </a:rPr>
              <a:t>Which molecules act as the translators in the process of protein synthesis?</a:t>
            </a:r>
            <a:br>
              <a:rPr b="1" lang="en-US" sz="2400">
                <a:solidFill>
                  <a:srgbClr val="393B3C"/>
                </a:solidFill>
                <a:latin typeface="Cambria"/>
                <a:ea typeface="Cambria"/>
                <a:cs typeface="Cambria"/>
                <a:sym typeface="Cambria"/>
              </a:rPr>
            </a:br>
            <a:endParaRPr b="1" sz="2400">
              <a:solidFill>
                <a:srgbClr val="393B3C"/>
              </a:solidFill>
              <a:latin typeface="Cambria"/>
              <a:ea typeface="Cambria"/>
              <a:cs typeface="Cambria"/>
              <a:sym typeface="Cambria"/>
            </a:endParaRPr>
          </a:p>
          <a:p>
            <a:pPr indent="-457200" lvl="0" marL="457200" marR="0" rtl="0" algn="l">
              <a:spcBef>
                <a:spcPts val="0"/>
              </a:spcBef>
              <a:spcAft>
                <a:spcPts val="0"/>
              </a:spcAft>
              <a:buClr>
                <a:srgbClr val="393B3C"/>
              </a:buClr>
              <a:buSzPts val="2400"/>
              <a:buFont typeface="Cambria"/>
              <a:buAutoNum type="arabicPeriod"/>
            </a:pPr>
            <a:r>
              <a:rPr b="1" lang="en-US" sz="2400">
                <a:solidFill>
                  <a:srgbClr val="393B3C"/>
                </a:solidFill>
                <a:latin typeface="Cambria"/>
                <a:ea typeface="Cambria"/>
                <a:cs typeface="Cambria"/>
                <a:sym typeface="Cambria"/>
              </a:rPr>
              <a:t>How is the process of protein synthesis similar to the process of programming a computer? How is it different?</a:t>
            </a:r>
            <a:endParaRPr b="1" i="0" sz="2400">
              <a:solidFill>
                <a:srgbClr val="393B3C"/>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6"/>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t>Image Credits</a:t>
            </a:r>
            <a:endParaRPr/>
          </a:p>
        </p:txBody>
      </p:sp>
      <p:sp>
        <p:nvSpPr>
          <p:cNvPr id="239" name="Google Shape;239;p26"/>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chemeClr val="dk1"/>
              </a:buClr>
              <a:buSzPts val="2880"/>
              <a:buNone/>
            </a:pPr>
            <a:r>
              <a:rPr b="1" lang="en-US"/>
              <a:t>Unit 6 Lesson 2</a:t>
            </a:r>
            <a:endParaRPr/>
          </a:p>
          <a:p>
            <a:pPr indent="0" lvl="0" marL="0" rtl="0" algn="l">
              <a:spcBef>
                <a:spcPts val="0"/>
              </a:spcBef>
              <a:spcAft>
                <a:spcPts val="0"/>
              </a:spcAft>
              <a:buClr>
                <a:schemeClr val="dk1"/>
              </a:buClr>
              <a:buSzPts val="2880"/>
              <a:buNone/>
            </a:pPr>
            <a:r>
              <a:t/>
            </a:r>
            <a:endParaRPr b="1"/>
          </a:p>
          <a:p>
            <a:pPr indent="0" lvl="0" marL="0" rtl="0" algn="l">
              <a:spcBef>
                <a:spcPts val="0"/>
              </a:spcBef>
              <a:spcAft>
                <a:spcPts val="0"/>
              </a:spcAft>
              <a:buClr>
                <a:schemeClr val="dk1"/>
              </a:buClr>
              <a:buSzPts val="2880"/>
              <a:buNone/>
            </a:pPr>
            <a:r>
              <a:rPr i="1" lang="en-US"/>
              <a:t>chromosome</a:t>
            </a:r>
            <a:r>
              <a:rPr lang="en-US"/>
              <a:t> ©Science Source/BIOPHOTO ASSOCIATES/Getty Images; </a:t>
            </a:r>
            <a:r>
              <a:rPr i="1" lang="en-US"/>
              <a:t>cells budding</a:t>
            </a:r>
            <a:r>
              <a:rPr lang="en-US"/>
              <a:t> ©SPL/Science Source; </a:t>
            </a:r>
            <a:r>
              <a:rPr i="1" lang="en-US"/>
              <a:t>bacterial cells dividing</a:t>
            </a:r>
            <a:r>
              <a:rPr lang="en-US"/>
              <a:t> ©Science Source; </a:t>
            </a:r>
            <a:r>
              <a:rPr i="1" lang="en-US"/>
              <a:t>onion in water</a:t>
            </a:r>
            <a:r>
              <a:rPr lang="en-US"/>
              <a:t> ©Olena Ukhova/Shutterstock; </a:t>
            </a:r>
            <a:r>
              <a:rPr i="1" lang="en-US"/>
              <a:t>sea stars</a:t>
            </a:r>
            <a:r>
              <a:rPr lang="en-US"/>
              <a:t> ©Ecostock RF/Lawson Wood/age fotostock; </a:t>
            </a:r>
            <a:r>
              <a:rPr i="1" lang="en-US"/>
              <a:t>DNA computer model</a:t>
            </a:r>
            <a:r>
              <a:rPr lang="en-US"/>
              <a:t> Image of PDB entry 3L4V created with Chimera (http://www.rbvi.ucsf.edu/chimera/); </a:t>
            </a:r>
            <a:r>
              <a:rPr i="1" lang="en-US"/>
              <a:t>teen students using computer</a:t>
            </a:r>
            <a:r>
              <a:rPr lang="en-US"/>
              <a:t> ©E+/Steve Debenport/Getty Images</a:t>
            </a:r>
            <a:endParaRPr/>
          </a:p>
          <a:p>
            <a:pPr indent="0" lvl="0" marL="0" rtl="0" algn="l">
              <a:spcBef>
                <a:spcPts val="0"/>
              </a:spcBef>
              <a:spcAft>
                <a:spcPts val="0"/>
              </a:spcAft>
              <a:buClr>
                <a:schemeClr val="dk1"/>
              </a:buClr>
              <a:buSzPts val="2880"/>
              <a:buNone/>
            </a:pPr>
            <a:r>
              <a:t/>
            </a:r>
            <a:endParaRPr b="1"/>
          </a:p>
          <a:p>
            <a:pPr indent="0" lvl="0" marL="0" rtl="0" algn="l">
              <a:spcBef>
                <a:spcPts val="0"/>
              </a:spcBef>
              <a:spcAft>
                <a:spcPts val="0"/>
              </a:spcAft>
              <a:buClr>
                <a:schemeClr val="dk1"/>
              </a:buClr>
              <a:buSzPts val="2880"/>
              <a:buNone/>
            </a:pPr>
            <a:r>
              <a:t/>
            </a:r>
            <a:endParaRPr b="1" i="1"/>
          </a:p>
        </p:txBody>
      </p:sp>
      <p:sp>
        <p:nvSpPr>
          <p:cNvPr id="240" name="Google Shape;240;p26"/>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MH_PPT_TemplateF">
  <a:themeElements>
    <a:clrScheme name="HMH">
      <a:dk1>
        <a:srgbClr val="54585A"/>
      </a:dk1>
      <a:lt1>
        <a:srgbClr val="FFFFFF"/>
      </a:lt1>
      <a:dk2>
        <a:srgbClr val="F2A900"/>
      </a:dk2>
      <a:lt2>
        <a:srgbClr val="898D8D"/>
      </a:lt2>
      <a:accent1>
        <a:srgbClr val="6F83C1"/>
      </a:accent1>
      <a:accent2>
        <a:srgbClr val="CE3D95"/>
      </a:accent2>
      <a:accent3>
        <a:srgbClr val="00A8C8"/>
      </a:accent3>
      <a:accent4>
        <a:srgbClr val="EF4E45"/>
      </a:accent4>
      <a:accent5>
        <a:srgbClr val="B2B935"/>
      </a:accent5>
      <a:accent6>
        <a:srgbClr val="ED2C67"/>
      </a:accent6>
      <a:hlink>
        <a:srgbClr val="F48132"/>
      </a:hlink>
      <a:folHlink>
        <a:srgbClr val="72BE4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