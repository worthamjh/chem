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9144000"/>
  <p:notesSz cx="7010400" cy="92360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68625" y="692700"/>
            <a:ext cx="4673825" cy="3463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01025" y="4387125"/>
            <a:ext cx="5608300" cy="41562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1196975" y="695325"/>
            <a:ext cx="4616450" cy="34623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933451" y="4387771"/>
            <a:ext cx="5143500" cy="4154341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Lesson Objective:</a:t>
            </a:r>
            <a:br>
              <a:rPr b="0"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evidence to explain that gene expression is a regulated process that results in differentiated and specialized cells, and recognize that genes are expressed differently in prokaryotic and eukaryotic cells.</a:t>
            </a:r>
            <a:endParaRPr/>
          </a:p>
        </p:txBody>
      </p:sp>
      <p:sp>
        <p:nvSpPr>
          <p:cNvPr id="38" name="Google Shape;38;p3:notes"/>
          <p:cNvSpPr txBox="1"/>
          <p:nvPr>
            <p:ph idx="10" type="dt"/>
          </p:nvPr>
        </p:nvSpPr>
        <p:spPr>
          <a:xfrm>
            <a:off x="3971929" y="1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9/23/20</a:t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971929" y="8775536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b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1196975" y="695325"/>
            <a:ext cx="4616450" cy="34623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933451" y="4387771"/>
            <a:ext cx="5143500" cy="4154341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:notes"/>
          <p:cNvSpPr txBox="1"/>
          <p:nvPr>
            <p:ph idx="10" type="dt"/>
          </p:nvPr>
        </p:nvSpPr>
        <p:spPr>
          <a:xfrm>
            <a:off x="3971929" y="1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9/23/20</a:t>
            </a:r>
            <a:endParaRPr/>
          </a:p>
        </p:txBody>
      </p:sp>
      <p:sp>
        <p:nvSpPr>
          <p:cNvPr id="46" name="Google Shape;46;p4:notes"/>
          <p:cNvSpPr txBox="1"/>
          <p:nvPr>
            <p:ph idx="12" type="sldNum"/>
          </p:nvPr>
        </p:nvSpPr>
        <p:spPr>
          <a:xfrm>
            <a:off x="3971929" y="8775536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b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1196975" y="695325"/>
            <a:ext cx="4616450" cy="34623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933451" y="4387771"/>
            <a:ext cx="5143500" cy="4154341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 txBox="1"/>
          <p:nvPr>
            <p:ph idx="10" type="dt"/>
          </p:nvPr>
        </p:nvSpPr>
        <p:spPr>
          <a:xfrm>
            <a:off x="3971929" y="1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9/23/20</a:t>
            </a:r>
            <a:endParaRPr/>
          </a:p>
        </p:txBody>
      </p:sp>
      <p:sp>
        <p:nvSpPr>
          <p:cNvPr id="59" name="Google Shape;59;p5:notes"/>
          <p:cNvSpPr txBox="1"/>
          <p:nvPr>
            <p:ph idx="12" type="sldNum"/>
          </p:nvPr>
        </p:nvSpPr>
        <p:spPr>
          <a:xfrm>
            <a:off x="3971929" y="8775536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b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/>
          <p:nvPr>
            <p:ph idx="2" type="sldImg"/>
          </p:nvPr>
        </p:nvSpPr>
        <p:spPr>
          <a:xfrm>
            <a:off x="1196975" y="695325"/>
            <a:ext cx="4616450" cy="34623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933451" y="4387771"/>
            <a:ext cx="5143500" cy="4154341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:notes"/>
          <p:cNvSpPr txBox="1"/>
          <p:nvPr>
            <p:ph idx="10" type="dt"/>
          </p:nvPr>
        </p:nvSpPr>
        <p:spPr>
          <a:xfrm>
            <a:off x="3971929" y="1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9/23/20</a:t>
            </a:r>
            <a:endParaRPr/>
          </a:p>
        </p:txBody>
      </p:sp>
      <p:sp>
        <p:nvSpPr>
          <p:cNvPr id="70" name="Google Shape;70;p6:notes"/>
          <p:cNvSpPr txBox="1"/>
          <p:nvPr>
            <p:ph idx="12" type="sldNum"/>
          </p:nvPr>
        </p:nvSpPr>
        <p:spPr>
          <a:xfrm>
            <a:off x="3971929" y="8775536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b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/>
          <p:nvPr>
            <p:ph idx="2" type="sldImg"/>
          </p:nvPr>
        </p:nvSpPr>
        <p:spPr>
          <a:xfrm>
            <a:off x="1196975" y="695325"/>
            <a:ext cx="4616450" cy="34623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7:notes"/>
          <p:cNvSpPr txBox="1"/>
          <p:nvPr>
            <p:ph idx="1" type="body"/>
          </p:nvPr>
        </p:nvSpPr>
        <p:spPr>
          <a:xfrm>
            <a:off x="933451" y="4387771"/>
            <a:ext cx="5143500" cy="4154341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:notes"/>
          <p:cNvSpPr txBox="1"/>
          <p:nvPr>
            <p:ph idx="10" type="dt"/>
          </p:nvPr>
        </p:nvSpPr>
        <p:spPr>
          <a:xfrm>
            <a:off x="3971929" y="1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9/23/20</a:t>
            </a:r>
            <a:endParaRPr/>
          </a:p>
        </p:txBody>
      </p:sp>
      <p:sp>
        <p:nvSpPr>
          <p:cNvPr id="82" name="Google Shape;82;p7:notes"/>
          <p:cNvSpPr txBox="1"/>
          <p:nvPr>
            <p:ph idx="12" type="sldNum"/>
          </p:nvPr>
        </p:nvSpPr>
        <p:spPr>
          <a:xfrm>
            <a:off x="3971929" y="8775536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b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701025" y="4387125"/>
            <a:ext cx="5608300" cy="4156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:notes"/>
          <p:cNvSpPr/>
          <p:nvPr>
            <p:ph idx="2" type="sldImg"/>
          </p:nvPr>
        </p:nvSpPr>
        <p:spPr>
          <a:xfrm>
            <a:off x="1168625" y="692700"/>
            <a:ext cx="4673825" cy="3463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/>
          <p:nvPr>
            <p:ph idx="2" type="sldImg"/>
          </p:nvPr>
        </p:nvSpPr>
        <p:spPr>
          <a:xfrm>
            <a:off x="1196975" y="695325"/>
            <a:ext cx="4616450" cy="34623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9:notes"/>
          <p:cNvSpPr txBox="1"/>
          <p:nvPr>
            <p:ph idx="1" type="body"/>
          </p:nvPr>
        </p:nvSpPr>
        <p:spPr>
          <a:xfrm>
            <a:off x="933451" y="4387771"/>
            <a:ext cx="5143500" cy="4154341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9:notes"/>
          <p:cNvSpPr txBox="1"/>
          <p:nvPr>
            <p:ph idx="10" type="dt"/>
          </p:nvPr>
        </p:nvSpPr>
        <p:spPr>
          <a:xfrm>
            <a:off x="3971929" y="1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9/23/20</a:t>
            </a:r>
            <a:endParaRPr/>
          </a:p>
        </p:txBody>
      </p:sp>
      <p:sp>
        <p:nvSpPr>
          <p:cNvPr id="102" name="Google Shape;102;p9:notes"/>
          <p:cNvSpPr txBox="1"/>
          <p:nvPr>
            <p:ph idx="12" type="sldNum"/>
          </p:nvPr>
        </p:nvSpPr>
        <p:spPr>
          <a:xfrm>
            <a:off x="3971929" y="8775536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b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:notes"/>
          <p:cNvSpPr/>
          <p:nvPr>
            <p:ph idx="2" type="sldImg"/>
          </p:nvPr>
        </p:nvSpPr>
        <p:spPr>
          <a:xfrm>
            <a:off x="1196975" y="695325"/>
            <a:ext cx="4616450" cy="34623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10:notes"/>
          <p:cNvSpPr txBox="1"/>
          <p:nvPr>
            <p:ph idx="1" type="body"/>
          </p:nvPr>
        </p:nvSpPr>
        <p:spPr>
          <a:xfrm>
            <a:off x="933451" y="4387771"/>
            <a:ext cx="5143500" cy="4154341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:notes"/>
          <p:cNvSpPr txBox="1"/>
          <p:nvPr>
            <p:ph idx="10" type="dt"/>
          </p:nvPr>
        </p:nvSpPr>
        <p:spPr>
          <a:xfrm>
            <a:off x="3971929" y="1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9/23/20</a:t>
            </a:r>
            <a:endParaRPr/>
          </a:p>
        </p:txBody>
      </p:sp>
      <p:sp>
        <p:nvSpPr>
          <p:cNvPr id="114" name="Google Shape;114;p10:notes"/>
          <p:cNvSpPr txBox="1"/>
          <p:nvPr>
            <p:ph idx="12" type="sldNum"/>
          </p:nvPr>
        </p:nvSpPr>
        <p:spPr>
          <a:xfrm>
            <a:off x="3971929" y="8775536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b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/>
          <p:nvPr>
            <p:ph idx="2" type="sldImg"/>
          </p:nvPr>
        </p:nvSpPr>
        <p:spPr>
          <a:xfrm>
            <a:off x="1196975" y="695325"/>
            <a:ext cx="4616450" cy="34623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933451" y="4387771"/>
            <a:ext cx="5143500" cy="4154341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1:notes"/>
          <p:cNvSpPr txBox="1"/>
          <p:nvPr>
            <p:ph idx="10" type="dt"/>
          </p:nvPr>
        </p:nvSpPr>
        <p:spPr>
          <a:xfrm>
            <a:off x="3971929" y="1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9/23/20</a:t>
            </a:r>
            <a:endParaRPr/>
          </a:p>
        </p:txBody>
      </p:sp>
      <p:sp>
        <p:nvSpPr>
          <p:cNvPr id="126" name="Google Shape;126;p11:notes"/>
          <p:cNvSpPr txBox="1"/>
          <p:nvPr>
            <p:ph idx="12" type="sldNum"/>
          </p:nvPr>
        </p:nvSpPr>
        <p:spPr>
          <a:xfrm>
            <a:off x="3971929" y="8775536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b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1196975" y="695325"/>
            <a:ext cx="4616450" cy="34623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12:notes"/>
          <p:cNvSpPr txBox="1"/>
          <p:nvPr>
            <p:ph idx="1" type="body"/>
          </p:nvPr>
        </p:nvSpPr>
        <p:spPr>
          <a:xfrm>
            <a:off x="933451" y="4387771"/>
            <a:ext cx="5143500" cy="4154341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2:notes"/>
          <p:cNvSpPr txBox="1"/>
          <p:nvPr>
            <p:ph idx="10" type="dt"/>
          </p:nvPr>
        </p:nvSpPr>
        <p:spPr>
          <a:xfrm>
            <a:off x="3971929" y="1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9/23/20</a:t>
            </a:r>
            <a:endParaRPr/>
          </a:p>
        </p:txBody>
      </p:sp>
      <p:sp>
        <p:nvSpPr>
          <p:cNvPr id="136" name="Google Shape;136;p12:notes"/>
          <p:cNvSpPr txBox="1"/>
          <p:nvPr>
            <p:ph idx="12" type="sldNum"/>
          </p:nvPr>
        </p:nvSpPr>
        <p:spPr>
          <a:xfrm>
            <a:off x="3971929" y="8775536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b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/>
          <p:nvPr>
            <p:ph idx="2" type="sldImg"/>
          </p:nvPr>
        </p:nvSpPr>
        <p:spPr>
          <a:xfrm>
            <a:off x="1196975" y="695325"/>
            <a:ext cx="4616450" cy="34623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933451" y="4387771"/>
            <a:ext cx="5143500" cy="4154341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 txBox="1"/>
          <p:nvPr>
            <p:ph idx="10" type="dt"/>
          </p:nvPr>
        </p:nvSpPr>
        <p:spPr>
          <a:xfrm>
            <a:off x="3971929" y="1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9/23/20</a:t>
            </a:r>
            <a:endParaRPr/>
          </a:p>
        </p:txBody>
      </p:sp>
      <p:sp>
        <p:nvSpPr>
          <p:cNvPr id="147" name="Google Shape;147;p13:notes"/>
          <p:cNvSpPr txBox="1"/>
          <p:nvPr>
            <p:ph idx="12" type="sldNum"/>
          </p:nvPr>
        </p:nvSpPr>
        <p:spPr>
          <a:xfrm>
            <a:off x="3971929" y="8775536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b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:notes"/>
          <p:cNvSpPr/>
          <p:nvPr>
            <p:ph idx="2" type="sldImg"/>
          </p:nvPr>
        </p:nvSpPr>
        <p:spPr>
          <a:xfrm>
            <a:off x="1196975" y="695325"/>
            <a:ext cx="4616450" cy="34623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14:notes"/>
          <p:cNvSpPr txBox="1"/>
          <p:nvPr>
            <p:ph idx="1" type="body"/>
          </p:nvPr>
        </p:nvSpPr>
        <p:spPr>
          <a:xfrm>
            <a:off x="933451" y="4387771"/>
            <a:ext cx="5143500" cy="4154341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4:notes"/>
          <p:cNvSpPr txBox="1"/>
          <p:nvPr>
            <p:ph idx="10" type="dt"/>
          </p:nvPr>
        </p:nvSpPr>
        <p:spPr>
          <a:xfrm>
            <a:off x="3971929" y="1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9/23/20</a:t>
            </a:r>
            <a:endParaRPr/>
          </a:p>
        </p:txBody>
      </p:sp>
      <p:sp>
        <p:nvSpPr>
          <p:cNvPr id="158" name="Google Shape;158;p14:notes"/>
          <p:cNvSpPr txBox="1"/>
          <p:nvPr>
            <p:ph idx="12" type="sldNum"/>
          </p:nvPr>
        </p:nvSpPr>
        <p:spPr>
          <a:xfrm>
            <a:off x="3971929" y="8775536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b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1196975" y="695325"/>
            <a:ext cx="4616450" cy="34623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15:notes"/>
          <p:cNvSpPr txBox="1"/>
          <p:nvPr>
            <p:ph idx="1" type="body"/>
          </p:nvPr>
        </p:nvSpPr>
        <p:spPr>
          <a:xfrm>
            <a:off x="933451" y="4387771"/>
            <a:ext cx="5143500" cy="4154341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5:notes"/>
          <p:cNvSpPr txBox="1"/>
          <p:nvPr>
            <p:ph idx="10" type="dt"/>
          </p:nvPr>
        </p:nvSpPr>
        <p:spPr>
          <a:xfrm>
            <a:off x="3971929" y="1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9/23/20</a:t>
            </a:r>
            <a:endParaRPr/>
          </a:p>
        </p:txBody>
      </p:sp>
      <p:sp>
        <p:nvSpPr>
          <p:cNvPr id="169" name="Google Shape;169;p15:notes"/>
          <p:cNvSpPr txBox="1"/>
          <p:nvPr>
            <p:ph idx="12" type="sldNum"/>
          </p:nvPr>
        </p:nvSpPr>
        <p:spPr>
          <a:xfrm>
            <a:off x="3971929" y="8775536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b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:notes"/>
          <p:cNvSpPr/>
          <p:nvPr>
            <p:ph idx="2" type="sldImg"/>
          </p:nvPr>
        </p:nvSpPr>
        <p:spPr>
          <a:xfrm>
            <a:off x="1196975" y="695325"/>
            <a:ext cx="4616450" cy="34623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16:notes"/>
          <p:cNvSpPr txBox="1"/>
          <p:nvPr>
            <p:ph idx="1" type="body"/>
          </p:nvPr>
        </p:nvSpPr>
        <p:spPr>
          <a:xfrm>
            <a:off x="933451" y="4387771"/>
            <a:ext cx="5143500" cy="4154341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6:notes"/>
          <p:cNvSpPr txBox="1"/>
          <p:nvPr>
            <p:ph idx="10" type="dt"/>
          </p:nvPr>
        </p:nvSpPr>
        <p:spPr>
          <a:xfrm>
            <a:off x="3971929" y="1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9/23/20</a:t>
            </a:r>
            <a:endParaRPr/>
          </a:p>
        </p:txBody>
      </p:sp>
      <p:sp>
        <p:nvSpPr>
          <p:cNvPr id="180" name="Google Shape;180;p16:notes"/>
          <p:cNvSpPr txBox="1"/>
          <p:nvPr>
            <p:ph idx="12" type="sldNum"/>
          </p:nvPr>
        </p:nvSpPr>
        <p:spPr>
          <a:xfrm>
            <a:off x="3971929" y="8775536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b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:notes"/>
          <p:cNvSpPr/>
          <p:nvPr>
            <p:ph idx="2" type="sldImg"/>
          </p:nvPr>
        </p:nvSpPr>
        <p:spPr>
          <a:xfrm>
            <a:off x="1196975" y="695325"/>
            <a:ext cx="4616450" cy="34623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17:notes"/>
          <p:cNvSpPr txBox="1"/>
          <p:nvPr>
            <p:ph idx="1" type="body"/>
          </p:nvPr>
        </p:nvSpPr>
        <p:spPr>
          <a:xfrm>
            <a:off x="933451" y="4387771"/>
            <a:ext cx="5143500" cy="4154341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:notes"/>
          <p:cNvSpPr txBox="1"/>
          <p:nvPr>
            <p:ph idx="10" type="dt"/>
          </p:nvPr>
        </p:nvSpPr>
        <p:spPr>
          <a:xfrm>
            <a:off x="3971929" y="1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9/23/20</a:t>
            </a:r>
            <a:endParaRPr/>
          </a:p>
        </p:txBody>
      </p:sp>
      <p:sp>
        <p:nvSpPr>
          <p:cNvPr id="191" name="Google Shape;191;p17:notes"/>
          <p:cNvSpPr txBox="1"/>
          <p:nvPr>
            <p:ph idx="12" type="sldNum"/>
          </p:nvPr>
        </p:nvSpPr>
        <p:spPr>
          <a:xfrm>
            <a:off x="3971929" y="8775536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b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:notes"/>
          <p:cNvSpPr/>
          <p:nvPr>
            <p:ph idx="2" type="sldImg"/>
          </p:nvPr>
        </p:nvSpPr>
        <p:spPr>
          <a:xfrm>
            <a:off x="1196975" y="695325"/>
            <a:ext cx="4616450" cy="34623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18:notes"/>
          <p:cNvSpPr txBox="1"/>
          <p:nvPr>
            <p:ph idx="1" type="body"/>
          </p:nvPr>
        </p:nvSpPr>
        <p:spPr>
          <a:xfrm>
            <a:off x="933451" y="4387771"/>
            <a:ext cx="5143500" cy="4154341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:notes"/>
          <p:cNvSpPr txBox="1"/>
          <p:nvPr>
            <p:ph idx="10" type="dt"/>
          </p:nvPr>
        </p:nvSpPr>
        <p:spPr>
          <a:xfrm>
            <a:off x="3971929" y="1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9/23/20</a:t>
            </a:r>
            <a:endParaRPr/>
          </a:p>
        </p:txBody>
      </p:sp>
      <p:sp>
        <p:nvSpPr>
          <p:cNvPr id="202" name="Google Shape;202;p18:notes"/>
          <p:cNvSpPr txBox="1"/>
          <p:nvPr>
            <p:ph idx="12" type="sldNum"/>
          </p:nvPr>
        </p:nvSpPr>
        <p:spPr>
          <a:xfrm>
            <a:off x="3971929" y="8775536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b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:notes"/>
          <p:cNvSpPr/>
          <p:nvPr>
            <p:ph idx="2" type="sldImg"/>
          </p:nvPr>
        </p:nvSpPr>
        <p:spPr>
          <a:xfrm>
            <a:off x="1196975" y="695325"/>
            <a:ext cx="4616450" cy="34623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19:notes"/>
          <p:cNvSpPr txBox="1"/>
          <p:nvPr>
            <p:ph idx="1" type="body"/>
          </p:nvPr>
        </p:nvSpPr>
        <p:spPr>
          <a:xfrm>
            <a:off x="933451" y="4387771"/>
            <a:ext cx="5143500" cy="4154341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:notes"/>
          <p:cNvSpPr txBox="1"/>
          <p:nvPr>
            <p:ph idx="10" type="dt"/>
          </p:nvPr>
        </p:nvSpPr>
        <p:spPr>
          <a:xfrm>
            <a:off x="3971929" y="1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9/23/20</a:t>
            </a:r>
            <a:endParaRPr/>
          </a:p>
        </p:txBody>
      </p:sp>
      <p:sp>
        <p:nvSpPr>
          <p:cNvPr id="213" name="Google Shape;213;p19:notes"/>
          <p:cNvSpPr txBox="1"/>
          <p:nvPr>
            <p:ph idx="12" type="sldNum"/>
          </p:nvPr>
        </p:nvSpPr>
        <p:spPr>
          <a:xfrm>
            <a:off x="3971929" y="8775536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b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:notes"/>
          <p:cNvSpPr/>
          <p:nvPr>
            <p:ph idx="2" type="sldImg"/>
          </p:nvPr>
        </p:nvSpPr>
        <p:spPr>
          <a:xfrm>
            <a:off x="1196975" y="695325"/>
            <a:ext cx="4616450" cy="34623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20:notes"/>
          <p:cNvSpPr txBox="1"/>
          <p:nvPr>
            <p:ph idx="1" type="body"/>
          </p:nvPr>
        </p:nvSpPr>
        <p:spPr>
          <a:xfrm>
            <a:off x="933451" y="4387771"/>
            <a:ext cx="5143500" cy="4154341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:notes"/>
          <p:cNvSpPr txBox="1"/>
          <p:nvPr>
            <p:ph idx="10" type="dt"/>
          </p:nvPr>
        </p:nvSpPr>
        <p:spPr>
          <a:xfrm>
            <a:off x="3971929" y="1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9/23/20</a:t>
            </a:r>
            <a:endParaRPr/>
          </a:p>
        </p:txBody>
      </p:sp>
      <p:sp>
        <p:nvSpPr>
          <p:cNvPr id="226" name="Google Shape;226;p20:notes"/>
          <p:cNvSpPr txBox="1"/>
          <p:nvPr>
            <p:ph idx="12" type="sldNum"/>
          </p:nvPr>
        </p:nvSpPr>
        <p:spPr>
          <a:xfrm>
            <a:off x="3971929" y="8775536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b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:notes"/>
          <p:cNvSpPr/>
          <p:nvPr>
            <p:ph idx="2" type="sldImg"/>
          </p:nvPr>
        </p:nvSpPr>
        <p:spPr>
          <a:xfrm>
            <a:off x="1196975" y="695325"/>
            <a:ext cx="4616450" cy="34623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21:notes"/>
          <p:cNvSpPr txBox="1"/>
          <p:nvPr>
            <p:ph idx="1" type="body"/>
          </p:nvPr>
        </p:nvSpPr>
        <p:spPr>
          <a:xfrm>
            <a:off x="933451" y="4387771"/>
            <a:ext cx="5143500" cy="4154341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21:notes"/>
          <p:cNvSpPr txBox="1"/>
          <p:nvPr>
            <p:ph idx="10" type="dt"/>
          </p:nvPr>
        </p:nvSpPr>
        <p:spPr>
          <a:xfrm>
            <a:off x="3971929" y="1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9/23/20</a:t>
            </a:r>
            <a:endParaRPr/>
          </a:p>
        </p:txBody>
      </p:sp>
      <p:sp>
        <p:nvSpPr>
          <p:cNvPr id="237" name="Google Shape;237;p21:notes"/>
          <p:cNvSpPr txBox="1"/>
          <p:nvPr>
            <p:ph idx="12" type="sldNum"/>
          </p:nvPr>
        </p:nvSpPr>
        <p:spPr>
          <a:xfrm>
            <a:off x="3971929" y="8775536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b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:notes"/>
          <p:cNvSpPr/>
          <p:nvPr>
            <p:ph idx="2" type="sldImg"/>
          </p:nvPr>
        </p:nvSpPr>
        <p:spPr>
          <a:xfrm>
            <a:off x="1196975" y="695325"/>
            <a:ext cx="4616450" cy="34623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22:notes"/>
          <p:cNvSpPr txBox="1"/>
          <p:nvPr>
            <p:ph idx="1" type="body"/>
          </p:nvPr>
        </p:nvSpPr>
        <p:spPr>
          <a:xfrm>
            <a:off x="933451" y="4387771"/>
            <a:ext cx="5143500" cy="4154341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2:notes"/>
          <p:cNvSpPr txBox="1"/>
          <p:nvPr>
            <p:ph idx="10" type="dt"/>
          </p:nvPr>
        </p:nvSpPr>
        <p:spPr>
          <a:xfrm>
            <a:off x="3971929" y="1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9/23/20</a:t>
            </a:r>
            <a:endParaRPr/>
          </a:p>
        </p:txBody>
      </p:sp>
      <p:sp>
        <p:nvSpPr>
          <p:cNvPr id="248" name="Google Shape;248;p22:notes"/>
          <p:cNvSpPr txBox="1"/>
          <p:nvPr>
            <p:ph idx="12" type="sldNum"/>
          </p:nvPr>
        </p:nvSpPr>
        <p:spPr>
          <a:xfrm>
            <a:off x="3971929" y="8775536"/>
            <a:ext cx="3038475" cy="460542"/>
          </a:xfrm>
          <a:prstGeom prst="rect">
            <a:avLst/>
          </a:prstGeom>
          <a:noFill/>
          <a:ln>
            <a:noFill/>
          </a:ln>
        </p:spPr>
        <p:txBody>
          <a:bodyPr anchorCtr="0" anchor="b" bIns="46825" lIns="93675" spcFirstLastPara="1" rIns="93675" wrap="square" tIns="46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:notes"/>
          <p:cNvSpPr txBox="1"/>
          <p:nvPr>
            <p:ph idx="1" type="body"/>
          </p:nvPr>
        </p:nvSpPr>
        <p:spPr>
          <a:xfrm>
            <a:off x="701025" y="4387125"/>
            <a:ext cx="5608300" cy="4156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3:notes"/>
          <p:cNvSpPr/>
          <p:nvPr>
            <p:ph idx="2" type="sldImg"/>
          </p:nvPr>
        </p:nvSpPr>
        <p:spPr>
          <a:xfrm>
            <a:off x="1168625" y="692700"/>
            <a:ext cx="4673825" cy="3463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457200" y="318213"/>
            <a:ext cx="8229600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2800"/>
              <a:buFont typeface="Cambria"/>
              <a:buNone/>
              <a:defRPr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457200" y="1151692"/>
            <a:ext cx="8229600" cy="4799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41148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Char char="•"/>
              <a:defRPr sz="2400">
                <a:latin typeface="Cambria"/>
                <a:ea typeface="Cambria"/>
                <a:cs typeface="Cambria"/>
                <a:sym typeface="Cambria"/>
              </a:defRPr>
            </a:lvl1pPr>
            <a:lvl2pPr indent="-3810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Cambria"/>
                <a:ea typeface="Cambria"/>
                <a:cs typeface="Cambria"/>
                <a:sym typeface="Cambria"/>
              </a:defRPr>
            </a:lvl2pPr>
            <a:lvl3pPr indent="-3810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Cambria"/>
                <a:ea typeface="Cambria"/>
                <a:cs typeface="Cambria"/>
                <a:sym typeface="Cambria"/>
              </a:defRPr>
            </a:lvl3pPr>
            <a:lvl4pPr indent="-3810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  <a:defRPr sz="2400">
                <a:latin typeface="Cambria"/>
                <a:ea typeface="Cambria"/>
                <a:cs typeface="Cambria"/>
                <a:sym typeface="Cambria"/>
              </a:defRPr>
            </a:lvl4pPr>
            <a:lvl5pPr indent="-3810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>
                <a:latin typeface="Cambria"/>
                <a:ea typeface="Cambria"/>
                <a:cs typeface="Cambria"/>
                <a:sym typeface="Cambria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"/>
          <p:cNvGrpSpPr/>
          <p:nvPr/>
        </p:nvGrpSpPr>
        <p:grpSpPr>
          <a:xfrm>
            <a:off x="457200" y="442000"/>
            <a:ext cx="8235757" cy="5504790"/>
            <a:chOff x="457200" y="442000"/>
            <a:chExt cx="8235757" cy="5504790"/>
          </a:xfrm>
        </p:grpSpPr>
        <p:sp>
          <p:nvSpPr>
            <p:cNvPr id="18" name="Google Shape;18;p3"/>
            <p:cNvSpPr/>
            <p:nvPr/>
          </p:nvSpPr>
          <p:spPr>
            <a:xfrm>
              <a:off x="457200" y="1603390"/>
              <a:ext cx="7251192" cy="4343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descr="HMH_vertical logo.png" id="19" name="Google Shape;19;p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042912" y="442000"/>
              <a:ext cx="1650045" cy="10393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3"/>
          <p:cNvSpPr txBox="1"/>
          <p:nvPr>
            <p:ph type="ctrTitle"/>
          </p:nvPr>
        </p:nvSpPr>
        <p:spPr>
          <a:xfrm>
            <a:off x="706001" y="1662793"/>
            <a:ext cx="6400022" cy="734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  <a:defRPr b="1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57200" y="1146175"/>
            <a:ext cx="399415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41148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Char char="•"/>
              <a:defRPr sz="2400">
                <a:latin typeface="Cambria"/>
                <a:ea typeface="Cambria"/>
                <a:cs typeface="Cambria"/>
                <a:sym typeface="Cambria"/>
              </a:defRPr>
            </a:lvl1pPr>
            <a:lvl2pPr indent="-3810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Cambria"/>
                <a:ea typeface="Cambria"/>
                <a:cs typeface="Cambria"/>
                <a:sym typeface="Cambria"/>
              </a:defRPr>
            </a:lvl2pPr>
            <a:lvl3pPr indent="-3810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Cambria"/>
                <a:ea typeface="Cambria"/>
                <a:cs typeface="Cambria"/>
                <a:sym typeface="Cambria"/>
              </a:defRPr>
            </a:lvl3pPr>
            <a:lvl4pPr indent="-3810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  <a:defRPr sz="2400">
                <a:latin typeface="Cambria"/>
                <a:ea typeface="Cambria"/>
                <a:cs typeface="Cambria"/>
                <a:sym typeface="Cambria"/>
              </a:defRPr>
            </a:lvl4pPr>
            <a:lvl5pPr indent="-3810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>
                <a:latin typeface="Cambria"/>
                <a:ea typeface="Cambria"/>
                <a:cs typeface="Cambria"/>
                <a:sym typeface="Cambria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318213"/>
            <a:ext cx="8229600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  <a:defRPr b="1" sz="2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457200" y="318213"/>
            <a:ext cx="8229600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  <a:defRPr b="1" sz="2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57200" y="1146175"/>
            <a:ext cx="399415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b="1" sz="1800">
                <a:latin typeface="Cambria"/>
                <a:ea typeface="Cambria"/>
                <a:cs typeface="Cambria"/>
                <a:sym typeface="Cambri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57200" y="1785937"/>
            <a:ext cx="399415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6576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indent="-3429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Cambria"/>
                <a:ea typeface="Cambria"/>
                <a:cs typeface="Cambria"/>
                <a:sym typeface="Cambria"/>
              </a:defRPr>
            </a:lvl2pPr>
            <a:lvl3pPr indent="-3429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Cambria"/>
                <a:ea typeface="Cambria"/>
                <a:cs typeface="Cambria"/>
                <a:sym typeface="Cambria"/>
              </a:defRPr>
            </a:lvl3pPr>
            <a:lvl4pPr indent="-3429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>
                <a:latin typeface="Cambria"/>
                <a:ea typeface="Cambria"/>
                <a:cs typeface="Cambria"/>
                <a:sym typeface="Cambria"/>
              </a:defRPr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latin typeface="Cambria"/>
                <a:ea typeface="Cambria"/>
                <a:cs typeface="Cambria"/>
                <a:sym typeface="Cambria"/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457200" y="318213"/>
            <a:ext cx="8229600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318213"/>
            <a:ext cx="8229600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  <a:defRPr b="1" i="0" sz="28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151692"/>
            <a:ext cx="8229600" cy="4799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41148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810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3810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3810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 Sans"/>
              <a:buChar char="-"/>
              <a:defRPr b="0" i="0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3810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 Sans"/>
              <a:buChar char="»"/>
              <a:defRPr b="0" i="0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54585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54585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54585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54585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54585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54585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54585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54585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54585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MH_horizontal logo.png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24799" y="6399660"/>
            <a:ext cx="1912424" cy="34818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/>
          <p:nvPr/>
        </p:nvSpPr>
        <p:spPr>
          <a:xfrm>
            <a:off x="0" y="0"/>
            <a:ext cx="6775704" cy="17373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6821424" y="0"/>
            <a:ext cx="2340864" cy="17417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hmhco.com/content/science/sciencedimensions/na/gr9-12/ete_biology_9780544535855_/book_pages/OPS/s9ml/glossary.xhtml#key-llkjkjnfiueuubgcbcwfgwregfnvngiktoiroencbeue8ueu37837859392" TargetMode="External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hmhco.com/content/science/sciencedimensions/na/gr9-12/ete_biology_9780544535855_/book_pages/OPS/s9ml/glossary.xhtml#key-operon" TargetMode="External"/><Relationship Id="rId4" Type="http://schemas.openxmlformats.org/officeDocument/2006/relationships/hyperlink" Target="https://www.hmhco.com/content/science/sciencedimensions/na/gr9-12/ete_biology_9780544535855_/book_pages/OPS/s9ml/glossary.xhtml#key-promoter" TargetMode="External"/><Relationship Id="rId5" Type="http://schemas.openxmlformats.org/officeDocument/2006/relationships/hyperlink" Target="https://www.hmhco.com/content/science/sciencedimensions/na/gr9-12/ete_biology_9780544535855_/book_pages/OPS/s9ml/glossary.xhtml#key-operator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hmhco.com/content/science/sciencedimensions/na/gr9-12/ete_biology_9780544535855_/book_pages/OPS/s9ml/glossary.xhtml#key-510fe7663d704479947b23f745ce2481" TargetMode="External"/><Relationship Id="rId4" Type="http://schemas.openxmlformats.org/officeDocument/2006/relationships/hyperlink" Target="https://www.hmhco.com/content/science/sciencedimensions/na/gr9-12/ete_biology_9780544535855_/book_pages/OPS/s9ml/glossary.xhtml#key-510fe7663d704479947b23f745ce2481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hmhco.com/content/science/sciencedimensions/na/gr9-12/ete_biology_9780544535855_/book_pages/OPS/s9ml/glossary.xhtml#key-transcriptionfactor" TargetMode="External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hmhco.com/content/science/sciencedimensions/na/gr9-12/ete_biology_9780544535855_/book_pages/OPS/s9ml/glossary.xhtml#key-intron" TargetMode="External"/><Relationship Id="rId4" Type="http://schemas.openxmlformats.org/officeDocument/2006/relationships/hyperlink" Target="https://www.hmhco.com/content/science/sciencedimensions/na/gr9-12/ete_biology_9780544535855_/book_pages/OPS/s9ml/glossary.xhtml#key-33f1t5d3gf1j0pw22f4gki3fdgrtr66bs1j7sg1m8z6h" TargetMode="External"/><Relationship Id="rId5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idx="4294967295" type="subTitle"/>
          </p:nvPr>
        </p:nvSpPr>
        <p:spPr>
          <a:xfrm>
            <a:off x="696995" y="1840108"/>
            <a:ext cx="692875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840"/>
              <a:buFont typeface="Arial"/>
              <a:buNone/>
            </a:pPr>
            <a:r>
              <a:rPr b="1" i="0" lang="en-US" sz="3200" u="none" cap="none" strike="noStrik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Biology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840"/>
              <a:buFont typeface="Arial"/>
              <a:buNone/>
            </a:pPr>
            <a:r>
              <a:rPr b="1" i="0" lang="en-US" sz="3200" u="none" cap="none" strike="noStrik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Unit 6: The Structure and Function of DNA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840"/>
              <a:buFont typeface="Arial"/>
              <a:buNone/>
            </a:pPr>
            <a:r>
              <a:rPr b="1" i="0" lang="en-US" sz="3200" u="none" cap="none" strike="noStrik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Lesson 3: Gene Expression and Regulation</a:t>
            </a:r>
            <a:endParaRPr/>
          </a:p>
          <a:p>
            <a:pPr indent="0" lvl="0" marL="23018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9"/>
          <p:cNvSpPr txBox="1"/>
          <p:nvPr>
            <p:ph type="title"/>
          </p:nvPr>
        </p:nvSpPr>
        <p:spPr>
          <a:xfrm>
            <a:off x="457200" y="318213"/>
            <a:ext cx="8229600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2800"/>
              <a:buFont typeface="Cambria"/>
              <a:buNone/>
            </a:pPr>
            <a:r>
              <a:rPr lang="en-US"/>
              <a:t>Gene Expression and Regulation</a:t>
            </a:r>
            <a:endParaRPr/>
          </a:p>
        </p:txBody>
      </p:sp>
      <p:sp>
        <p:nvSpPr>
          <p:cNvPr id="50" name="Google Shape;50;p9"/>
          <p:cNvSpPr txBox="1"/>
          <p:nvPr/>
        </p:nvSpPr>
        <p:spPr>
          <a:xfrm>
            <a:off x="7298064" y="-55968"/>
            <a:ext cx="1301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Unit 6 Lesson 3</a:t>
            </a:r>
            <a:endParaRPr/>
          </a:p>
        </p:txBody>
      </p:sp>
      <p:pic>
        <p:nvPicPr>
          <p:cNvPr id="51" name="Google Shape;5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000" y="1273628"/>
            <a:ext cx="3937000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9800" y="1279680"/>
            <a:ext cx="3937000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9"/>
          <p:cNvSpPr/>
          <p:nvPr/>
        </p:nvSpPr>
        <p:spPr>
          <a:xfrm>
            <a:off x="678388" y="4612843"/>
            <a:ext cx="8142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C4E50"/>
                </a:solidFill>
                <a:latin typeface="Cambria"/>
                <a:ea typeface="Cambria"/>
                <a:cs typeface="Cambria"/>
                <a:sym typeface="Cambria"/>
              </a:rPr>
              <a:t>How might changes in genes be responsible for mutations, such as the mutation that causes legs to grow in place of antennae in a fruit fly?</a:t>
            </a:r>
            <a:endParaRPr b="1"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A drawing of a person&#10;&#10;Description automatically generated" id="54" name="Google Shape;5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7361" y="286314"/>
            <a:ext cx="474345" cy="526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0"/>
          <p:cNvSpPr txBox="1"/>
          <p:nvPr>
            <p:ph type="title"/>
          </p:nvPr>
        </p:nvSpPr>
        <p:spPr>
          <a:xfrm>
            <a:off x="457200" y="318213"/>
            <a:ext cx="8229600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2800"/>
              <a:buFont typeface="Cambria"/>
              <a:buNone/>
            </a:pPr>
            <a:r>
              <a:rPr lang="en-US"/>
              <a:t>Gene Expression and Regulation</a:t>
            </a:r>
            <a:endParaRPr/>
          </a:p>
        </p:txBody>
      </p:sp>
      <p:sp>
        <p:nvSpPr>
          <p:cNvPr id="63" name="Google Shape;63;p10"/>
          <p:cNvSpPr txBox="1"/>
          <p:nvPr/>
        </p:nvSpPr>
        <p:spPr>
          <a:xfrm>
            <a:off x="7298064" y="-55968"/>
            <a:ext cx="1301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Unit 6 Lesson 3</a:t>
            </a:r>
            <a:endParaRPr/>
          </a:p>
        </p:txBody>
      </p:sp>
      <p:sp>
        <p:nvSpPr>
          <p:cNvPr id="64" name="Google Shape;64;p10"/>
          <p:cNvSpPr/>
          <p:nvPr/>
        </p:nvSpPr>
        <p:spPr>
          <a:xfrm>
            <a:off x="571500" y="4996176"/>
            <a:ext cx="840921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Gene expression</a:t>
            </a:r>
            <a:r>
              <a:rPr lang="en-US" sz="2400">
                <a:solidFill>
                  <a:srgbClr val="393B3C"/>
                </a:solidFill>
                <a:latin typeface="Cambria"/>
                <a:ea typeface="Cambria"/>
                <a:cs typeface="Cambria"/>
                <a:sym typeface="Cambria"/>
              </a:rPr>
              <a:t> is the process by which the nucleotide sequence of a gene directs protein synthesis. 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5" name="Google Shape;6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9328" y="946253"/>
            <a:ext cx="6825343" cy="3837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311099" y="218582"/>
            <a:ext cx="8561967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2800"/>
              <a:buFont typeface="Cambria"/>
              <a:buNone/>
            </a:pPr>
            <a:r>
              <a:rPr lang="en-US"/>
              <a:t>Gene Expression and Regulation</a:t>
            </a:r>
            <a:b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>
                <a:solidFill>
                  <a:srgbClr val="00B050"/>
                </a:solidFill>
                <a:latin typeface="Cambria"/>
                <a:ea typeface="Cambria"/>
                <a:cs typeface="Cambria"/>
                <a:sym typeface="Cambria"/>
              </a:rPr>
              <a:t>Structure and Function</a:t>
            </a:r>
            <a:endParaRPr/>
          </a:p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1"/>
          <p:cNvSpPr/>
          <p:nvPr/>
        </p:nvSpPr>
        <p:spPr>
          <a:xfrm>
            <a:off x="4190761" y="2454507"/>
            <a:ext cx="466537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1"/>
          <p:cNvSpPr/>
          <p:nvPr/>
        </p:nvSpPr>
        <p:spPr>
          <a:xfrm>
            <a:off x="638295" y="2554287"/>
            <a:ext cx="8099542" cy="2339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EXPLAIN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Write an explanation for how differences in cell structure are related to the differences in the ways gene expression is regulated in prokaryotic and eukaryotic cells.</a:t>
            </a:r>
            <a:endParaRPr b="1"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7298064" y="-55968"/>
            <a:ext cx="1301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Unit 6 Lesson 3</a:t>
            </a:r>
            <a:endParaRPr/>
          </a:p>
        </p:txBody>
      </p:sp>
      <p:pic>
        <p:nvPicPr>
          <p:cNvPr descr="A drawing of a person&#10;&#10;Description automatically generated" id="77" name="Google Shape;7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7361" y="286314"/>
            <a:ext cx="474345" cy="526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type="title"/>
          </p:nvPr>
        </p:nvSpPr>
        <p:spPr>
          <a:xfrm>
            <a:off x="311099" y="218582"/>
            <a:ext cx="8561967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2800"/>
              <a:buFont typeface="Cambria"/>
              <a:buNone/>
            </a:pPr>
            <a:r>
              <a:rPr lang="en-US"/>
              <a:t>Gene Expression and Regulation</a:t>
            </a:r>
            <a:endParaRPr>
              <a:solidFill>
                <a:srgbClr val="00B05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12"/>
          <p:cNvSpPr/>
          <p:nvPr/>
        </p:nvSpPr>
        <p:spPr>
          <a:xfrm>
            <a:off x="4190761" y="2454507"/>
            <a:ext cx="466537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2"/>
          <p:cNvSpPr txBox="1"/>
          <p:nvPr/>
        </p:nvSpPr>
        <p:spPr>
          <a:xfrm>
            <a:off x="7298064" y="-55968"/>
            <a:ext cx="1301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Unit 6 Lesson 3</a:t>
            </a:r>
            <a:endParaRPr/>
          </a:p>
        </p:txBody>
      </p:sp>
      <p:sp>
        <p:nvSpPr>
          <p:cNvPr id="88" name="Google Shape;88;p12"/>
          <p:cNvSpPr/>
          <p:nvPr/>
        </p:nvSpPr>
        <p:spPr>
          <a:xfrm>
            <a:off x="710293" y="1310339"/>
            <a:ext cx="7723414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93B3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393B3C"/>
                </a:solidFill>
                <a:latin typeface="Cambria"/>
                <a:ea typeface="Cambria"/>
                <a:cs typeface="Cambria"/>
                <a:sym typeface="Cambria"/>
              </a:rPr>
              <a:t>An </a:t>
            </a:r>
            <a:r>
              <a:rPr b="1" lang="en-US" sz="2400" u="sng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operon</a:t>
            </a:r>
            <a:r>
              <a:rPr lang="en-US" sz="2400">
                <a:solidFill>
                  <a:srgbClr val="393B3C"/>
                </a:solidFill>
                <a:latin typeface="Cambria"/>
                <a:ea typeface="Cambria"/>
                <a:cs typeface="Cambria"/>
                <a:sym typeface="Cambria"/>
              </a:rPr>
              <a:t> is a region of DNA that includes a promoter, an operator, and one or more structural genes that code for all the proteins needed to do a specific task. </a:t>
            </a:r>
            <a:br>
              <a:rPr lang="en-US" sz="2400">
                <a:solidFill>
                  <a:srgbClr val="393B3C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2400">
              <a:solidFill>
                <a:srgbClr val="393B3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93B3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393B3C"/>
                </a:solidFill>
                <a:latin typeface="Cambria"/>
                <a:ea typeface="Cambria"/>
                <a:cs typeface="Cambria"/>
                <a:sym typeface="Cambria"/>
              </a:rPr>
              <a:t>The </a:t>
            </a:r>
            <a:r>
              <a:rPr b="1" lang="en-US" sz="2400" u="sng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promoter</a:t>
            </a:r>
            <a:r>
              <a:rPr lang="en-US" sz="2400">
                <a:solidFill>
                  <a:srgbClr val="393B3C"/>
                </a:solidFill>
                <a:latin typeface="Cambria"/>
                <a:ea typeface="Cambria"/>
                <a:cs typeface="Cambria"/>
                <a:sym typeface="Cambria"/>
              </a:rPr>
              <a:t> is a segment of DNA that helps the enzyme RNA polymerase locate the starting point for transcription.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93B3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93B3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393B3C"/>
                </a:solidFill>
                <a:latin typeface="Cambria"/>
                <a:ea typeface="Cambria"/>
                <a:cs typeface="Cambria"/>
                <a:sym typeface="Cambria"/>
              </a:rPr>
              <a:t>The DNA segment that actually turns genes on or off is the </a:t>
            </a:r>
            <a:r>
              <a:rPr b="1" lang="en-US" sz="2400" u="sng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operator</a:t>
            </a:r>
            <a:r>
              <a:rPr lang="en-US" sz="2400">
                <a:solidFill>
                  <a:srgbClr val="393B3C"/>
                </a:solidFill>
                <a:latin typeface="Cambria"/>
                <a:ea typeface="Cambria"/>
                <a:cs typeface="Cambria"/>
                <a:sym typeface="Cambria"/>
              </a:rPr>
              <a:t>. It interacts with proteins that increase the rate of transcription or block transcription from occurring.</a:t>
            </a:r>
            <a:endParaRPr b="0" i="0" sz="2400">
              <a:solidFill>
                <a:srgbClr val="393B3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>
            <p:ph type="title"/>
          </p:nvPr>
        </p:nvSpPr>
        <p:spPr>
          <a:xfrm>
            <a:off x="457200" y="318213"/>
            <a:ext cx="8229600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2800"/>
              <a:buFont typeface="Cambria"/>
              <a:buNone/>
            </a:pPr>
            <a:r>
              <a:rPr lang="en-US"/>
              <a:t>Gene Expression and Regulation</a:t>
            </a:r>
            <a:endParaRPr/>
          </a:p>
        </p:txBody>
      </p:sp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1447488" y="5852940"/>
            <a:ext cx="58293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C4E50"/>
                </a:solidFill>
                <a:latin typeface="Cambria"/>
                <a:ea typeface="Cambria"/>
                <a:cs typeface="Cambria"/>
                <a:sym typeface="Cambria"/>
              </a:rPr>
              <a:t>Gene regulation occurs in prokaryotes.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nextup" id="96" name="Google Shape;9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876" y="1262189"/>
            <a:ext cx="8053923" cy="4530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" name="Google Shape;9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6431" y="337206"/>
            <a:ext cx="656635" cy="628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type="title"/>
          </p:nvPr>
        </p:nvSpPr>
        <p:spPr>
          <a:xfrm>
            <a:off x="457200" y="318213"/>
            <a:ext cx="8229600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2800"/>
              <a:buFont typeface="Cambria"/>
              <a:buNone/>
            </a:pPr>
            <a:r>
              <a:rPr lang="en-US">
                <a:solidFill>
                  <a:srgbClr val="F2A900"/>
                </a:solidFill>
              </a:rPr>
              <a:t>Gene Expression and Regulation</a:t>
            </a:r>
            <a:b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Hands-On Lab: Modeling Prokaryotic Operons</a:t>
            </a:r>
            <a:endParaRPr/>
          </a:p>
        </p:txBody>
      </p:sp>
      <p:sp>
        <p:nvSpPr>
          <p:cNvPr id="105" name="Google Shape;105;p14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457200" y="1881365"/>
            <a:ext cx="8429105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41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841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669472" y="2842686"/>
            <a:ext cx="780505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Build a model of the </a:t>
            </a:r>
            <a:r>
              <a:rPr b="1" i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lac</a:t>
            </a: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 operon. Then use your model to show how gene expression is regulated in prokaryotes.</a:t>
            </a:r>
            <a:endParaRPr b="1"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1300" y="5435225"/>
            <a:ext cx="3581400" cy="9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7298064" y="-55968"/>
            <a:ext cx="1301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Unit 6 Lesson 3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/>
          <p:nvPr>
            <p:ph type="title"/>
          </p:nvPr>
        </p:nvSpPr>
        <p:spPr>
          <a:xfrm>
            <a:off x="457200" y="318213"/>
            <a:ext cx="8229600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2800"/>
              <a:buFont typeface="Cambria"/>
              <a:buNone/>
            </a:pPr>
            <a:r>
              <a:rPr lang="en-US">
                <a:solidFill>
                  <a:srgbClr val="F2A900"/>
                </a:solidFill>
              </a:rPr>
              <a:t>Gene Expression and Regulation</a:t>
            </a:r>
            <a:b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7" name="Google Shape;117;p15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457200" y="1881365"/>
            <a:ext cx="8429105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41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841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7298064" y="-55968"/>
            <a:ext cx="1301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Unit 6 Lesson 3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747297" y="2312252"/>
            <a:ext cx="784890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cap="none">
                <a:solidFill>
                  <a:srgbClr val="393B3C"/>
                </a:solidFill>
                <a:latin typeface="Cambria"/>
                <a:ea typeface="Cambria"/>
                <a:cs typeface="Cambria"/>
                <a:sym typeface="Cambria"/>
              </a:rPr>
              <a:t>MODEL</a:t>
            </a:r>
            <a:br>
              <a:rPr b="1" lang="en-US" sz="2400" cap="none">
                <a:solidFill>
                  <a:srgbClr val="393B3C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b="1" sz="2400" cap="none">
              <a:solidFill>
                <a:srgbClr val="393B3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93B3C"/>
                </a:solidFill>
                <a:latin typeface="Cambria"/>
                <a:ea typeface="Cambria"/>
                <a:cs typeface="Cambria"/>
                <a:sym typeface="Cambria"/>
              </a:rPr>
              <a:t>Imagine a bacterium has a mutated gene that codes for a malformed repressor protein. Draw a flow chart to show how this mutation would affect the bacterium's ability to digest lactose.</a:t>
            </a:r>
            <a:endParaRPr b="1" i="0" sz="2400">
              <a:solidFill>
                <a:srgbClr val="393B3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A drawing of a person&#10;&#10;Description automatically generated" id="121" name="Google Shape;1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7361" y="286314"/>
            <a:ext cx="474345" cy="526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>
            <p:ph type="title"/>
          </p:nvPr>
        </p:nvSpPr>
        <p:spPr>
          <a:xfrm>
            <a:off x="457200" y="318213"/>
            <a:ext cx="8229600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2800"/>
              <a:buFont typeface="Cambria"/>
              <a:buNone/>
            </a:pPr>
            <a:r>
              <a:rPr lang="en-US">
                <a:solidFill>
                  <a:srgbClr val="F2A900"/>
                </a:solidFill>
              </a:rPr>
              <a:t>Gene Regulation in Eukaryotes</a:t>
            </a:r>
            <a:b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9" name="Google Shape;129;p16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669471" y="1583147"/>
            <a:ext cx="7805057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Gene regulation is complex for a reason: the complexity ensures that the correct gene is expressed in the correct cell at the correct time.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When histones or DNA are changed chemically, the result may change the accessibility of the DNA for transcription.</a:t>
            </a:r>
            <a:endParaRPr b="1"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 u="sng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 u="sng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Epigenetic</a:t>
            </a:r>
            <a:r>
              <a:rPr lang="en-US" sz="24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 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changes can be caused by factors such as the age of the organism, inputs from the environment, and disease-causing organisms.</a:t>
            </a:r>
            <a:endParaRPr b="1"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7298064" y="-55968"/>
            <a:ext cx="1301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Unit 6 Lesson 3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>
            <p:ph type="title"/>
          </p:nvPr>
        </p:nvSpPr>
        <p:spPr>
          <a:xfrm>
            <a:off x="457200" y="318213"/>
            <a:ext cx="8229600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2800"/>
              <a:buFont typeface="Cambria"/>
              <a:buNone/>
            </a:pPr>
            <a:r>
              <a:rPr lang="en-US">
                <a:solidFill>
                  <a:srgbClr val="F2A900"/>
                </a:solidFill>
              </a:rPr>
              <a:t>Gene Regulation in Eukaryotes</a:t>
            </a:r>
            <a:b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9" name="Google Shape;139;p17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7298064" y="-55968"/>
            <a:ext cx="1301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Unit 6 Lesson 3</a:t>
            </a:r>
            <a:endParaRPr/>
          </a:p>
        </p:txBody>
      </p:sp>
      <p:pic>
        <p:nvPicPr>
          <p:cNvPr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993" y="946253"/>
            <a:ext cx="7952014" cy="369025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/>
          <p:nvPr/>
        </p:nvSpPr>
        <p:spPr>
          <a:xfrm>
            <a:off x="569985" y="4636511"/>
            <a:ext cx="800403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5595B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55595B"/>
                </a:solidFill>
                <a:latin typeface="Cambria"/>
                <a:ea typeface="Cambria"/>
                <a:cs typeface="Cambria"/>
                <a:sym typeface="Cambria"/>
              </a:rPr>
              <a:t>Epigenetic changes to chromosomes occur in a variety of ways. 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55595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5595B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55595B"/>
                </a:solidFill>
                <a:latin typeface="Cambria"/>
                <a:ea typeface="Cambria"/>
                <a:cs typeface="Cambria"/>
                <a:sym typeface="Cambria"/>
              </a:rPr>
              <a:t>In one type of histone modification, the DNA molecule tightens, making it hard to read.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>
            <p:ph type="title"/>
          </p:nvPr>
        </p:nvSpPr>
        <p:spPr>
          <a:xfrm>
            <a:off x="457200" y="318213"/>
            <a:ext cx="8229600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2800"/>
              <a:buFont typeface="Cambria"/>
              <a:buNone/>
            </a:pPr>
            <a:r>
              <a:rPr lang="en-US">
                <a:solidFill>
                  <a:srgbClr val="F2A900"/>
                </a:solidFill>
              </a:rPr>
              <a:t>Gene Regulation in Eukaryotes</a:t>
            </a:r>
            <a:b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0" name="Google Shape;150;p18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7298064" y="-55968"/>
            <a:ext cx="1301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Unit 6 Lesson 3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708532" y="1178118"/>
            <a:ext cx="3179063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93B3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393B3C"/>
                </a:solidFill>
                <a:latin typeface="Cambria"/>
                <a:ea typeface="Cambria"/>
                <a:cs typeface="Cambria"/>
                <a:sym typeface="Cambria"/>
              </a:rPr>
              <a:t> </a:t>
            </a:r>
            <a:r>
              <a:rPr b="1" lang="en-US" sz="2400" u="sng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Transcription factors</a:t>
            </a:r>
            <a:r>
              <a:rPr lang="en-US" sz="2400">
                <a:solidFill>
                  <a:srgbClr val="393B3C"/>
                </a:solidFill>
                <a:latin typeface="Cambria"/>
                <a:ea typeface="Cambria"/>
                <a:cs typeface="Cambria"/>
                <a:sym typeface="Cambria"/>
              </a:rPr>
              <a:t> are proteins that bind to DNA sequences and control gene expression.</a:t>
            </a:r>
            <a:br>
              <a:rPr lang="en-US" sz="2400">
                <a:solidFill>
                  <a:srgbClr val="393B3C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2400">
              <a:solidFill>
                <a:srgbClr val="393B3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93B3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393B3C"/>
                </a:solidFill>
                <a:latin typeface="Cambria"/>
                <a:ea typeface="Cambria"/>
                <a:cs typeface="Cambria"/>
                <a:sym typeface="Cambria"/>
              </a:rPr>
              <a:t>Transcription factors may bind to a promoter, an enhancer, or other sections of DNA near a gene.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380600"/>
            <a:ext cx="5465063" cy="4096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>
            <p:ph type="title"/>
          </p:nvPr>
        </p:nvSpPr>
        <p:spPr>
          <a:xfrm>
            <a:off x="457200" y="318213"/>
            <a:ext cx="8229600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2800"/>
              <a:buFont typeface="Cambria"/>
              <a:buNone/>
            </a:pPr>
            <a:r>
              <a:rPr lang="en-US">
                <a:solidFill>
                  <a:srgbClr val="F2A900"/>
                </a:solidFill>
              </a:rPr>
              <a:t>Gene Regulation in Eukaryotes</a:t>
            </a:r>
            <a:b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1" name="Google Shape;161;p19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7298064" y="-55968"/>
            <a:ext cx="1301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Unit 6 Lesson 3</a:t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751113" y="2459504"/>
            <a:ext cx="7690757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cap="none">
                <a:solidFill>
                  <a:srgbClr val="393B3C"/>
                </a:solidFill>
                <a:latin typeface="Cambria"/>
                <a:ea typeface="Cambria"/>
                <a:cs typeface="Cambria"/>
                <a:sym typeface="Cambria"/>
              </a:rPr>
              <a:t>EXPLAIN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rgbClr val="393B3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93B3C"/>
                </a:solidFill>
                <a:latin typeface="Cambria"/>
                <a:ea typeface="Cambria"/>
                <a:cs typeface="Cambria"/>
                <a:sym typeface="Cambria"/>
              </a:rPr>
              <a:t>Transcription factors occur in different combinations in different types of cells. How does this allow for variety in cell types?</a:t>
            </a:r>
            <a:endParaRPr b="1" i="0" sz="2400">
              <a:solidFill>
                <a:srgbClr val="393B3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A drawing of a person&#10;&#10;Description automatically generated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7361" y="286314"/>
            <a:ext cx="474345" cy="526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457200" y="2137145"/>
            <a:ext cx="828040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Huntington's disease is an inherited disorder that affects the nervous system, resulting in loss of coordination and declining brain function. 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This disease has been linked to a mutation in the HTT gene. Imagine you want to design an RNAi technology to silence this gene. 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Make a list of questions you would need to ask to define and delimit the problem.</a:t>
            </a:r>
            <a:endParaRPr b="1"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A drawing of a person&#10;&#10;Description automatically generated" id="173" name="Google Shape;1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7361" y="286314"/>
            <a:ext cx="474345" cy="52641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>
            <p:ph type="title"/>
          </p:nvPr>
        </p:nvSpPr>
        <p:spPr>
          <a:xfrm>
            <a:off x="457200" y="318213"/>
            <a:ext cx="8229600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2800"/>
              <a:buFont typeface="Cambria"/>
              <a:buNone/>
            </a:pPr>
            <a:r>
              <a:rPr lang="en-US">
                <a:solidFill>
                  <a:srgbClr val="F2A900"/>
                </a:solidFill>
              </a:rPr>
              <a:t>Gene Regulation in Eukaryotes</a:t>
            </a:r>
            <a:b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Engineering: Using RNA Interference to Fight Disease</a:t>
            </a:r>
            <a:b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>
              <a:solidFill>
                <a:srgbClr val="F2A9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7298064" y="-55968"/>
            <a:ext cx="1301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Unit 6 Lesson 3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5274129" y="1111211"/>
            <a:ext cx="3545114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"extra footage" in the mRNA molecule takes the form of nucleotide segments, called </a:t>
            </a:r>
            <a:r>
              <a:rPr b="1" lang="en-US" sz="2400" u="sng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introns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that are not included in the final protein. </a:t>
            </a:r>
            <a:b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nucleotide segments that code for parts of the protein are called </a:t>
            </a:r>
            <a:r>
              <a:rPr b="1" lang="en-US" sz="24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exons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 Introns occur between exons. </a:t>
            </a:r>
            <a:endParaRPr b="1"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4" name="Google Shape;184;p21"/>
          <p:cNvSpPr txBox="1"/>
          <p:nvPr>
            <p:ph type="title"/>
          </p:nvPr>
        </p:nvSpPr>
        <p:spPr>
          <a:xfrm>
            <a:off x="457200" y="318213"/>
            <a:ext cx="8229600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2800"/>
              <a:buFont typeface="Cambria"/>
              <a:buNone/>
            </a:pPr>
            <a:r>
              <a:rPr lang="en-US">
                <a:solidFill>
                  <a:srgbClr val="F2A900"/>
                </a:solidFill>
              </a:rPr>
              <a:t>Gene Regulation in Eukaryotes</a:t>
            </a:r>
            <a:b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</a:br>
            <a:b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>
              <a:solidFill>
                <a:srgbClr val="F2A9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7298064" y="-55968"/>
            <a:ext cx="1301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Unit 6 Lesson 3</a:t>
            </a:r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4757" y="946253"/>
            <a:ext cx="4902477" cy="5455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22"/>
          <p:cNvSpPr txBox="1"/>
          <p:nvPr>
            <p:ph type="title"/>
          </p:nvPr>
        </p:nvSpPr>
        <p:spPr>
          <a:xfrm>
            <a:off x="457200" y="318213"/>
            <a:ext cx="8229600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2800"/>
              <a:buFont typeface="Cambria"/>
              <a:buNone/>
            </a:pPr>
            <a: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  <a:t>Factors That Influence Gene Expression</a:t>
            </a:r>
            <a:b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</a:br>
            <a:b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>
              <a:solidFill>
                <a:srgbClr val="F2A9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7298064" y="-55968"/>
            <a:ext cx="1301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Unit 6 Lesson 3</a:t>
            </a:r>
            <a:endParaRPr/>
          </a:p>
        </p:txBody>
      </p:sp>
      <p:pic>
        <p:nvPicPr>
          <p:cNvPr id="196" name="Google Shape;19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400441"/>
            <a:ext cx="9144000" cy="3320223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/>
          <p:nvPr/>
        </p:nvSpPr>
        <p:spPr>
          <a:xfrm>
            <a:off x="798251" y="1330581"/>
            <a:ext cx="814282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55595B"/>
                </a:solidFill>
                <a:latin typeface="Cambria"/>
                <a:ea typeface="Cambria"/>
                <a:cs typeface="Cambria"/>
                <a:sym typeface="Cambria"/>
              </a:rPr>
              <a:t>During embryonic development, cell differentiation and growth form tissues and organs, such as the eye.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23"/>
          <p:cNvSpPr txBox="1"/>
          <p:nvPr>
            <p:ph type="title"/>
          </p:nvPr>
        </p:nvSpPr>
        <p:spPr>
          <a:xfrm>
            <a:off x="457200" y="318213"/>
            <a:ext cx="8229600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2800"/>
              <a:buFont typeface="Cambria"/>
              <a:buNone/>
            </a:pPr>
            <a: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  <a:t>Factors That Influence Gene Expression</a:t>
            </a:r>
            <a:b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>
                <a:solidFill>
                  <a:srgbClr val="00B050"/>
                </a:solidFill>
                <a:latin typeface="Cambria"/>
                <a:ea typeface="Cambria"/>
                <a:cs typeface="Cambria"/>
                <a:sym typeface="Cambria"/>
              </a:rPr>
              <a:t>Structure and Function</a:t>
            </a:r>
            <a:b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</a:br>
            <a:b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>
              <a:solidFill>
                <a:srgbClr val="F2A9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7298064" y="-55968"/>
            <a:ext cx="1301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Unit 6 Lesson 3</a:t>
            </a:r>
            <a:endParaRPr/>
          </a:p>
        </p:txBody>
      </p:sp>
      <p:sp>
        <p:nvSpPr>
          <p:cNvPr id="207" name="Google Shape;207;p23"/>
          <p:cNvSpPr/>
          <p:nvPr/>
        </p:nvSpPr>
        <p:spPr>
          <a:xfrm>
            <a:off x="457199" y="2459504"/>
            <a:ext cx="822959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93B3C"/>
                </a:solidFill>
                <a:latin typeface="Cambria"/>
                <a:ea typeface="Cambria"/>
                <a:cs typeface="Cambria"/>
                <a:sym typeface="Cambria"/>
              </a:rPr>
              <a:t>Make a claim for how the cells in an organism can take on different structures and functions even though they all have the same genetic material.</a:t>
            </a:r>
            <a:endParaRPr b="1"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A drawing of a person&#10;&#10;Description automatically generated" id="208" name="Google Shape;2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7361" y="286314"/>
            <a:ext cx="474345" cy="526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6" name="Google Shape;216;p24"/>
          <p:cNvSpPr txBox="1"/>
          <p:nvPr>
            <p:ph type="title"/>
          </p:nvPr>
        </p:nvSpPr>
        <p:spPr>
          <a:xfrm>
            <a:off x="457200" y="318213"/>
            <a:ext cx="8229600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2800"/>
              <a:buFont typeface="Cambria"/>
              <a:buNone/>
            </a:pPr>
            <a: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  <a:t>Factors That Influence Gene Expression</a:t>
            </a:r>
            <a:b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</a:br>
            <a:b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>
              <a:solidFill>
                <a:srgbClr val="F2A9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7298064" y="-55968"/>
            <a:ext cx="1301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Unit 6 Lesson 3</a:t>
            </a:r>
            <a:endParaRPr/>
          </a:p>
        </p:txBody>
      </p:sp>
      <p:sp>
        <p:nvSpPr>
          <p:cNvPr id="218" name="Google Shape;218;p24"/>
          <p:cNvSpPr/>
          <p:nvPr/>
        </p:nvSpPr>
        <p:spPr>
          <a:xfrm>
            <a:off x="457200" y="880145"/>
            <a:ext cx="8142823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93B3C"/>
                </a:solidFill>
                <a:latin typeface="Cambria"/>
                <a:ea typeface="Cambria"/>
                <a:cs typeface="Cambria"/>
                <a:sym typeface="Cambria"/>
              </a:rPr>
              <a:t>Factors in an organism's external environment can also affect gene expression.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93B3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Environmental factors, such as light and temperature, can affect gene expression.</a:t>
            </a:r>
            <a:endParaRPr/>
          </a:p>
        </p:txBody>
      </p:sp>
      <p:pic>
        <p:nvPicPr>
          <p:cNvPr id="219" name="Google Shape;21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099" y="2851003"/>
            <a:ext cx="3681023" cy="2692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7110" y="2830359"/>
            <a:ext cx="3648434" cy="271352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4"/>
          <p:cNvSpPr/>
          <p:nvPr/>
        </p:nvSpPr>
        <p:spPr>
          <a:xfrm>
            <a:off x="451301" y="5667604"/>
            <a:ext cx="8229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C4E50"/>
                </a:solidFill>
                <a:latin typeface="Cambria"/>
                <a:ea typeface="Cambria"/>
                <a:cs typeface="Cambria"/>
                <a:sym typeface="Cambria"/>
              </a:rPr>
              <a:t>Compare Arctic fox fur color expression during summer and winter months.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25"/>
          <p:cNvSpPr txBox="1"/>
          <p:nvPr>
            <p:ph type="title"/>
          </p:nvPr>
        </p:nvSpPr>
        <p:spPr>
          <a:xfrm>
            <a:off x="457200" y="318213"/>
            <a:ext cx="8229600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2800"/>
              <a:buFont typeface="Cambria"/>
              <a:buNone/>
            </a:pPr>
            <a: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  <a:t>Factors That Influence Gene Expression</a:t>
            </a:r>
            <a:b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</a:br>
            <a:b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>
              <a:solidFill>
                <a:srgbClr val="F2A9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0" name="Google Shape;230;p25"/>
          <p:cNvSpPr txBox="1"/>
          <p:nvPr/>
        </p:nvSpPr>
        <p:spPr>
          <a:xfrm>
            <a:off x="7298064" y="-55968"/>
            <a:ext cx="1301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Unit 6 Lesson 3</a:t>
            </a:r>
            <a:endParaRPr/>
          </a:p>
        </p:txBody>
      </p:sp>
      <p:sp>
        <p:nvSpPr>
          <p:cNvPr id="231" name="Google Shape;231;p25"/>
          <p:cNvSpPr/>
          <p:nvPr/>
        </p:nvSpPr>
        <p:spPr>
          <a:xfrm>
            <a:off x="457200" y="2137145"/>
            <a:ext cx="8142823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cap="none">
                <a:solidFill>
                  <a:srgbClr val="393B3C"/>
                </a:solidFill>
                <a:latin typeface="Cambria"/>
                <a:ea typeface="Cambria"/>
                <a:cs typeface="Cambria"/>
                <a:sym typeface="Cambria"/>
              </a:rPr>
              <a:t>EXPLAIN</a:t>
            </a:r>
            <a:br>
              <a:rPr b="1" lang="en-US" sz="2400" cap="none">
                <a:solidFill>
                  <a:srgbClr val="393B3C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b="1" sz="2400" cap="none">
              <a:solidFill>
                <a:srgbClr val="393B3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93B3C"/>
                </a:solidFill>
                <a:latin typeface="Cambria"/>
                <a:ea typeface="Cambria"/>
                <a:cs typeface="Cambria"/>
                <a:sym typeface="Cambria"/>
              </a:rPr>
              <a:t>Researchers have found that cancerous tumor tissue is often hypoxic, or deficient in oxygen. As a result, HIF is currently being considered as a possible tool in the fight against cancer. Explain how HIF-related approaches could be used to suppress tumor growth, and how this is related to regulating gene expression.</a:t>
            </a:r>
            <a:endParaRPr b="1" i="0" sz="2400">
              <a:solidFill>
                <a:srgbClr val="393B3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A drawing of a person&#10;&#10;Description automatically generated" id="232" name="Google Shape;23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7361" y="286314"/>
            <a:ext cx="474345" cy="526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" name="Google Shape;240;p26"/>
          <p:cNvSpPr txBox="1"/>
          <p:nvPr/>
        </p:nvSpPr>
        <p:spPr>
          <a:xfrm>
            <a:off x="311099" y="218582"/>
            <a:ext cx="8561967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Continue Your Exploration</a:t>
            </a:r>
            <a:endParaRPr/>
          </a:p>
        </p:txBody>
      </p:sp>
      <p:sp>
        <p:nvSpPr>
          <p:cNvPr id="241" name="Google Shape;241;p26"/>
          <p:cNvSpPr/>
          <p:nvPr/>
        </p:nvSpPr>
        <p:spPr>
          <a:xfrm>
            <a:off x="2286000" y="3013502"/>
            <a:ext cx="45720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6"/>
          <p:cNvSpPr/>
          <p:nvPr/>
        </p:nvSpPr>
        <p:spPr>
          <a:xfrm>
            <a:off x="457200" y="1474619"/>
            <a:ext cx="8375701" cy="3908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Choose one of the paths below to continue your exploration: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lang="en-US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Career: Geneticist</a:t>
            </a:r>
            <a:endParaRPr/>
          </a:p>
          <a:p>
            <a:pPr indent="-1841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lang="en-US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“Junk” DNA</a:t>
            </a:r>
            <a:endParaRPr/>
          </a:p>
          <a:p>
            <a:pPr indent="-1841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lang="en-US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Twins: Are They Exactly the Same?</a:t>
            </a:r>
            <a:endParaRPr/>
          </a:p>
          <a:p>
            <a:pPr indent="-1841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lang="en-US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Genes: Life After Death</a:t>
            </a:r>
            <a:endParaRPr/>
          </a:p>
        </p:txBody>
      </p:sp>
      <p:sp>
        <p:nvSpPr>
          <p:cNvPr id="243" name="Google Shape;243;p26"/>
          <p:cNvSpPr txBox="1"/>
          <p:nvPr/>
        </p:nvSpPr>
        <p:spPr>
          <a:xfrm>
            <a:off x="7298064" y="-55968"/>
            <a:ext cx="1301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Unit 6 Lesson 3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 txBox="1"/>
          <p:nvPr>
            <p:ph type="title"/>
          </p:nvPr>
        </p:nvSpPr>
        <p:spPr>
          <a:xfrm>
            <a:off x="311100" y="286314"/>
            <a:ext cx="8229600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2800"/>
              <a:buFont typeface="Cambria"/>
              <a:buNone/>
            </a:pPr>
            <a:r>
              <a:rPr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  <a:t>Can You Explain It?</a:t>
            </a:r>
            <a:endParaRPr/>
          </a:p>
        </p:txBody>
      </p:sp>
      <p:sp>
        <p:nvSpPr>
          <p:cNvPr id="251" name="Google Shape;251;p27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27"/>
          <p:cNvSpPr/>
          <p:nvPr/>
        </p:nvSpPr>
        <p:spPr>
          <a:xfrm>
            <a:off x="653996" y="1013200"/>
            <a:ext cx="7803365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Refer to the notes in your Evidence Notebook to explain why a mutation in </a:t>
            </a:r>
            <a:r>
              <a:rPr i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Hox 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genes results in structural malformations. In your explanation, answer the following questions:</a:t>
            </a:r>
            <a:b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How do transcription factors regulate gene expression in eukaryotes? Make a model illustrating the process, and write an explanation to accompany your model.</a:t>
            </a:r>
            <a:b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b="1"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Why does a mutation in the </a:t>
            </a:r>
            <a:r>
              <a:rPr b="1" i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Antennapedia </a:t>
            </a: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gene affect body development in this way? How is this change in structure related to the regulation of gene expression?</a:t>
            </a:r>
            <a:endParaRPr/>
          </a:p>
        </p:txBody>
      </p:sp>
      <p:pic>
        <p:nvPicPr>
          <p:cNvPr descr="A drawing of a person&#10;&#10;Description automatically generated" id="253" name="Google Shape;25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7361" y="286314"/>
            <a:ext cx="474345" cy="52641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7"/>
          <p:cNvSpPr txBox="1"/>
          <p:nvPr/>
        </p:nvSpPr>
        <p:spPr>
          <a:xfrm>
            <a:off x="7298064" y="-55968"/>
            <a:ext cx="1301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Unit 6 Lesson 3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8"/>
          <p:cNvSpPr txBox="1"/>
          <p:nvPr>
            <p:ph type="title"/>
          </p:nvPr>
        </p:nvSpPr>
        <p:spPr>
          <a:xfrm>
            <a:off x="457200" y="318213"/>
            <a:ext cx="8229600" cy="6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2800"/>
              <a:buFont typeface="Cambria"/>
              <a:buNone/>
            </a:pPr>
            <a:r>
              <a:rPr lang="en-US"/>
              <a:t>Image Credits</a:t>
            </a:r>
            <a:endParaRPr/>
          </a:p>
        </p:txBody>
      </p:sp>
      <p:sp>
        <p:nvSpPr>
          <p:cNvPr id="260" name="Google Shape;260;p28"/>
          <p:cNvSpPr txBox="1"/>
          <p:nvPr>
            <p:ph idx="1" type="body"/>
          </p:nvPr>
        </p:nvSpPr>
        <p:spPr>
          <a:xfrm>
            <a:off x="457200" y="1151692"/>
            <a:ext cx="8229600" cy="4799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</a:pPr>
            <a:r>
              <a:rPr b="1" lang="en-US"/>
              <a:t>Unit 6 Lesson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</a:pPr>
            <a:r>
              <a:rPr i="1" lang="en-US"/>
              <a:t>Arctic fox in field</a:t>
            </a:r>
            <a:r>
              <a:rPr lang="en-US"/>
              <a:t> ©BMJ/Shutterstock; </a:t>
            </a:r>
            <a:r>
              <a:rPr i="1" lang="en-US"/>
              <a:t>Arctic fox in snow</a:t>
            </a:r>
            <a:r>
              <a:rPr lang="en-US"/>
              <a:t> ©E+/DmitryND/Getty Images; </a:t>
            </a:r>
            <a:r>
              <a:rPr i="1" lang="en-US"/>
              <a:t>fruit fly</a:t>
            </a:r>
            <a:r>
              <a:rPr lang="en-US"/>
              <a:t> ©Andrew Syred/Science Source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</a:pPr>
            <a:r>
              <a:t/>
            </a:r>
            <a:endParaRPr b="1"/>
          </a:p>
        </p:txBody>
      </p:sp>
      <p:sp>
        <p:nvSpPr>
          <p:cNvPr id="261" name="Google Shape;261;p28"/>
          <p:cNvSpPr txBox="1"/>
          <p:nvPr>
            <p:ph idx="12" type="sldNum"/>
          </p:nvPr>
        </p:nvSpPr>
        <p:spPr>
          <a:xfrm>
            <a:off x="457200" y="6375025"/>
            <a:ext cx="682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MH_PPT_TemplateF">
  <a:themeElements>
    <a:clrScheme name="HMH">
      <a:dk1>
        <a:srgbClr val="54585A"/>
      </a:dk1>
      <a:lt1>
        <a:srgbClr val="FFFFFF"/>
      </a:lt1>
      <a:dk2>
        <a:srgbClr val="F2A900"/>
      </a:dk2>
      <a:lt2>
        <a:srgbClr val="898D8D"/>
      </a:lt2>
      <a:accent1>
        <a:srgbClr val="6F83C1"/>
      </a:accent1>
      <a:accent2>
        <a:srgbClr val="CE3D95"/>
      </a:accent2>
      <a:accent3>
        <a:srgbClr val="00A8C8"/>
      </a:accent3>
      <a:accent4>
        <a:srgbClr val="EF4E45"/>
      </a:accent4>
      <a:accent5>
        <a:srgbClr val="B2B935"/>
      </a:accent5>
      <a:accent6>
        <a:srgbClr val="ED2C67"/>
      </a:accent6>
      <a:hlink>
        <a:srgbClr val="F48132"/>
      </a:hlink>
      <a:folHlink>
        <a:srgbClr val="72BE4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